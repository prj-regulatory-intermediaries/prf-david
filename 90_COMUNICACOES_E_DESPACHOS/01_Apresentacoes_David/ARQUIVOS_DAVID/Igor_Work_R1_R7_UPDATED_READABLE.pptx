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78"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1" d="100"/>
          <a:sy n="161" d="100"/>
        </p:scale>
        <p:origin x="258"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9217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title slide corrects the earlier gap by explicitly naming R5, R6 and R7. The story is cumulative: Igor first stabilized the legal universe, then calibrated relational coding, then built a dataset architecture, then tested portability and AI-assisted inference, and finally translated these lessons into a substantive intermediation agenda.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organizing map of the presentation. The main correction is that R4 should no longer carry all later work. R4 is digital validation; R5 is the paired methodological test; R6 is the architectural inference protocol; and R7 is the substantive intermediation agenda.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 is important because it protects the project against selection bias. The project should not begin by looking for laws that already seem to contain intermediaries. It should first define the legal universe, then ask which laws contain which actors, relations and mechanisms.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 addresses the core conceptual boundary of intermediation. An actor is not an intermediary because of its organizational type. The actor becomes an intermediary only within a legally structured relation connecting regulator and target through a mediating function.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R3 moves the project from a flat table to a relational research infrastructure. Its theoretical value is that it keeps laws, actors, relations, intermediaries, mechanism events, configurations, evidence and decisions as linked but non-identical units.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R4 is not the final digital-law dataset. It is a structural validation round. Its main value is to show which parts of the architecture are portable from green regulation to digital law and which parts need simplification before full RIT/mechanism coding begins.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R5 compares two ways of applying the same conceptual framework. The paired design matters because the legal evidence is held constant. The question is not whether one method produces more output, but whether the controlled procedure changes, constrains or qualifies substantive inference.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R6 is the methodological payoff of the stress test. The evidence suggests that extraction is not the main bottleneck. The bottleneck is relational precision and the upward move from relations to configurations and architectures.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R7 is the substantive turn. Once the coding protocol is stable, the project can ask how intermediaries are positioned, when they are indispensable, who governs them, and how intermediation coexists with hierarchy.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useful for management. It shows that each R-round has a distinct function: population construction, calibration, dataset architecture, validation, comparison, inference control and substantive theory building.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structure of the data dictionary. The central methodological principle is that variables should not all sit in one row. Some belong to the law, some to actors, some to the law-intermediary unit, some to relations, mechanisms, evidence and decisions.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appendix-style slide. It keeps the variable names visible while avoiding a single unreadable wall of text.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appendix-style slide. It keeps the variable names visible while avoiding a single unreadable wall of text.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appendix-style slide. It keeps the variable names visible while avoiding a single unreadable wall of text.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appendix-style slide. It keeps the variable names visible while avoiding a single unreadable wall of text.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methodological lesson from the four cases. The cases are stress tests, not a representative sample. They expose dangers: container fallacy, loss of named actors, over-decomposition and external dependencies.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the way forward is not more complexity. The task is to keep those controls that protect inference and remove those that generate extra artifacts without changing the substantive conclusion.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theoretical opportunity is to move from actors to architecture. The project can compare whether intermediation is marginal or central, optional or indispensable, substitutive or embedded within hierarchy.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useful theoretical insights. Intermediaries should not be understood only as actors that govern targets. They are often themselves accredited, supervised, reviewed or sanctioned. That creates second-order regulation: governance of the governors.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boundary is crucial. Legal-text coding reconstructs formal legal architecture. It does not prove whether the system works, whether actors are captured, or how implementation unfolds. But it gives the formal baseline for later implementation research.</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recommendation is to stop proliferating methods. Integrate the useful safeguards, validate once more, freeze the protocol and move to comparative substantive research.</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final slide translates the deck into action. Igor’s strongest role is methodological discipline, data architecture and AI-assisted operationalization, now serving the substantive intermediation project rather than replacing it.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7472" cy="6858000"/>
          </a:xfrm>
          <a:prstGeom prst="rect">
            <a:avLst/>
          </a:prstGeom>
          <a:solidFill>
            <a:srgbClr val="17365D"/>
          </a:solidFill>
          <a:ln w="12700">
            <a:solidFill>
              <a:srgbClr val="17365D"/>
            </a:solidFill>
            <a:prstDash val="solid"/>
          </a:ln>
        </p:spPr>
      </p:sp>
      <p:sp>
        <p:nvSpPr>
          <p:cNvPr id="3" name="Text 1"/>
          <p:cNvSpPr/>
          <p:nvPr/>
        </p:nvSpPr>
        <p:spPr>
          <a:xfrm>
            <a:off x="713232" y="411480"/>
            <a:ext cx="4754880" cy="256032"/>
          </a:xfrm>
          <a:prstGeom prst="rect">
            <a:avLst/>
          </a:prstGeom>
          <a:noFill/>
          <a:ln/>
        </p:spPr>
        <p:txBody>
          <a:bodyPr wrap="square" lIns="0" tIns="0" rIns="0" bIns="0" rtlCol="0" anchor="ctr"/>
          <a:lstStyle/>
          <a:p>
            <a:pPr marL="0" indent="0">
              <a:buNone/>
            </a:pPr>
            <a:r>
              <a:rPr lang="en-US" sz="1200" dirty="0">
                <a:solidFill>
                  <a:srgbClr val="5A5A5A"/>
                </a:solidFill>
              </a:rPr>
              <a:t>Law as Governance Group</a:t>
            </a:r>
            <a:endParaRPr lang="en-US" sz="1200" dirty="0"/>
          </a:p>
        </p:txBody>
      </p:sp>
      <p:sp>
        <p:nvSpPr>
          <p:cNvPr id="4" name="Text 2"/>
          <p:cNvSpPr/>
          <p:nvPr/>
        </p:nvSpPr>
        <p:spPr>
          <a:xfrm>
            <a:off x="713232" y="1234440"/>
            <a:ext cx="6766560" cy="1417320"/>
          </a:xfrm>
          <a:prstGeom prst="rect">
            <a:avLst/>
          </a:prstGeom>
          <a:noFill/>
          <a:ln/>
        </p:spPr>
        <p:txBody>
          <a:bodyPr wrap="square" lIns="0" tIns="0" rIns="0" bIns="0" rtlCol="0" anchor="ctr">
            <a:normAutofit/>
          </a:bodyPr>
          <a:lstStyle/>
          <a:p>
            <a:pPr marL="0" indent="0">
              <a:buNone/>
            </a:pPr>
            <a:r>
              <a:rPr lang="en-US" sz="3600" b="1" dirty="0">
                <a:solidFill>
                  <a:srgbClr val="17365D"/>
                </a:solidFill>
                <a:latin typeface="Aptos Display" pitchFamily="34" charset="0"/>
                <a:ea typeface="Aptos Display" pitchFamily="34" charset="-122"/>
                <a:cs typeface="Aptos Display" pitchFamily="34" charset="-120"/>
              </a:rPr>
              <a:t>R1–R7 Igor’s Work Summary </a:t>
            </a:r>
            <a:endParaRPr lang="en-US" sz="3600" dirty="0"/>
          </a:p>
        </p:txBody>
      </p:sp>
      <p:sp>
        <p:nvSpPr>
          <p:cNvPr id="5" name="Text 3"/>
          <p:cNvSpPr/>
          <p:nvPr/>
        </p:nvSpPr>
        <p:spPr>
          <a:xfrm>
            <a:off x="749808" y="2761488"/>
            <a:ext cx="8961120" cy="685800"/>
          </a:xfrm>
          <a:prstGeom prst="rect">
            <a:avLst/>
          </a:prstGeom>
          <a:noFill/>
          <a:ln/>
        </p:spPr>
        <p:txBody>
          <a:bodyPr wrap="square" lIns="0" tIns="0" rIns="0" bIns="0" rtlCol="0" anchor="ctr">
            <a:normAutofit/>
          </a:bodyPr>
          <a:lstStyle/>
          <a:p>
            <a:pPr marL="0" indent="0">
              <a:buNone/>
            </a:pPr>
            <a:r>
              <a:rPr lang="en-US" sz="1800" dirty="0">
                <a:solidFill>
                  <a:srgbClr val="5A5A5A"/>
                </a:solidFill>
              </a:rPr>
              <a:t>From legal population construction to relational calibration, dataset architecture, digital validation, AI-assisted inference, and the substantive intermediation agenda</a:t>
            </a:r>
            <a:endParaRPr lang="en-US" sz="1800" dirty="0"/>
          </a:p>
        </p:txBody>
      </p:sp>
      <p:sp>
        <p:nvSpPr>
          <p:cNvPr id="6" name="Shape 4"/>
          <p:cNvSpPr/>
          <p:nvPr/>
        </p:nvSpPr>
        <p:spPr>
          <a:xfrm>
            <a:off x="777240" y="4224528"/>
            <a:ext cx="1170432" cy="932688"/>
          </a:xfrm>
          <a:prstGeom prst="roundRect">
            <a:avLst>
              <a:gd name="adj" fmla="val 7843"/>
            </a:avLst>
          </a:prstGeom>
          <a:solidFill>
            <a:srgbClr val="D9EAF7"/>
          </a:solidFill>
          <a:ln w="12700">
            <a:solidFill>
              <a:srgbClr val="C8D1DA"/>
            </a:solidFill>
            <a:prstDash val="solid"/>
          </a:ln>
        </p:spPr>
      </p:sp>
      <p:sp>
        <p:nvSpPr>
          <p:cNvPr id="7" name="Text 5"/>
          <p:cNvSpPr/>
          <p:nvPr/>
        </p:nvSpPr>
        <p:spPr>
          <a:xfrm>
            <a:off x="850392" y="4379976"/>
            <a:ext cx="1024128" cy="566928"/>
          </a:xfrm>
          <a:prstGeom prst="rect">
            <a:avLst/>
          </a:prstGeom>
          <a:noFill/>
          <a:ln/>
        </p:spPr>
        <p:txBody>
          <a:bodyPr wrap="square" lIns="127" tIns="127" rIns="127" bIns="127" rtlCol="0" anchor="ctr">
            <a:normAutofit/>
          </a:bodyPr>
          <a:lstStyle/>
          <a:p>
            <a:pPr marL="0" indent="0" algn="ctr">
              <a:buNone/>
            </a:pPr>
            <a:r>
              <a:rPr lang="en-US" sz="1150" b="1" dirty="0">
                <a:solidFill>
                  <a:srgbClr val="17365D"/>
                </a:solidFill>
              </a:rPr>
              <a:t>R1</a:t>
            </a:r>
            <a:endParaRPr lang="en-US" sz="1150" dirty="0"/>
          </a:p>
          <a:p>
            <a:pPr marL="0" indent="0" algn="ctr">
              <a:buNone/>
            </a:pPr>
            <a:r>
              <a:rPr lang="en-US" sz="1150" b="1" dirty="0">
                <a:solidFill>
                  <a:srgbClr val="17365D"/>
                </a:solidFill>
              </a:rPr>
              <a:t>Population</a:t>
            </a:r>
            <a:endParaRPr lang="en-US" sz="1150" dirty="0"/>
          </a:p>
        </p:txBody>
      </p:sp>
      <p:sp>
        <p:nvSpPr>
          <p:cNvPr id="8" name="Shape 6"/>
          <p:cNvSpPr/>
          <p:nvPr/>
        </p:nvSpPr>
        <p:spPr>
          <a:xfrm>
            <a:off x="2212848" y="4224528"/>
            <a:ext cx="1170432" cy="932688"/>
          </a:xfrm>
          <a:prstGeom prst="roundRect">
            <a:avLst>
              <a:gd name="adj" fmla="val 7843"/>
            </a:avLst>
          </a:prstGeom>
          <a:solidFill>
            <a:srgbClr val="D9EAF7"/>
          </a:solidFill>
          <a:ln w="12700">
            <a:solidFill>
              <a:srgbClr val="C8D1DA"/>
            </a:solidFill>
            <a:prstDash val="solid"/>
          </a:ln>
        </p:spPr>
      </p:sp>
      <p:sp>
        <p:nvSpPr>
          <p:cNvPr id="9" name="Text 7"/>
          <p:cNvSpPr/>
          <p:nvPr/>
        </p:nvSpPr>
        <p:spPr>
          <a:xfrm>
            <a:off x="2286000" y="4379976"/>
            <a:ext cx="1024128" cy="566928"/>
          </a:xfrm>
          <a:prstGeom prst="rect">
            <a:avLst/>
          </a:prstGeom>
          <a:noFill/>
          <a:ln/>
        </p:spPr>
        <p:txBody>
          <a:bodyPr wrap="square" lIns="127" tIns="127" rIns="127" bIns="127" rtlCol="0" anchor="ctr">
            <a:normAutofit/>
          </a:bodyPr>
          <a:lstStyle/>
          <a:p>
            <a:pPr marL="0" indent="0" algn="ctr">
              <a:buNone/>
            </a:pPr>
            <a:r>
              <a:rPr lang="en-US" sz="1150" b="1" dirty="0">
                <a:solidFill>
                  <a:srgbClr val="17365D"/>
                </a:solidFill>
              </a:rPr>
              <a:t>R2</a:t>
            </a:r>
            <a:endParaRPr lang="en-US" sz="1150" dirty="0"/>
          </a:p>
          <a:p>
            <a:pPr marL="0" indent="0" algn="ctr">
              <a:buNone/>
            </a:pPr>
            <a:r>
              <a:rPr lang="en-US" sz="1150" b="1" dirty="0">
                <a:solidFill>
                  <a:srgbClr val="17365D"/>
                </a:solidFill>
              </a:rPr>
              <a:t>Calibration</a:t>
            </a:r>
            <a:endParaRPr lang="en-US" sz="1150" dirty="0"/>
          </a:p>
        </p:txBody>
      </p:sp>
      <p:sp>
        <p:nvSpPr>
          <p:cNvPr id="10" name="Shape 8"/>
          <p:cNvSpPr/>
          <p:nvPr/>
        </p:nvSpPr>
        <p:spPr>
          <a:xfrm>
            <a:off x="3648456" y="4224528"/>
            <a:ext cx="1170432" cy="932688"/>
          </a:xfrm>
          <a:prstGeom prst="roundRect">
            <a:avLst>
              <a:gd name="adj" fmla="val 7843"/>
            </a:avLst>
          </a:prstGeom>
          <a:solidFill>
            <a:srgbClr val="D9EAF7"/>
          </a:solidFill>
          <a:ln w="12700">
            <a:solidFill>
              <a:srgbClr val="C8D1DA"/>
            </a:solidFill>
            <a:prstDash val="solid"/>
          </a:ln>
        </p:spPr>
      </p:sp>
      <p:sp>
        <p:nvSpPr>
          <p:cNvPr id="11" name="Text 9"/>
          <p:cNvSpPr/>
          <p:nvPr/>
        </p:nvSpPr>
        <p:spPr>
          <a:xfrm>
            <a:off x="3721608" y="4379976"/>
            <a:ext cx="1024128" cy="566928"/>
          </a:xfrm>
          <a:prstGeom prst="rect">
            <a:avLst/>
          </a:prstGeom>
          <a:noFill/>
          <a:ln/>
        </p:spPr>
        <p:txBody>
          <a:bodyPr wrap="square" lIns="127" tIns="127" rIns="127" bIns="127" rtlCol="0" anchor="ctr">
            <a:normAutofit/>
          </a:bodyPr>
          <a:lstStyle/>
          <a:p>
            <a:pPr marL="0" indent="0" algn="ctr">
              <a:buNone/>
            </a:pPr>
            <a:r>
              <a:rPr lang="en-US" sz="1150" b="1" dirty="0">
                <a:solidFill>
                  <a:srgbClr val="17365D"/>
                </a:solidFill>
              </a:rPr>
              <a:t>R3</a:t>
            </a:r>
            <a:endParaRPr lang="en-US" sz="1150" dirty="0"/>
          </a:p>
          <a:p>
            <a:pPr marL="0" indent="0" algn="ctr">
              <a:buNone/>
            </a:pPr>
            <a:r>
              <a:rPr lang="en-US" sz="1150" b="1" dirty="0">
                <a:solidFill>
                  <a:srgbClr val="17365D"/>
                </a:solidFill>
              </a:rPr>
              <a:t>Dataset</a:t>
            </a:r>
            <a:endParaRPr lang="en-US" sz="1150" dirty="0"/>
          </a:p>
        </p:txBody>
      </p:sp>
      <p:sp>
        <p:nvSpPr>
          <p:cNvPr id="12" name="Shape 10"/>
          <p:cNvSpPr/>
          <p:nvPr/>
        </p:nvSpPr>
        <p:spPr>
          <a:xfrm>
            <a:off x="5084064" y="4224528"/>
            <a:ext cx="1170432" cy="932688"/>
          </a:xfrm>
          <a:prstGeom prst="roundRect">
            <a:avLst>
              <a:gd name="adj" fmla="val 7843"/>
            </a:avLst>
          </a:prstGeom>
          <a:solidFill>
            <a:srgbClr val="D9EAF7"/>
          </a:solidFill>
          <a:ln w="12700">
            <a:solidFill>
              <a:srgbClr val="C8D1DA"/>
            </a:solidFill>
            <a:prstDash val="solid"/>
          </a:ln>
        </p:spPr>
      </p:sp>
      <p:sp>
        <p:nvSpPr>
          <p:cNvPr id="13" name="Text 11"/>
          <p:cNvSpPr/>
          <p:nvPr/>
        </p:nvSpPr>
        <p:spPr>
          <a:xfrm>
            <a:off x="5157216" y="4379976"/>
            <a:ext cx="1024128" cy="566928"/>
          </a:xfrm>
          <a:prstGeom prst="rect">
            <a:avLst/>
          </a:prstGeom>
          <a:noFill/>
          <a:ln/>
        </p:spPr>
        <p:txBody>
          <a:bodyPr wrap="square" lIns="127" tIns="127" rIns="127" bIns="127" rtlCol="0" anchor="ctr">
            <a:normAutofit/>
          </a:bodyPr>
          <a:lstStyle/>
          <a:p>
            <a:pPr marL="0" indent="0" algn="ctr">
              <a:buNone/>
            </a:pPr>
            <a:r>
              <a:rPr lang="en-US" sz="1150" b="1" dirty="0">
                <a:solidFill>
                  <a:srgbClr val="17365D"/>
                </a:solidFill>
              </a:rPr>
              <a:t>R4</a:t>
            </a:r>
            <a:endParaRPr lang="en-US" sz="1150" dirty="0"/>
          </a:p>
          <a:p>
            <a:pPr marL="0" indent="0" algn="ctr">
              <a:buNone/>
            </a:pPr>
            <a:r>
              <a:rPr lang="en-US" sz="1150" b="1" dirty="0">
                <a:solidFill>
                  <a:srgbClr val="17365D"/>
                </a:solidFill>
              </a:rPr>
              <a:t>Digital validation</a:t>
            </a:r>
            <a:endParaRPr lang="en-US" sz="1150" dirty="0"/>
          </a:p>
        </p:txBody>
      </p:sp>
      <p:sp>
        <p:nvSpPr>
          <p:cNvPr id="14" name="Shape 12"/>
          <p:cNvSpPr/>
          <p:nvPr/>
        </p:nvSpPr>
        <p:spPr>
          <a:xfrm>
            <a:off x="6519672" y="4224528"/>
            <a:ext cx="1170432" cy="932688"/>
          </a:xfrm>
          <a:prstGeom prst="roundRect">
            <a:avLst>
              <a:gd name="adj" fmla="val 7843"/>
            </a:avLst>
          </a:prstGeom>
          <a:solidFill>
            <a:srgbClr val="F7E5B7"/>
          </a:solidFill>
          <a:ln w="12700">
            <a:solidFill>
              <a:srgbClr val="C8D1DA"/>
            </a:solidFill>
            <a:prstDash val="solid"/>
          </a:ln>
        </p:spPr>
      </p:sp>
      <p:sp>
        <p:nvSpPr>
          <p:cNvPr id="15" name="Text 13"/>
          <p:cNvSpPr/>
          <p:nvPr/>
        </p:nvSpPr>
        <p:spPr>
          <a:xfrm>
            <a:off x="6592824" y="4379976"/>
            <a:ext cx="1024128" cy="566928"/>
          </a:xfrm>
          <a:prstGeom prst="rect">
            <a:avLst/>
          </a:prstGeom>
          <a:noFill/>
          <a:ln/>
        </p:spPr>
        <p:txBody>
          <a:bodyPr wrap="square" lIns="127" tIns="127" rIns="127" bIns="127" rtlCol="0" anchor="ctr">
            <a:normAutofit/>
          </a:bodyPr>
          <a:lstStyle/>
          <a:p>
            <a:pPr marL="0" indent="0" algn="ctr">
              <a:buNone/>
            </a:pPr>
            <a:r>
              <a:rPr lang="en-US" sz="1150" b="1" dirty="0">
                <a:solidFill>
                  <a:srgbClr val="17365D"/>
                </a:solidFill>
              </a:rPr>
              <a:t>R5</a:t>
            </a:r>
            <a:endParaRPr lang="en-US" sz="1150" dirty="0"/>
          </a:p>
          <a:p>
            <a:pPr marL="0" indent="0" algn="ctr">
              <a:buNone/>
            </a:pPr>
            <a:r>
              <a:rPr lang="en-US" sz="1150" b="1" dirty="0">
                <a:solidFill>
                  <a:srgbClr val="17365D"/>
                </a:solidFill>
              </a:rPr>
              <a:t>Paired test</a:t>
            </a:r>
            <a:endParaRPr lang="en-US" sz="1150" dirty="0"/>
          </a:p>
        </p:txBody>
      </p:sp>
      <p:sp>
        <p:nvSpPr>
          <p:cNvPr id="16" name="Shape 14"/>
          <p:cNvSpPr/>
          <p:nvPr/>
        </p:nvSpPr>
        <p:spPr>
          <a:xfrm>
            <a:off x="7955280" y="4224528"/>
            <a:ext cx="1170432" cy="932688"/>
          </a:xfrm>
          <a:prstGeom prst="roundRect">
            <a:avLst>
              <a:gd name="adj" fmla="val 7843"/>
            </a:avLst>
          </a:prstGeom>
          <a:solidFill>
            <a:srgbClr val="F7E5B7"/>
          </a:solidFill>
          <a:ln w="12700">
            <a:solidFill>
              <a:srgbClr val="C8D1DA"/>
            </a:solidFill>
            <a:prstDash val="solid"/>
          </a:ln>
        </p:spPr>
      </p:sp>
      <p:sp>
        <p:nvSpPr>
          <p:cNvPr id="17" name="Text 15"/>
          <p:cNvSpPr/>
          <p:nvPr/>
        </p:nvSpPr>
        <p:spPr>
          <a:xfrm>
            <a:off x="8028432" y="4379976"/>
            <a:ext cx="1024128" cy="566928"/>
          </a:xfrm>
          <a:prstGeom prst="rect">
            <a:avLst/>
          </a:prstGeom>
          <a:noFill/>
          <a:ln/>
        </p:spPr>
        <p:txBody>
          <a:bodyPr wrap="square" lIns="127" tIns="127" rIns="127" bIns="127" rtlCol="0" anchor="ctr">
            <a:normAutofit/>
          </a:bodyPr>
          <a:lstStyle/>
          <a:p>
            <a:pPr marL="0" indent="0" algn="ctr">
              <a:buNone/>
            </a:pPr>
            <a:r>
              <a:rPr lang="en-US" sz="1150" b="1" dirty="0">
                <a:solidFill>
                  <a:srgbClr val="17365D"/>
                </a:solidFill>
              </a:rPr>
              <a:t>R6</a:t>
            </a:r>
            <a:endParaRPr lang="en-US" sz="1150" dirty="0"/>
          </a:p>
          <a:p>
            <a:pPr marL="0" indent="0" algn="ctr">
              <a:buNone/>
            </a:pPr>
            <a:r>
              <a:rPr lang="en-US" sz="1150" b="1" dirty="0">
                <a:solidFill>
                  <a:srgbClr val="17365D"/>
                </a:solidFill>
              </a:rPr>
              <a:t>Inference protocol</a:t>
            </a:r>
            <a:endParaRPr lang="en-US" sz="1150" dirty="0"/>
          </a:p>
        </p:txBody>
      </p:sp>
      <p:sp>
        <p:nvSpPr>
          <p:cNvPr id="18" name="Shape 16"/>
          <p:cNvSpPr/>
          <p:nvPr/>
        </p:nvSpPr>
        <p:spPr>
          <a:xfrm>
            <a:off x="9390888" y="4224528"/>
            <a:ext cx="1170432" cy="932688"/>
          </a:xfrm>
          <a:prstGeom prst="roundRect">
            <a:avLst>
              <a:gd name="adj" fmla="val 7843"/>
            </a:avLst>
          </a:prstGeom>
          <a:solidFill>
            <a:srgbClr val="DDEFD9"/>
          </a:solidFill>
          <a:ln w="12700">
            <a:solidFill>
              <a:srgbClr val="C8D1DA"/>
            </a:solidFill>
            <a:prstDash val="solid"/>
          </a:ln>
        </p:spPr>
      </p:sp>
      <p:sp>
        <p:nvSpPr>
          <p:cNvPr id="19" name="Text 17"/>
          <p:cNvSpPr/>
          <p:nvPr/>
        </p:nvSpPr>
        <p:spPr>
          <a:xfrm>
            <a:off x="9464040" y="4379976"/>
            <a:ext cx="1024128" cy="566928"/>
          </a:xfrm>
          <a:prstGeom prst="rect">
            <a:avLst/>
          </a:prstGeom>
          <a:noFill/>
          <a:ln/>
        </p:spPr>
        <p:txBody>
          <a:bodyPr wrap="square" lIns="127" tIns="127" rIns="127" bIns="127" rtlCol="0" anchor="ctr">
            <a:normAutofit/>
          </a:bodyPr>
          <a:lstStyle/>
          <a:p>
            <a:pPr marL="0" indent="0" algn="ctr">
              <a:buNone/>
            </a:pPr>
            <a:r>
              <a:rPr lang="en-US" sz="1150" b="1" dirty="0">
                <a:solidFill>
                  <a:srgbClr val="17365D"/>
                </a:solidFill>
              </a:rPr>
              <a:t>R7</a:t>
            </a:r>
            <a:endParaRPr lang="en-US" sz="1150" dirty="0"/>
          </a:p>
          <a:p>
            <a:pPr marL="0" indent="0" algn="ctr">
              <a:buNone/>
            </a:pPr>
            <a:r>
              <a:rPr lang="en-US" sz="1150" b="1" dirty="0">
                <a:solidFill>
                  <a:srgbClr val="17365D"/>
                </a:solidFill>
              </a:rPr>
              <a:t>Intermediation agenda</a:t>
            </a:r>
            <a:endParaRPr lang="en-US" sz="1150" dirty="0"/>
          </a:p>
        </p:txBody>
      </p:sp>
      <p:sp>
        <p:nvSpPr>
          <p:cNvPr id="20" name="Text 18"/>
          <p:cNvSpPr/>
          <p:nvPr/>
        </p:nvSpPr>
        <p:spPr>
          <a:xfrm>
            <a:off x="749808" y="6236208"/>
            <a:ext cx="8229600" cy="274320"/>
          </a:xfrm>
          <a:prstGeom prst="rect">
            <a:avLst/>
          </a:prstGeom>
          <a:noFill/>
          <a:ln/>
        </p:spPr>
        <p:txBody>
          <a:bodyPr wrap="square" lIns="0" tIns="0" rIns="0" bIns="0" rtlCol="0" anchor="ctr"/>
          <a:lstStyle/>
          <a:p>
            <a:pPr marL="0" indent="0">
              <a:buNone/>
            </a:pPr>
            <a:r>
              <a:rPr lang="en-US" sz="1050" dirty="0">
                <a:solidFill>
                  <a:srgbClr val="777777"/>
                </a:solidFill>
              </a:rPr>
              <a:t>Readable update prepared from the project notes and earlier deck</a:t>
            </a:r>
            <a:endParaRPr lang="en-US" sz="1050" dirty="0"/>
          </a:p>
        </p:txBody>
      </p:sp>
      <p:pic>
        <p:nvPicPr>
          <p:cNvPr id="21" name="Picture 20">
            <a:extLst>
              <a:ext uri="{FF2B5EF4-FFF2-40B4-BE49-F238E27FC236}">
                <a16:creationId xmlns:a16="http://schemas.microsoft.com/office/drawing/2014/main" id="{3F428434-D22D-436B-81FD-037E00EED3CE}"/>
              </a:ext>
            </a:extLst>
          </p:cNvPr>
          <p:cNvPicPr>
            <a:picLocks noChangeAspect="1"/>
          </p:cNvPicPr>
          <p:nvPr/>
        </p:nvPicPr>
        <p:blipFill>
          <a:blip r:embed="rId3"/>
          <a:stretch>
            <a:fillRect/>
          </a:stretch>
        </p:blipFill>
        <p:spPr>
          <a:xfrm>
            <a:off x="9179625" y="450272"/>
            <a:ext cx="2891641" cy="289164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1E9FC2-2116-494D-B18A-6E752B4C6DC7}"/>
              </a:ext>
            </a:extLst>
          </p:cNvPr>
          <p:cNvSpPr/>
          <p:nvPr/>
        </p:nvSpPr>
        <p:spPr>
          <a:xfrm>
            <a:off x="1963474" y="837746"/>
            <a:ext cx="2686953"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highlight>
                  <a:srgbClr val="FFFF00"/>
                </a:highlight>
              </a:rPr>
              <a:t>The Aim:</a:t>
            </a:r>
          </a:p>
        </p:txBody>
      </p:sp>
      <p:sp>
        <p:nvSpPr>
          <p:cNvPr id="3" name="TextBox 2">
            <a:extLst>
              <a:ext uri="{FF2B5EF4-FFF2-40B4-BE49-F238E27FC236}">
                <a16:creationId xmlns:a16="http://schemas.microsoft.com/office/drawing/2014/main" id="{E7FCB799-5039-4A75-936B-2C2C74094C4A}"/>
              </a:ext>
            </a:extLst>
          </p:cNvPr>
          <p:cNvSpPr txBox="1"/>
          <p:nvPr/>
        </p:nvSpPr>
        <p:spPr>
          <a:xfrm>
            <a:off x="724395" y="2345377"/>
            <a:ext cx="10735293" cy="2246769"/>
          </a:xfrm>
          <a:prstGeom prst="rect">
            <a:avLst/>
          </a:prstGeom>
          <a:noFill/>
        </p:spPr>
        <p:txBody>
          <a:bodyPr wrap="square" rtlCol="1">
            <a:spAutoFit/>
          </a:bodyPr>
          <a:lstStyle/>
          <a:p>
            <a:r>
              <a:rPr lang="en-US" sz="2800" b="1" dirty="0">
                <a:solidFill>
                  <a:srgbClr val="17365D"/>
                </a:solidFill>
              </a:rPr>
              <a:t>A substantive theory of law as regulatory governance</a:t>
            </a:r>
          </a:p>
          <a:p>
            <a:r>
              <a:rPr lang="en-US" sz="2800" b="1" dirty="0">
                <a:solidFill>
                  <a:srgbClr val="17365D"/>
                </a:solidFill>
              </a:rPr>
              <a:t> with a focus on regulatory  Intermediation</a:t>
            </a:r>
          </a:p>
          <a:p>
            <a:endParaRPr lang="en-US" sz="2800" b="1" dirty="0">
              <a:solidFill>
                <a:srgbClr val="17365D"/>
              </a:solidFill>
            </a:endParaRPr>
          </a:p>
          <a:p>
            <a:r>
              <a:rPr lang="en-US" sz="2800" b="1" dirty="0">
                <a:solidFill>
                  <a:srgbClr val="17365D"/>
                </a:solidFill>
              </a:rPr>
              <a:t>Supported by a stable coding protocol.</a:t>
            </a:r>
            <a:endParaRPr lang="en-US" sz="2800" dirty="0"/>
          </a:p>
          <a:p>
            <a:endParaRPr lang="he-IL" sz="2800" dirty="0"/>
          </a:p>
        </p:txBody>
      </p:sp>
    </p:spTree>
    <p:extLst>
      <p:ext uri="{BB962C8B-B14F-4D97-AF65-F5344CB8AC3E}">
        <p14:creationId xmlns:p14="http://schemas.microsoft.com/office/powerpoint/2010/main" val="798282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01168"/>
            <a:ext cx="4389120" cy="256032"/>
          </a:xfrm>
          <a:prstGeom prst="rect">
            <a:avLst/>
          </a:prstGeom>
          <a:noFill/>
          <a:ln/>
        </p:spPr>
        <p:txBody>
          <a:bodyPr wrap="square" lIns="0" tIns="0" rIns="0" bIns="0" rtlCol="0" anchor="ctr"/>
          <a:lstStyle/>
          <a:p>
            <a:pPr marL="0" indent="0">
              <a:buNone/>
            </a:pPr>
            <a:r>
              <a:rPr lang="en-US" sz="1050" dirty="0">
                <a:solidFill>
                  <a:srgbClr val="5A5A5A"/>
                </a:solidFill>
                <a:latin typeface="Aptos" pitchFamily="34" charset="0"/>
                <a:ea typeface="Aptos" pitchFamily="34" charset="-122"/>
                <a:cs typeface="Aptos" pitchFamily="34" charset="-120"/>
              </a:rPr>
              <a:t>Law as Governance Group</a:t>
            </a:r>
            <a:endParaRPr lang="en-US" sz="1050" dirty="0"/>
          </a:p>
        </p:txBody>
      </p:sp>
      <p:sp>
        <p:nvSpPr>
          <p:cNvPr id="3" name="Text 1"/>
          <p:cNvSpPr/>
          <p:nvPr/>
        </p:nvSpPr>
        <p:spPr>
          <a:xfrm>
            <a:off x="8229600" y="201168"/>
            <a:ext cx="3429000" cy="256032"/>
          </a:xfrm>
          <a:prstGeom prst="rect">
            <a:avLst/>
          </a:prstGeom>
          <a:noFill/>
          <a:ln/>
        </p:spPr>
        <p:txBody>
          <a:bodyPr wrap="square" lIns="0" tIns="0" rIns="0" bIns="0" rtlCol="0" anchor="ctr"/>
          <a:lstStyle/>
          <a:p>
            <a:pPr marL="0" indent="0" algn="r">
              <a:buNone/>
            </a:pPr>
            <a:r>
              <a:rPr lang="en-US" sz="1050" dirty="0">
                <a:solidFill>
                  <a:srgbClr val="5A5A5A"/>
                </a:solidFill>
                <a:latin typeface="Aptos" pitchFamily="34" charset="0"/>
                <a:ea typeface="Aptos" pitchFamily="34" charset="-122"/>
                <a:cs typeface="Aptos" pitchFamily="34" charset="-120"/>
              </a:rPr>
              <a:t>Igor — cumulative work</a:t>
            </a:r>
            <a:endParaRPr lang="en-US" sz="1050" dirty="0"/>
          </a:p>
        </p:txBody>
      </p:sp>
      <p:sp>
        <p:nvSpPr>
          <p:cNvPr id="4" name="Shape 2"/>
          <p:cNvSpPr/>
          <p:nvPr/>
        </p:nvSpPr>
        <p:spPr>
          <a:xfrm>
            <a:off x="502920" y="530352"/>
            <a:ext cx="11201400" cy="0"/>
          </a:xfrm>
          <a:prstGeom prst="line">
            <a:avLst/>
          </a:prstGeom>
          <a:noFill/>
          <a:ln w="12700">
            <a:solidFill>
              <a:srgbClr val="D4DAE0"/>
            </a:solidFill>
            <a:prstDash val="solid"/>
          </a:ln>
        </p:spPr>
      </p:sp>
      <p:sp>
        <p:nvSpPr>
          <p:cNvPr id="5" name="Text 3"/>
          <p:cNvSpPr/>
          <p:nvPr/>
        </p:nvSpPr>
        <p:spPr>
          <a:xfrm>
            <a:off x="502920" y="786384"/>
            <a:ext cx="8778240" cy="438912"/>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The cumulative contribution</a:t>
            </a:r>
            <a:endParaRPr lang="en-US" sz="2600" dirty="0"/>
          </a:p>
        </p:txBody>
      </p:sp>
      <p:sp>
        <p:nvSpPr>
          <p:cNvPr id="6" name="Text 4"/>
          <p:cNvSpPr/>
          <p:nvPr/>
        </p:nvSpPr>
        <p:spPr>
          <a:xfrm>
            <a:off x="521208" y="1261872"/>
            <a:ext cx="10607040" cy="347472"/>
          </a:xfrm>
          <a:prstGeom prst="rect">
            <a:avLst/>
          </a:prstGeom>
          <a:noFill/>
          <a:ln/>
        </p:spPr>
        <p:txBody>
          <a:bodyPr wrap="square" lIns="0" tIns="0" rIns="0" bIns="0" rtlCol="0" anchor="ctr"/>
          <a:lstStyle/>
          <a:p>
            <a:pPr marL="0" indent="0">
              <a:buNone/>
            </a:pPr>
            <a:r>
              <a:rPr lang="en-US" sz="1600" dirty="0">
                <a:solidFill>
                  <a:srgbClr val="5A5A5A"/>
                </a:solidFill>
                <a:latin typeface="Aptos" pitchFamily="34" charset="0"/>
                <a:ea typeface="Aptos" pitchFamily="34" charset="-122"/>
                <a:cs typeface="Aptos" pitchFamily="34" charset="-120"/>
              </a:rPr>
              <a:t>Igor’s work is best read as operationalization in service of the paper and database.</a:t>
            </a:r>
            <a:endParaRPr lang="en-US" sz="1600" dirty="0"/>
          </a:p>
        </p:txBody>
      </p:sp>
      <p:sp>
        <p:nvSpPr>
          <p:cNvPr id="7" name="Shape 5"/>
          <p:cNvSpPr/>
          <p:nvPr/>
        </p:nvSpPr>
        <p:spPr>
          <a:xfrm>
            <a:off x="502920" y="1874520"/>
            <a:ext cx="1554480" cy="2377440"/>
          </a:xfrm>
          <a:prstGeom prst="roundRect">
            <a:avLst>
              <a:gd name="adj" fmla="val 4706"/>
            </a:avLst>
          </a:prstGeom>
          <a:solidFill>
            <a:srgbClr val="F4F7FA"/>
          </a:solidFill>
          <a:ln w="12700">
            <a:solidFill>
              <a:srgbClr val="D4DAE0"/>
            </a:solidFill>
            <a:prstDash val="solid"/>
          </a:ln>
        </p:spPr>
      </p:sp>
      <p:sp>
        <p:nvSpPr>
          <p:cNvPr id="8" name="Text 6"/>
          <p:cNvSpPr/>
          <p:nvPr/>
        </p:nvSpPr>
        <p:spPr>
          <a:xfrm>
            <a:off x="640080" y="2002536"/>
            <a:ext cx="1280160" cy="292608"/>
          </a:xfrm>
          <a:prstGeom prst="rect">
            <a:avLst/>
          </a:prstGeom>
          <a:noFill/>
          <a:ln/>
        </p:spPr>
        <p:txBody>
          <a:bodyPr wrap="square" lIns="0" tIns="0" rIns="0" bIns="0" rtlCol="0" anchor="ctr">
            <a:normAutofit fontScale="92500" lnSpcReduction="20000"/>
          </a:bodyPr>
          <a:lstStyle/>
          <a:p>
            <a:pPr marL="0" indent="0">
              <a:buNone/>
            </a:pPr>
            <a:r>
              <a:rPr lang="en-US" sz="2400" b="1" dirty="0">
                <a:solidFill>
                  <a:srgbClr val="17365D"/>
                </a:solidFill>
                <a:latin typeface="Aptos Display" pitchFamily="34" charset="0"/>
                <a:ea typeface="Aptos Display" pitchFamily="34" charset="-122"/>
                <a:cs typeface="Aptos Display" pitchFamily="34" charset="-120"/>
              </a:rPr>
              <a:t>R1</a:t>
            </a:r>
            <a:endParaRPr lang="en-US" sz="2400" dirty="0"/>
          </a:p>
        </p:txBody>
      </p:sp>
      <p:sp>
        <p:nvSpPr>
          <p:cNvPr id="9" name="Text 7"/>
          <p:cNvSpPr/>
          <p:nvPr/>
        </p:nvSpPr>
        <p:spPr>
          <a:xfrm>
            <a:off x="640080" y="2350008"/>
            <a:ext cx="1280160" cy="1810512"/>
          </a:xfrm>
          <a:prstGeom prst="rect">
            <a:avLst/>
          </a:prstGeom>
          <a:noFill/>
          <a:ln/>
        </p:spPr>
        <p:txBody>
          <a:bodyPr wrap="square" lIns="381" tIns="381" rIns="381" bIns="381" rtlCol="0" anchor="ctr">
            <a:normAutofit/>
          </a:bodyPr>
          <a:lstStyle/>
          <a:p>
            <a:pPr marL="0" indent="0">
              <a:buNone/>
            </a:pPr>
            <a:r>
              <a:rPr lang="en-US" sz="1220" dirty="0">
                <a:solidFill>
                  <a:srgbClr val="222222"/>
                </a:solidFill>
                <a:latin typeface="Aptos" pitchFamily="34" charset="0"/>
                <a:ea typeface="Aptos" pitchFamily="34" charset="-122"/>
                <a:cs typeface="Aptos" pitchFamily="34" charset="-120"/>
              </a:rPr>
              <a:t>Population before coding</a:t>
            </a:r>
            <a:endParaRPr lang="en-US" sz="1220" dirty="0"/>
          </a:p>
          <a:p>
            <a:pPr marL="0" indent="0">
              <a:buNone/>
            </a:pPr>
            <a:r>
              <a:rPr lang="en-US" sz="1220" dirty="0">
                <a:solidFill>
                  <a:srgbClr val="222222"/>
                </a:solidFill>
                <a:latin typeface="Aptos" pitchFamily="34" charset="0"/>
                <a:ea typeface="Aptos" pitchFamily="34" charset="-122"/>
                <a:cs typeface="Aptos" pitchFamily="34" charset="-120"/>
              </a:rPr>
              <a:t>legal universe first</a:t>
            </a:r>
            <a:endParaRPr lang="en-US" sz="1220" dirty="0"/>
          </a:p>
        </p:txBody>
      </p:sp>
      <p:sp>
        <p:nvSpPr>
          <p:cNvPr id="10" name="Shape 8"/>
          <p:cNvSpPr/>
          <p:nvPr/>
        </p:nvSpPr>
        <p:spPr>
          <a:xfrm>
            <a:off x="2176272" y="1874520"/>
            <a:ext cx="1554480" cy="2377440"/>
          </a:xfrm>
          <a:prstGeom prst="roundRect">
            <a:avLst>
              <a:gd name="adj" fmla="val 4706"/>
            </a:avLst>
          </a:prstGeom>
          <a:solidFill>
            <a:srgbClr val="F4F7FA"/>
          </a:solidFill>
          <a:ln w="12700">
            <a:solidFill>
              <a:srgbClr val="D4DAE0"/>
            </a:solidFill>
            <a:prstDash val="solid"/>
          </a:ln>
        </p:spPr>
      </p:sp>
      <p:sp>
        <p:nvSpPr>
          <p:cNvPr id="11" name="Text 9"/>
          <p:cNvSpPr/>
          <p:nvPr/>
        </p:nvSpPr>
        <p:spPr>
          <a:xfrm>
            <a:off x="2313432" y="2002536"/>
            <a:ext cx="1280160" cy="292608"/>
          </a:xfrm>
          <a:prstGeom prst="rect">
            <a:avLst/>
          </a:prstGeom>
          <a:noFill/>
          <a:ln/>
        </p:spPr>
        <p:txBody>
          <a:bodyPr wrap="square" lIns="0" tIns="0" rIns="0" bIns="0" rtlCol="0" anchor="ctr">
            <a:normAutofit fontScale="92500" lnSpcReduction="20000"/>
          </a:bodyPr>
          <a:lstStyle/>
          <a:p>
            <a:pPr marL="0" indent="0">
              <a:buNone/>
            </a:pPr>
            <a:r>
              <a:rPr lang="en-US" sz="2400" b="1" dirty="0">
                <a:solidFill>
                  <a:srgbClr val="17365D"/>
                </a:solidFill>
                <a:latin typeface="Aptos Display" pitchFamily="34" charset="0"/>
                <a:ea typeface="Aptos Display" pitchFamily="34" charset="-122"/>
                <a:cs typeface="Aptos Display" pitchFamily="34" charset="-120"/>
              </a:rPr>
              <a:t>R2</a:t>
            </a:r>
            <a:endParaRPr lang="en-US" sz="2400" dirty="0"/>
          </a:p>
        </p:txBody>
      </p:sp>
      <p:sp>
        <p:nvSpPr>
          <p:cNvPr id="12" name="Text 10"/>
          <p:cNvSpPr/>
          <p:nvPr/>
        </p:nvSpPr>
        <p:spPr>
          <a:xfrm>
            <a:off x="2313432" y="2350008"/>
            <a:ext cx="1280160" cy="1810512"/>
          </a:xfrm>
          <a:prstGeom prst="rect">
            <a:avLst/>
          </a:prstGeom>
          <a:noFill/>
          <a:ln/>
        </p:spPr>
        <p:txBody>
          <a:bodyPr wrap="square" lIns="381" tIns="381" rIns="381" bIns="381" rtlCol="0" anchor="ctr">
            <a:normAutofit/>
          </a:bodyPr>
          <a:lstStyle/>
          <a:p>
            <a:pPr marL="0" indent="0">
              <a:buNone/>
            </a:pPr>
            <a:r>
              <a:rPr lang="en-US" sz="1220" dirty="0">
                <a:solidFill>
                  <a:srgbClr val="222222"/>
                </a:solidFill>
                <a:latin typeface="Aptos" pitchFamily="34" charset="0"/>
                <a:ea typeface="Aptos" pitchFamily="34" charset="-122"/>
                <a:cs typeface="Aptos" pitchFamily="34" charset="-120"/>
              </a:rPr>
              <a:t>Relational calibration</a:t>
            </a:r>
            <a:endParaRPr lang="en-US" sz="1220" dirty="0"/>
          </a:p>
          <a:p>
            <a:pPr marL="0" indent="0">
              <a:buNone/>
            </a:pPr>
            <a:r>
              <a:rPr lang="en-US" sz="1220" dirty="0">
                <a:solidFill>
                  <a:srgbClr val="222222"/>
                </a:solidFill>
                <a:latin typeface="Aptos" pitchFamily="34" charset="0"/>
                <a:ea typeface="Aptos" pitchFamily="34" charset="-122"/>
                <a:cs typeface="Aptos" pitchFamily="34" charset="-120"/>
              </a:rPr>
              <a:t>RIT gate and rules</a:t>
            </a:r>
            <a:endParaRPr lang="en-US" sz="1220" dirty="0"/>
          </a:p>
        </p:txBody>
      </p:sp>
      <p:sp>
        <p:nvSpPr>
          <p:cNvPr id="13" name="Shape 11"/>
          <p:cNvSpPr/>
          <p:nvPr/>
        </p:nvSpPr>
        <p:spPr>
          <a:xfrm>
            <a:off x="3849624" y="1874520"/>
            <a:ext cx="1554480" cy="2377440"/>
          </a:xfrm>
          <a:prstGeom prst="roundRect">
            <a:avLst>
              <a:gd name="adj" fmla="val 4706"/>
            </a:avLst>
          </a:prstGeom>
          <a:solidFill>
            <a:srgbClr val="F4F7FA"/>
          </a:solidFill>
          <a:ln w="12700">
            <a:solidFill>
              <a:srgbClr val="D4DAE0"/>
            </a:solidFill>
            <a:prstDash val="solid"/>
          </a:ln>
        </p:spPr>
      </p:sp>
      <p:sp>
        <p:nvSpPr>
          <p:cNvPr id="14" name="Text 12"/>
          <p:cNvSpPr/>
          <p:nvPr/>
        </p:nvSpPr>
        <p:spPr>
          <a:xfrm>
            <a:off x="3986784" y="2002536"/>
            <a:ext cx="1280160" cy="292608"/>
          </a:xfrm>
          <a:prstGeom prst="rect">
            <a:avLst/>
          </a:prstGeom>
          <a:noFill/>
          <a:ln/>
        </p:spPr>
        <p:txBody>
          <a:bodyPr wrap="square" lIns="0" tIns="0" rIns="0" bIns="0" rtlCol="0" anchor="ctr">
            <a:normAutofit fontScale="92500" lnSpcReduction="20000"/>
          </a:bodyPr>
          <a:lstStyle/>
          <a:p>
            <a:pPr marL="0" indent="0">
              <a:buNone/>
            </a:pPr>
            <a:r>
              <a:rPr lang="en-US" sz="2400" b="1" dirty="0">
                <a:solidFill>
                  <a:srgbClr val="17365D"/>
                </a:solidFill>
                <a:latin typeface="Aptos Display" pitchFamily="34" charset="0"/>
                <a:ea typeface="Aptos Display" pitchFamily="34" charset="-122"/>
                <a:cs typeface="Aptos Display" pitchFamily="34" charset="-120"/>
              </a:rPr>
              <a:t>R3</a:t>
            </a:r>
            <a:endParaRPr lang="en-US" sz="2400" dirty="0"/>
          </a:p>
        </p:txBody>
      </p:sp>
      <p:sp>
        <p:nvSpPr>
          <p:cNvPr id="15" name="Text 13"/>
          <p:cNvSpPr/>
          <p:nvPr/>
        </p:nvSpPr>
        <p:spPr>
          <a:xfrm>
            <a:off x="3986784" y="2350008"/>
            <a:ext cx="1280160" cy="1810512"/>
          </a:xfrm>
          <a:prstGeom prst="rect">
            <a:avLst/>
          </a:prstGeom>
          <a:noFill/>
          <a:ln/>
        </p:spPr>
        <p:txBody>
          <a:bodyPr wrap="square" lIns="381" tIns="381" rIns="381" bIns="381" rtlCol="0" anchor="ctr">
            <a:normAutofit/>
          </a:bodyPr>
          <a:lstStyle/>
          <a:p>
            <a:pPr marL="0" indent="0">
              <a:buNone/>
            </a:pPr>
            <a:r>
              <a:rPr lang="en-US" sz="1220" dirty="0">
                <a:solidFill>
                  <a:srgbClr val="222222"/>
                </a:solidFill>
                <a:latin typeface="Aptos" pitchFamily="34" charset="0"/>
                <a:ea typeface="Aptos" pitchFamily="34" charset="-122"/>
                <a:cs typeface="Aptos" pitchFamily="34" charset="-120"/>
              </a:rPr>
              <a:t>Architecture dataset</a:t>
            </a:r>
            <a:endParaRPr lang="en-US" sz="1220" dirty="0"/>
          </a:p>
          <a:p>
            <a:pPr marL="0" indent="0">
              <a:buNone/>
            </a:pPr>
            <a:r>
              <a:rPr lang="en-US" sz="1220" dirty="0">
                <a:solidFill>
                  <a:srgbClr val="222222"/>
                </a:solidFill>
                <a:latin typeface="Aptos" pitchFamily="34" charset="0"/>
                <a:ea typeface="Aptos" pitchFamily="34" charset="-122"/>
                <a:cs typeface="Aptos" pitchFamily="34" charset="-120"/>
              </a:rPr>
              <a:t>linked levels</a:t>
            </a:r>
            <a:endParaRPr lang="en-US" sz="1220" dirty="0"/>
          </a:p>
        </p:txBody>
      </p:sp>
      <p:sp>
        <p:nvSpPr>
          <p:cNvPr id="16" name="Shape 14"/>
          <p:cNvSpPr/>
          <p:nvPr/>
        </p:nvSpPr>
        <p:spPr>
          <a:xfrm>
            <a:off x="5522976" y="1874520"/>
            <a:ext cx="1554480" cy="2377440"/>
          </a:xfrm>
          <a:prstGeom prst="roundRect">
            <a:avLst>
              <a:gd name="adj" fmla="val 4706"/>
            </a:avLst>
          </a:prstGeom>
          <a:solidFill>
            <a:srgbClr val="F4F7FA"/>
          </a:solidFill>
          <a:ln w="12700">
            <a:solidFill>
              <a:srgbClr val="D4DAE0"/>
            </a:solidFill>
            <a:prstDash val="solid"/>
          </a:ln>
        </p:spPr>
      </p:sp>
      <p:sp>
        <p:nvSpPr>
          <p:cNvPr id="17" name="Text 15"/>
          <p:cNvSpPr/>
          <p:nvPr/>
        </p:nvSpPr>
        <p:spPr>
          <a:xfrm>
            <a:off x="5660136" y="2002536"/>
            <a:ext cx="1280160" cy="292608"/>
          </a:xfrm>
          <a:prstGeom prst="rect">
            <a:avLst/>
          </a:prstGeom>
          <a:noFill/>
          <a:ln/>
        </p:spPr>
        <p:txBody>
          <a:bodyPr wrap="square" lIns="0" tIns="0" rIns="0" bIns="0" rtlCol="0" anchor="ctr">
            <a:normAutofit fontScale="92500" lnSpcReduction="20000"/>
          </a:bodyPr>
          <a:lstStyle/>
          <a:p>
            <a:pPr marL="0" indent="0">
              <a:buNone/>
            </a:pPr>
            <a:r>
              <a:rPr lang="en-US" sz="2400" b="1" dirty="0">
                <a:solidFill>
                  <a:srgbClr val="17365D"/>
                </a:solidFill>
                <a:latin typeface="Aptos Display" pitchFamily="34" charset="0"/>
                <a:ea typeface="Aptos Display" pitchFamily="34" charset="-122"/>
                <a:cs typeface="Aptos Display" pitchFamily="34" charset="-120"/>
              </a:rPr>
              <a:t>R4</a:t>
            </a:r>
            <a:endParaRPr lang="en-US" sz="2400" dirty="0"/>
          </a:p>
        </p:txBody>
      </p:sp>
      <p:sp>
        <p:nvSpPr>
          <p:cNvPr id="18" name="Text 16"/>
          <p:cNvSpPr/>
          <p:nvPr/>
        </p:nvSpPr>
        <p:spPr>
          <a:xfrm>
            <a:off x="5660136" y="2350008"/>
            <a:ext cx="1280160" cy="1810512"/>
          </a:xfrm>
          <a:prstGeom prst="rect">
            <a:avLst/>
          </a:prstGeom>
          <a:noFill/>
          <a:ln/>
        </p:spPr>
        <p:txBody>
          <a:bodyPr wrap="square" lIns="381" tIns="381" rIns="381" bIns="381" rtlCol="0" anchor="ctr">
            <a:normAutofit/>
          </a:bodyPr>
          <a:lstStyle/>
          <a:p>
            <a:pPr marL="0" indent="0">
              <a:buNone/>
            </a:pPr>
            <a:r>
              <a:rPr lang="en-US" sz="1220" dirty="0">
                <a:solidFill>
                  <a:srgbClr val="222222"/>
                </a:solidFill>
                <a:latin typeface="Aptos" pitchFamily="34" charset="0"/>
                <a:ea typeface="Aptos" pitchFamily="34" charset="-122"/>
                <a:cs typeface="Aptos" pitchFamily="34" charset="-120"/>
              </a:rPr>
              <a:t>Digital validation</a:t>
            </a:r>
            <a:endParaRPr lang="en-US" sz="1220" dirty="0"/>
          </a:p>
          <a:p>
            <a:pPr marL="0" indent="0">
              <a:buNone/>
            </a:pPr>
            <a:r>
              <a:rPr lang="en-US" sz="1220" dirty="0">
                <a:solidFill>
                  <a:srgbClr val="222222"/>
                </a:solidFill>
                <a:latin typeface="Aptos" pitchFamily="34" charset="0"/>
                <a:ea typeface="Aptos" pitchFamily="34" charset="-122"/>
                <a:cs typeface="Aptos" pitchFamily="34" charset="-120"/>
              </a:rPr>
              <a:t>portability and parsimony</a:t>
            </a:r>
            <a:endParaRPr lang="en-US" sz="1220" dirty="0"/>
          </a:p>
        </p:txBody>
      </p:sp>
      <p:sp>
        <p:nvSpPr>
          <p:cNvPr id="19" name="Shape 17"/>
          <p:cNvSpPr/>
          <p:nvPr/>
        </p:nvSpPr>
        <p:spPr>
          <a:xfrm>
            <a:off x="7196328" y="1874520"/>
            <a:ext cx="1554480" cy="2377440"/>
          </a:xfrm>
          <a:prstGeom prst="roundRect">
            <a:avLst>
              <a:gd name="adj" fmla="val 4706"/>
            </a:avLst>
          </a:prstGeom>
          <a:solidFill>
            <a:srgbClr val="F7E5B7"/>
          </a:solidFill>
          <a:ln w="12700">
            <a:solidFill>
              <a:srgbClr val="D4DAE0"/>
            </a:solidFill>
            <a:prstDash val="solid"/>
          </a:ln>
        </p:spPr>
      </p:sp>
      <p:sp>
        <p:nvSpPr>
          <p:cNvPr id="20" name="Text 18"/>
          <p:cNvSpPr/>
          <p:nvPr/>
        </p:nvSpPr>
        <p:spPr>
          <a:xfrm>
            <a:off x="7333488" y="2002536"/>
            <a:ext cx="1280160" cy="292608"/>
          </a:xfrm>
          <a:prstGeom prst="rect">
            <a:avLst/>
          </a:prstGeom>
          <a:noFill/>
          <a:ln/>
        </p:spPr>
        <p:txBody>
          <a:bodyPr wrap="square" lIns="0" tIns="0" rIns="0" bIns="0" rtlCol="0" anchor="ctr">
            <a:normAutofit fontScale="92500" lnSpcReduction="20000"/>
          </a:bodyPr>
          <a:lstStyle/>
          <a:p>
            <a:pPr marL="0" indent="0">
              <a:buNone/>
            </a:pPr>
            <a:r>
              <a:rPr lang="en-US" sz="2400" b="1" dirty="0">
                <a:solidFill>
                  <a:srgbClr val="17365D"/>
                </a:solidFill>
                <a:latin typeface="Aptos Display" pitchFamily="34" charset="0"/>
                <a:ea typeface="Aptos Display" pitchFamily="34" charset="-122"/>
                <a:cs typeface="Aptos Display" pitchFamily="34" charset="-120"/>
              </a:rPr>
              <a:t>R5</a:t>
            </a:r>
            <a:endParaRPr lang="en-US" sz="2400" dirty="0"/>
          </a:p>
        </p:txBody>
      </p:sp>
      <p:sp>
        <p:nvSpPr>
          <p:cNvPr id="21" name="Text 19"/>
          <p:cNvSpPr/>
          <p:nvPr/>
        </p:nvSpPr>
        <p:spPr>
          <a:xfrm>
            <a:off x="7333488" y="2350008"/>
            <a:ext cx="1280160" cy="1810512"/>
          </a:xfrm>
          <a:prstGeom prst="rect">
            <a:avLst/>
          </a:prstGeom>
          <a:noFill/>
          <a:ln/>
        </p:spPr>
        <p:txBody>
          <a:bodyPr wrap="square" lIns="381" tIns="381" rIns="381" bIns="381" rtlCol="0" anchor="ctr">
            <a:normAutofit/>
          </a:bodyPr>
          <a:lstStyle/>
          <a:p>
            <a:pPr marL="0" indent="0">
              <a:buNone/>
            </a:pPr>
            <a:r>
              <a:rPr lang="en-US" sz="1220" dirty="0">
                <a:solidFill>
                  <a:srgbClr val="222222"/>
                </a:solidFill>
                <a:latin typeface="Aptos" pitchFamily="34" charset="0"/>
                <a:ea typeface="Aptos" pitchFamily="34" charset="-122"/>
                <a:cs typeface="Aptos" pitchFamily="34" charset="-120"/>
              </a:rPr>
              <a:t>Paired test</a:t>
            </a:r>
            <a:endParaRPr lang="en-US" sz="1220" dirty="0"/>
          </a:p>
          <a:p>
            <a:pPr marL="0" indent="0">
              <a:buNone/>
            </a:pPr>
            <a:r>
              <a:rPr lang="en-US" sz="1220" dirty="0">
                <a:solidFill>
                  <a:srgbClr val="222222"/>
                </a:solidFill>
                <a:latin typeface="Aptos" pitchFamily="34" charset="0"/>
                <a:ea typeface="Aptos" pitchFamily="34" charset="-122"/>
                <a:cs typeface="Aptos" pitchFamily="34" charset="-120"/>
              </a:rPr>
              <a:t>baseline vs controlled</a:t>
            </a:r>
            <a:endParaRPr lang="en-US" sz="1220" dirty="0"/>
          </a:p>
        </p:txBody>
      </p:sp>
      <p:sp>
        <p:nvSpPr>
          <p:cNvPr id="22" name="Shape 20"/>
          <p:cNvSpPr/>
          <p:nvPr/>
        </p:nvSpPr>
        <p:spPr>
          <a:xfrm>
            <a:off x="8869680" y="1874520"/>
            <a:ext cx="1554480" cy="2377440"/>
          </a:xfrm>
          <a:prstGeom prst="roundRect">
            <a:avLst>
              <a:gd name="adj" fmla="val 4706"/>
            </a:avLst>
          </a:prstGeom>
          <a:solidFill>
            <a:srgbClr val="F7E5B7"/>
          </a:solidFill>
          <a:ln w="12700">
            <a:solidFill>
              <a:srgbClr val="D4DAE0"/>
            </a:solidFill>
            <a:prstDash val="solid"/>
          </a:ln>
        </p:spPr>
      </p:sp>
      <p:sp>
        <p:nvSpPr>
          <p:cNvPr id="23" name="Text 21"/>
          <p:cNvSpPr/>
          <p:nvPr/>
        </p:nvSpPr>
        <p:spPr>
          <a:xfrm>
            <a:off x="9006840" y="2002536"/>
            <a:ext cx="1280160" cy="292608"/>
          </a:xfrm>
          <a:prstGeom prst="rect">
            <a:avLst/>
          </a:prstGeom>
          <a:noFill/>
          <a:ln/>
        </p:spPr>
        <p:txBody>
          <a:bodyPr wrap="square" lIns="0" tIns="0" rIns="0" bIns="0" rtlCol="0" anchor="ctr">
            <a:normAutofit fontScale="92500" lnSpcReduction="20000"/>
          </a:bodyPr>
          <a:lstStyle/>
          <a:p>
            <a:pPr marL="0" indent="0">
              <a:buNone/>
            </a:pPr>
            <a:r>
              <a:rPr lang="en-US" sz="2400" b="1" dirty="0">
                <a:solidFill>
                  <a:srgbClr val="17365D"/>
                </a:solidFill>
                <a:latin typeface="Aptos Display" pitchFamily="34" charset="0"/>
                <a:ea typeface="Aptos Display" pitchFamily="34" charset="-122"/>
                <a:cs typeface="Aptos Display" pitchFamily="34" charset="-120"/>
              </a:rPr>
              <a:t>R6</a:t>
            </a:r>
            <a:endParaRPr lang="en-US" sz="2400" dirty="0"/>
          </a:p>
        </p:txBody>
      </p:sp>
      <p:sp>
        <p:nvSpPr>
          <p:cNvPr id="24" name="Text 22"/>
          <p:cNvSpPr/>
          <p:nvPr/>
        </p:nvSpPr>
        <p:spPr>
          <a:xfrm>
            <a:off x="9006840" y="2350008"/>
            <a:ext cx="1280160" cy="1810512"/>
          </a:xfrm>
          <a:prstGeom prst="rect">
            <a:avLst/>
          </a:prstGeom>
          <a:noFill/>
          <a:ln/>
        </p:spPr>
        <p:txBody>
          <a:bodyPr wrap="square" lIns="381" tIns="381" rIns="381" bIns="381" rtlCol="0" anchor="ctr">
            <a:normAutofit/>
          </a:bodyPr>
          <a:lstStyle/>
          <a:p>
            <a:pPr marL="0" indent="0">
              <a:buNone/>
            </a:pPr>
            <a:r>
              <a:rPr lang="en-US" sz="1220" dirty="0">
                <a:solidFill>
                  <a:srgbClr val="222222"/>
                </a:solidFill>
                <a:latin typeface="Aptos" pitchFamily="34" charset="0"/>
                <a:ea typeface="Aptos" pitchFamily="34" charset="-122"/>
                <a:cs typeface="Aptos" pitchFamily="34" charset="-120"/>
              </a:rPr>
              <a:t>Inference protocol</a:t>
            </a:r>
            <a:endParaRPr lang="en-US" sz="1220" dirty="0"/>
          </a:p>
          <a:p>
            <a:pPr marL="0" indent="0">
              <a:buNone/>
            </a:pPr>
            <a:r>
              <a:rPr lang="en-US" sz="1220" dirty="0">
                <a:solidFill>
                  <a:srgbClr val="222222"/>
                </a:solidFill>
                <a:latin typeface="Aptos" pitchFamily="34" charset="0"/>
                <a:ea typeface="Aptos" pitchFamily="34" charset="-122"/>
                <a:cs typeface="Aptos" pitchFamily="34" charset="-120"/>
              </a:rPr>
              <a:t>precision and stopping</a:t>
            </a:r>
            <a:endParaRPr lang="en-US" sz="1220" dirty="0"/>
          </a:p>
        </p:txBody>
      </p:sp>
      <p:sp>
        <p:nvSpPr>
          <p:cNvPr id="25" name="Shape 23"/>
          <p:cNvSpPr/>
          <p:nvPr/>
        </p:nvSpPr>
        <p:spPr>
          <a:xfrm>
            <a:off x="10543032" y="1874520"/>
            <a:ext cx="1554480" cy="2377440"/>
          </a:xfrm>
          <a:prstGeom prst="roundRect">
            <a:avLst>
              <a:gd name="adj" fmla="val 4706"/>
            </a:avLst>
          </a:prstGeom>
          <a:solidFill>
            <a:srgbClr val="DDEFD9"/>
          </a:solidFill>
          <a:ln w="12700">
            <a:solidFill>
              <a:srgbClr val="D4DAE0"/>
            </a:solidFill>
            <a:prstDash val="solid"/>
          </a:ln>
        </p:spPr>
      </p:sp>
      <p:sp>
        <p:nvSpPr>
          <p:cNvPr id="26" name="Text 24"/>
          <p:cNvSpPr/>
          <p:nvPr/>
        </p:nvSpPr>
        <p:spPr>
          <a:xfrm>
            <a:off x="10680192" y="2002536"/>
            <a:ext cx="1280160" cy="292608"/>
          </a:xfrm>
          <a:prstGeom prst="rect">
            <a:avLst/>
          </a:prstGeom>
          <a:noFill/>
          <a:ln/>
        </p:spPr>
        <p:txBody>
          <a:bodyPr wrap="square" lIns="0" tIns="0" rIns="0" bIns="0" rtlCol="0" anchor="ctr">
            <a:normAutofit fontScale="92500" lnSpcReduction="20000"/>
          </a:bodyPr>
          <a:lstStyle/>
          <a:p>
            <a:pPr marL="0" indent="0">
              <a:buNone/>
            </a:pPr>
            <a:r>
              <a:rPr lang="en-US" sz="2400" b="1" dirty="0">
                <a:solidFill>
                  <a:srgbClr val="17365D"/>
                </a:solidFill>
                <a:latin typeface="Aptos Display" pitchFamily="34" charset="0"/>
                <a:ea typeface="Aptos Display" pitchFamily="34" charset="-122"/>
                <a:cs typeface="Aptos Display" pitchFamily="34" charset="-120"/>
              </a:rPr>
              <a:t>R7</a:t>
            </a:r>
            <a:endParaRPr lang="en-US" sz="2400" dirty="0"/>
          </a:p>
        </p:txBody>
      </p:sp>
      <p:sp>
        <p:nvSpPr>
          <p:cNvPr id="27" name="Text 25"/>
          <p:cNvSpPr/>
          <p:nvPr/>
        </p:nvSpPr>
        <p:spPr>
          <a:xfrm>
            <a:off x="10680192" y="2350008"/>
            <a:ext cx="1280160" cy="1810512"/>
          </a:xfrm>
          <a:prstGeom prst="rect">
            <a:avLst/>
          </a:prstGeom>
          <a:noFill/>
          <a:ln/>
        </p:spPr>
        <p:txBody>
          <a:bodyPr wrap="square" lIns="381" tIns="381" rIns="381" bIns="381" rtlCol="0" anchor="ctr">
            <a:normAutofit/>
          </a:bodyPr>
          <a:lstStyle/>
          <a:p>
            <a:pPr marL="0" indent="0">
              <a:buNone/>
            </a:pPr>
            <a:r>
              <a:rPr lang="en-US" sz="1220" dirty="0">
                <a:solidFill>
                  <a:srgbClr val="222222"/>
                </a:solidFill>
                <a:latin typeface="Aptos" pitchFamily="34" charset="0"/>
                <a:ea typeface="Aptos" pitchFamily="34" charset="-122"/>
                <a:cs typeface="Aptos" pitchFamily="34" charset="-120"/>
              </a:rPr>
              <a:t>Research agenda</a:t>
            </a:r>
            <a:endParaRPr lang="en-US" sz="1220" dirty="0"/>
          </a:p>
          <a:p>
            <a:pPr marL="0" indent="0">
              <a:buNone/>
            </a:pPr>
            <a:r>
              <a:rPr lang="en-US" sz="1220" dirty="0">
                <a:solidFill>
                  <a:srgbClr val="222222"/>
                </a:solidFill>
                <a:latin typeface="Aptos" pitchFamily="34" charset="0"/>
                <a:ea typeface="Aptos" pitchFamily="34" charset="-122"/>
                <a:cs typeface="Aptos" pitchFamily="34" charset="-120"/>
              </a:rPr>
              <a:t>intermediation theory</a:t>
            </a:r>
            <a:endParaRPr lang="en-US" sz="1220" dirty="0"/>
          </a:p>
        </p:txBody>
      </p:sp>
      <p:sp>
        <p:nvSpPr>
          <p:cNvPr id="28" name="Text 26"/>
          <p:cNvSpPr/>
          <p:nvPr/>
        </p:nvSpPr>
        <p:spPr>
          <a:xfrm>
            <a:off x="914400" y="4828032"/>
            <a:ext cx="10058400" cy="777240"/>
          </a:xfrm>
          <a:prstGeom prst="rect">
            <a:avLst/>
          </a:prstGeom>
          <a:noFill/>
          <a:ln/>
        </p:spPr>
        <p:txBody>
          <a:bodyPr wrap="square" lIns="381" tIns="381" rIns="381" bIns="381" rtlCol="0" anchor="ctr">
            <a:normAutofit/>
          </a:bodyPr>
          <a:lstStyle/>
          <a:p>
            <a:pPr marL="0" indent="0" algn="ctr">
              <a:buNone/>
            </a:pPr>
            <a:r>
              <a:rPr lang="en-US" sz="2100" b="1" dirty="0">
                <a:solidFill>
                  <a:srgbClr val="17365D"/>
                </a:solidFill>
              </a:rPr>
              <a:t>The logic is cumulative: define the legal universe, calibrate relations, build the architecture dataset, test the method, then move to substantive comparative questions.</a:t>
            </a:r>
            <a:endParaRPr lang="en-US" sz="2100" dirty="0"/>
          </a:p>
        </p:txBody>
      </p:sp>
      <p:sp>
        <p:nvSpPr>
          <p:cNvPr id="29" name="Text 27"/>
          <p:cNvSpPr/>
          <p:nvPr/>
        </p:nvSpPr>
        <p:spPr>
          <a:xfrm>
            <a:off x="502920" y="6492240"/>
            <a:ext cx="11201400" cy="228600"/>
          </a:xfrm>
          <a:prstGeom prst="rect">
            <a:avLst/>
          </a:prstGeom>
          <a:noFill/>
          <a:ln/>
        </p:spPr>
        <p:txBody>
          <a:bodyPr wrap="square" lIns="0" tIns="0" rIns="0" bIns="0" rtlCol="0" anchor="ctr">
            <a:normAutofit/>
          </a:bodyPr>
          <a:lstStyle/>
          <a:p>
            <a:pPr marL="0" indent="0">
              <a:buNone/>
            </a:pPr>
            <a:r>
              <a:rPr lang="en-US" sz="850" dirty="0">
                <a:solidFill>
                  <a:srgbClr val="777777"/>
                </a:solidFill>
                <a:latin typeface="Aptos" pitchFamily="34" charset="0"/>
                <a:ea typeface="Aptos" pitchFamily="34" charset="-122"/>
                <a:cs typeface="Aptos" pitchFamily="34" charset="-120"/>
              </a:rPr>
              <a:t>Sources: R1, R2, R3 and October architectural-inference notes.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01168"/>
            <a:ext cx="4389120" cy="256032"/>
          </a:xfrm>
          <a:prstGeom prst="rect">
            <a:avLst/>
          </a:prstGeom>
          <a:noFill/>
          <a:ln/>
        </p:spPr>
        <p:txBody>
          <a:bodyPr wrap="square" lIns="0" tIns="0" rIns="0" bIns="0" rtlCol="0" anchor="ctr"/>
          <a:lstStyle/>
          <a:p>
            <a:pPr marL="0" indent="0">
              <a:buNone/>
            </a:pPr>
            <a:r>
              <a:rPr lang="en-US" sz="1050" dirty="0">
                <a:solidFill>
                  <a:srgbClr val="5A5A5A"/>
                </a:solidFill>
                <a:latin typeface="Aptos" pitchFamily="34" charset="0"/>
                <a:ea typeface="Aptos" pitchFamily="34" charset="-122"/>
                <a:cs typeface="Aptos" pitchFamily="34" charset="-120"/>
              </a:rPr>
              <a:t>Law as Governance Group</a:t>
            </a:r>
            <a:endParaRPr lang="en-US" sz="1050" dirty="0"/>
          </a:p>
        </p:txBody>
      </p:sp>
      <p:sp>
        <p:nvSpPr>
          <p:cNvPr id="3" name="Text 1"/>
          <p:cNvSpPr/>
          <p:nvPr/>
        </p:nvSpPr>
        <p:spPr>
          <a:xfrm>
            <a:off x="8229600" y="201168"/>
            <a:ext cx="3429000" cy="256032"/>
          </a:xfrm>
          <a:prstGeom prst="rect">
            <a:avLst/>
          </a:prstGeom>
          <a:noFill/>
          <a:ln/>
        </p:spPr>
        <p:txBody>
          <a:bodyPr wrap="square" lIns="0" tIns="0" rIns="0" bIns="0" rtlCol="0" anchor="ctr"/>
          <a:lstStyle/>
          <a:p>
            <a:pPr marL="0" indent="0" algn="r">
              <a:buNone/>
            </a:pPr>
            <a:r>
              <a:rPr lang="en-US" sz="1050" dirty="0">
                <a:solidFill>
                  <a:srgbClr val="5A5A5A"/>
                </a:solidFill>
                <a:latin typeface="Aptos" pitchFamily="34" charset="0"/>
                <a:ea typeface="Aptos" pitchFamily="34" charset="-122"/>
                <a:cs typeface="Aptos" pitchFamily="34" charset="-120"/>
              </a:rPr>
              <a:t>Igor — cumulative work</a:t>
            </a:r>
            <a:endParaRPr lang="en-US" sz="1050" dirty="0"/>
          </a:p>
        </p:txBody>
      </p:sp>
      <p:sp>
        <p:nvSpPr>
          <p:cNvPr id="4" name="Shape 2"/>
          <p:cNvSpPr/>
          <p:nvPr/>
        </p:nvSpPr>
        <p:spPr>
          <a:xfrm>
            <a:off x="502920" y="530352"/>
            <a:ext cx="11201400" cy="0"/>
          </a:xfrm>
          <a:prstGeom prst="line">
            <a:avLst/>
          </a:prstGeom>
          <a:noFill/>
          <a:ln w="12700">
            <a:solidFill>
              <a:srgbClr val="D4DAE0"/>
            </a:solidFill>
            <a:prstDash val="solid"/>
          </a:ln>
        </p:spPr>
      </p:sp>
      <p:sp>
        <p:nvSpPr>
          <p:cNvPr id="5" name="Text 3"/>
          <p:cNvSpPr/>
          <p:nvPr/>
        </p:nvSpPr>
        <p:spPr>
          <a:xfrm>
            <a:off x="502920" y="786384"/>
            <a:ext cx="8778240" cy="438912"/>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R1 contribution: population before coding</a:t>
            </a:r>
            <a:endParaRPr lang="en-US" sz="2600" dirty="0"/>
          </a:p>
        </p:txBody>
      </p:sp>
      <p:sp>
        <p:nvSpPr>
          <p:cNvPr id="6" name="Text 4"/>
          <p:cNvSpPr/>
          <p:nvPr/>
        </p:nvSpPr>
        <p:spPr>
          <a:xfrm>
            <a:off x="521208" y="1261872"/>
            <a:ext cx="10607040" cy="347472"/>
          </a:xfrm>
          <a:prstGeom prst="rect">
            <a:avLst/>
          </a:prstGeom>
          <a:noFill/>
          <a:ln/>
        </p:spPr>
        <p:txBody>
          <a:bodyPr wrap="square" lIns="0" tIns="0" rIns="0" bIns="0" rtlCol="0" anchor="ctr"/>
          <a:lstStyle/>
          <a:p>
            <a:pPr marL="0" indent="0">
              <a:buNone/>
            </a:pPr>
            <a:r>
              <a:rPr lang="en-US" sz="1600" dirty="0">
                <a:solidFill>
                  <a:srgbClr val="5A5A5A"/>
                </a:solidFill>
                <a:latin typeface="Aptos" pitchFamily="34" charset="0"/>
                <a:ea typeface="Aptos" pitchFamily="34" charset="-122"/>
                <a:cs typeface="Aptos" pitchFamily="34" charset="-120"/>
              </a:rPr>
              <a:t>The first contribution was to stop selecting laws because they looked rich in intermediaries.</a:t>
            </a:r>
            <a:endParaRPr lang="en-US" sz="1600" dirty="0"/>
          </a:p>
        </p:txBody>
      </p:sp>
      <p:sp>
        <p:nvSpPr>
          <p:cNvPr id="7" name="Shape 5"/>
          <p:cNvSpPr/>
          <p:nvPr/>
        </p:nvSpPr>
        <p:spPr>
          <a:xfrm>
            <a:off x="731520" y="1874520"/>
            <a:ext cx="1920240" cy="1143000"/>
          </a:xfrm>
          <a:prstGeom prst="roundRect">
            <a:avLst>
              <a:gd name="adj" fmla="val 6400"/>
            </a:avLst>
          </a:prstGeom>
          <a:solidFill>
            <a:srgbClr val="FFFFFF"/>
          </a:solidFill>
          <a:ln w="19050">
            <a:solidFill>
              <a:srgbClr val="2F75B5"/>
            </a:solidFill>
            <a:prstDash val="solid"/>
          </a:ln>
        </p:spPr>
      </p:sp>
      <p:sp>
        <p:nvSpPr>
          <p:cNvPr id="8" name="Text 6"/>
          <p:cNvSpPr/>
          <p:nvPr/>
        </p:nvSpPr>
        <p:spPr>
          <a:xfrm>
            <a:off x="777240" y="1984248"/>
            <a:ext cx="1828800" cy="438912"/>
          </a:xfrm>
          <a:prstGeom prst="rect">
            <a:avLst/>
          </a:prstGeom>
          <a:noFill/>
          <a:ln/>
        </p:spPr>
        <p:txBody>
          <a:bodyPr wrap="square" lIns="0" tIns="0" rIns="0" bIns="0" rtlCol="0" anchor="ctr"/>
          <a:lstStyle/>
          <a:p>
            <a:pPr marL="0" indent="0" algn="ctr">
              <a:buNone/>
            </a:pPr>
            <a:r>
              <a:rPr lang="en-US" sz="2800" b="1" dirty="0">
                <a:solidFill>
                  <a:srgbClr val="2F75B5"/>
                </a:solidFill>
                <a:latin typeface="Aptos Display" pitchFamily="34" charset="0"/>
                <a:ea typeface="Aptos Display" pitchFamily="34" charset="-122"/>
                <a:cs typeface="Aptos Display" pitchFamily="34" charset="-120"/>
              </a:rPr>
              <a:t>35</a:t>
            </a:r>
            <a:endParaRPr lang="en-US" sz="2800" dirty="0"/>
          </a:p>
        </p:txBody>
      </p:sp>
      <p:sp>
        <p:nvSpPr>
          <p:cNvPr id="9" name="Text 7"/>
          <p:cNvSpPr/>
          <p:nvPr/>
        </p:nvSpPr>
        <p:spPr>
          <a:xfrm>
            <a:off x="841248" y="2487168"/>
            <a:ext cx="1700784" cy="402336"/>
          </a:xfrm>
          <a:prstGeom prst="rect">
            <a:avLst/>
          </a:prstGeom>
          <a:noFill/>
          <a:ln/>
        </p:spPr>
        <p:txBody>
          <a:bodyPr wrap="square" lIns="0" tIns="0" rIns="0" bIns="0" rtlCol="0" anchor="ctr">
            <a:normAutofit/>
          </a:bodyPr>
          <a:lstStyle/>
          <a:p>
            <a:pPr marL="0" indent="0" algn="ctr">
              <a:buNone/>
            </a:pPr>
            <a:r>
              <a:rPr lang="en-US" sz="1050" dirty="0">
                <a:solidFill>
                  <a:srgbClr val="5A5A5A"/>
                </a:solidFill>
                <a:latin typeface="Aptos" pitchFamily="34" charset="0"/>
                <a:ea typeface="Aptos" pitchFamily="34" charset="-122"/>
                <a:cs typeface="Aptos" pitchFamily="34" charset="-120"/>
              </a:rPr>
              <a:t>eligible EU-level acts</a:t>
            </a:r>
            <a:endParaRPr lang="en-US" sz="1050" dirty="0"/>
          </a:p>
        </p:txBody>
      </p:sp>
      <p:sp>
        <p:nvSpPr>
          <p:cNvPr id="10" name="Shape 8"/>
          <p:cNvSpPr/>
          <p:nvPr/>
        </p:nvSpPr>
        <p:spPr>
          <a:xfrm>
            <a:off x="2834640" y="1874520"/>
            <a:ext cx="1920240" cy="1143000"/>
          </a:xfrm>
          <a:prstGeom prst="roundRect">
            <a:avLst>
              <a:gd name="adj" fmla="val 6400"/>
            </a:avLst>
          </a:prstGeom>
          <a:solidFill>
            <a:srgbClr val="FFFFFF"/>
          </a:solidFill>
          <a:ln w="19050">
            <a:solidFill>
              <a:srgbClr val="2F75B5"/>
            </a:solidFill>
            <a:prstDash val="solid"/>
          </a:ln>
        </p:spPr>
      </p:sp>
      <p:sp>
        <p:nvSpPr>
          <p:cNvPr id="11" name="Text 9"/>
          <p:cNvSpPr/>
          <p:nvPr/>
        </p:nvSpPr>
        <p:spPr>
          <a:xfrm>
            <a:off x="2880360" y="1984248"/>
            <a:ext cx="1828800" cy="438912"/>
          </a:xfrm>
          <a:prstGeom prst="rect">
            <a:avLst/>
          </a:prstGeom>
          <a:noFill/>
          <a:ln/>
        </p:spPr>
        <p:txBody>
          <a:bodyPr wrap="square" lIns="0" tIns="0" rIns="0" bIns="0" rtlCol="0" anchor="ctr"/>
          <a:lstStyle/>
          <a:p>
            <a:pPr marL="0" indent="0" algn="ctr">
              <a:buNone/>
            </a:pPr>
            <a:r>
              <a:rPr lang="en-US" sz="2800" b="1" dirty="0">
                <a:solidFill>
                  <a:srgbClr val="2F75B5"/>
                </a:solidFill>
                <a:latin typeface="Aptos Display" pitchFamily="34" charset="0"/>
                <a:ea typeface="Aptos Display" pitchFamily="34" charset="-122"/>
                <a:cs typeface="Aptos Display" pitchFamily="34" charset="-120"/>
              </a:rPr>
              <a:t>5</a:t>
            </a:r>
            <a:endParaRPr lang="en-US" sz="2800" dirty="0"/>
          </a:p>
        </p:txBody>
      </p:sp>
      <p:sp>
        <p:nvSpPr>
          <p:cNvPr id="12" name="Text 10"/>
          <p:cNvSpPr/>
          <p:nvPr/>
        </p:nvSpPr>
        <p:spPr>
          <a:xfrm>
            <a:off x="2944368" y="2487168"/>
            <a:ext cx="1700784" cy="402336"/>
          </a:xfrm>
          <a:prstGeom prst="rect">
            <a:avLst/>
          </a:prstGeom>
          <a:noFill/>
          <a:ln/>
        </p:spPr>
        <p:txBody>
          <a:bodyPr wrap="square" lIns="0" tIns="0" rIns="0" bIns="0" rtlCol="0" anchor="ctr">
            <a:normAutofit/>
          </a:bodyPr>
          <a:lstStyle/>
          <a:p>
            <a:pPr marL="0" indent="0" algn="ctr">
              <a:buNone/>
            </a:pPr>
            <a:r>
              <a:rPr lang="en-US" sz="1050" dirty="0">
                <a:solidFill>
                  <a:srgbClr val="5A5A5A"/>
                </a:solidFill>
                <a:latin typeface="Aptos" pitchFamily="34" charset="0"/>
                <a:ea typeface="Aptos" pitchFamily="34" charset="-122"/>
                <a:cs typeface="Aptos" pitchFamily="34" charset="-120"/>
              </a:rPr>
              <a:t>case calibration corpus</a:t>
            </a:r>
            <a:endParaRPr lang="en-US" sz="1050" dirty="0"/>
          </a:p>
        </p:txBody>
      </p:sp>
      <p:sp>
        <p:nvSpPr>
          <p:cNvPr id="13" name="Shape 11"/>
          <p:cNvSpPr/>
          <p:nvPr/>
        </p:nvSpPr>
        <p:spPr>
          <a:xfrm>
            <a:off x="4937760" y="1874520"/>
            <a:ext cx="1920240" cy="1143000"/>
          </a:xfrm>
          <a:prstGeom prst="roundRect">
            <a:avLst>
              <a:gd name="adj" fmla="val 6400"/>
            </a:avLst>
          </a:prstGeom>
          <a:solidFill>
            <a:srgbClr val="FFFFFF"/>
          </a:solidFill>
          <a:ln w="19050">
            <a:solidFill>
              <a:srgbClr val="2F75B5"/>
            </a:solidFill>
            <a:prstDash val="solid"/>
          </a:ln>
        </p:spPr>
      </p:sp>
      <p:sp>
        <p:nvSpPr>
          <p:cNvPr id="14" name="Text 12"/>
          <p:cNvSpPr/>
          <p:nvPr/>
        </p:nvSpPr>
        <p:spPr>
          <a:xfrm>
            <a:off x="4983480" y="1984248"/>
            <a:ext cx="1828800" cy="438912"/>
          </a:xfrm>
          <a:prstGeom prst="rect">
            <a:avLst/>
          </a:prstGeom>
          <a:noFill/>
          <a:ln/>
        </p:spPr>
        <p:txBody>
          <a:bodyPr wrap="square" lIns="0" tIns="0" rIns="0" bIns="0" rtlCol="0" anchor="ctr"/>
          <a:lstStyle/>
          <a:p>
            <a:pPr marL="0" indent="0" algn="ctr">
              <a:buNone/>
            </a:pPr>
            <a:r>
              <a:rPr lang="en-US" sz="2800" b="1" dirty="0">
                <a:solidFill>
                  <a:srgbClr val="2F75B5"/>
                </a:solidFill>
                <a:latin typeface="Aptos Display" pitchFamily="34" charset="0"/>
                <a:ea typeface="Aptos Display" pitchFamily="34" charset="-122"/>
                <a:cs typeface="Aptos Display" pitchFamily="34" charset="-120"/>
              </a:rPr>
              <a:t>CELEX</a:t>
            </a:r>
            <a:endParaRPr lang="en-US" sz="2800" dirty="0"/>
          </a:p>
        </p:txBody>
      </p:sp>
      <p:sp>
        <p:nvSpPr>
          <p:cNvPr id="15" name="Text 13"/>
          <p:cNvSpPr/>
          <p:nvPr/>
        </p:nvSpPr>
        <p:spPr>
          <a:xfrm>
            <a:off x="5047488" y="2487168"/>
            <a:ext cx="1700784" cy="402336"/>
          </a:xfrm>
          <a:prstGeom prst="rect">
            <a:avLst/>
          </a:prstGeom>
          <a:noFill/>
          <a:ln/>
        </p:spPr>
        <p:txBody>
          <a:bodyPr wrap="square" lIns="0" tIns="0" rIns="0" bIns="0" rtlCol="0" anchor="ctr">
            <a:normAutofit/>
          </a:bodyPr>
          <a:lstStyle/>
          <a:p>
            <a:pPr marL="0" indent="0" algn="ctr">
              <a:buNone/>
            </a:pPr>
            <a:r>
              <a:rPr lang="en-US" sz="1050" dirty="0">
                <a:solidFill>
                  <a:srgbClr val="5A5A5A"/>
                </a:solidFill>
                <a:latin typeface="Aptos" pitchFamily="34" charset="0"/>
                <a:ea typeface="Aptos" pitchFamily="34" charset="-122"/>
                <a:cs typeface="Aptos" pitchFamily="34" charset="-120"/>
              </a:rPr>
              <a:t>stable legal identity</a:t>
            </a:r>
            <a:endParaRPr lang="en-US" sz="1050" dirty="0"/>
          </a:p>
        </p:txBody>
      </p:sp>
      <p:sp>
        <p:nvSpPr>
          <p:cNvPr id="16" name="Shape 14"/>
          <p:cNvSpPr/>
          <p:nvPr/>
        </p:nvSpPr>
        <p:spPr>
          <a:xfrm>
            <a:off x="7040880" y="1874520"/>
            <a:ext cx="1920240" cy="1143000"/>
          </a:xfrm>
          <a:prstGeom prst="roundRect">
            <a:avLst>
              <a:gd name="adj" fmla="val 6400"/>
            </a:avLst>
          </a:prstGeom>
          <a:solidFill>
            <a:srgbClr val="FFFFFF"/>
          </a:solidFill>
          <a:ln w="19050">
            <a:solidFill>
              <a:srgbClr val="2F75B5"/>
            </a:solidFill>
            <a:prstDash val="solid"/>
          </a:ln>
        </p:spPr>
      </p:sp>
      <p:sp>
        <p:nvSpPr>
          <p:cNvPr id="17" name="Text 15"/>
          <p:cNvSpPr/>
          <p:nvPr/>
        </p:nvSpPr>
        <p:spPr>
          <a:xfrm>
            <a:off x="7086600" y="1984248"/>
            <a:ext cx="1828800" cy="438912"/>
          </a:xfrm>
          <a:prstGeom prst="rect">
            <a:avLst/>
          </a:prstGeom>
          <a:noFill/>
          <a:ln/>
        </p:spPr>
        <p:txBody>
          <a:bodyPr wrap="square" lIns="0" tIns="0" rIns="0" bIns="0" rtlCol="0" anchor="ctr"/>
          <a:lstStyle/>
          <a:p>
            <a:pPr marL="0" indent="0" algn="ctr">
              <a:buNone/>
            </a:pPr>
            <a:r>
              <a:rPr lang="en-US" sz="2800" b="1" dirty="0">
                <a:solidFill>
                  <a:srgbClr val="2F75B5"/>
                </a:solidFill>
                <a:latin typeface="Aptos Display" pitchFamily="34" charset="0"/>
                <a:ea typeface="Aptos Display" pitchFamily="34" charset="-122"/>
                <a:cs typeface="Aptos Display" pitchFamily="34" charset="-120"/>
              </a:rPr>
              <a:t>EUR-Lex</a:t>
            </a:r>
            <a:endParaRPr lang="en-US" sz="2800" dirty="0"/>
          </a:p>
        </p:txBody>
      </p:sp>
      <p:sp>
        <p:nvSpPr>
          <p:cNvPr id="18" name="Text 16"/>
          <p:cNvSpPr/>
          <p:nvPr/>
        </p:nvSpPr>
        <p:spPr>
          <a:xfrm>
            <a:off x="7150608" y="2487168"/>
            <a:ext cx="1700784" cy="402336"/>
          </a:xfrm>
          <a:prstGeom prst="rect">
            <a:avLst/>
          </a:prstGeom>
          <a:noFill/>
          <a:ln/>
        </p:spPr>
        <p:txBody>
          <a:bodyPr wrap="square" lIns="0" tIns="0" rIns="0" bIns="0" rtlCol="0" anchor="ctr">
            <a:normAutofit/>
          </a:bodyPr>
          <a:lstStyle/>
          <a:p>
            <a:pPr marL="0" indent="0" algn="ctr">
              <a:buNone/>
            </a:pPr>
            <a:r>
              <a:rPr lang="en-US" sz="1050" dirty="0">
                <a:solidFill>
                  <a:srgbClr val="5A5A5A"/>
                </a:solidFill>
                <a:latin typeface="Aptos" pitchFamily="34" charset="0"/>
                <a:ea typeface="Aptos" pitchFamily="34" charset="-122"/>
                <a:cs typeface="Aptos" pitchFamily="34" charset="-120"/>
              </a:rPr>
              <a:t>official legal source</a:t>
            </a:r>
            <a:endParaRPr lang="en-US" sz="1050" dirty="0"/>
          </a:p>
        </p:txBody>
      </p:sp>
      <p:sp>
        <p:nvSpPr>
          <p:cNvPr id="19" name="Text 17"/>
          <p:cNvSpPr/>
          <p:nvPr/>
        </p:nvSpPr>
        <p:spPr>
          <a:xfrm>
            <a:off x="868680" y="3520440"/>
            <a:ext cx="10607040" cy="2148840"/>
          </a:xfrm>
          <a:prstGeom prst="rect">
            <a:avLst/>
          </a:prstGeom>
          <a:noFill/>
          <a:ln/>
        </p:spPr>
        <p:txBody>
          <a:bodyPr wrap="square" lIns="635" tIns="635" rIns="635" bIns="635" rtlCol="0" anchor="ctr">
            <a:normAutofit/>
          </a:bodyPr>
          <a:lstStyle/>
          <a:p>
            <a:pPr marL="0" indent="0">
              <a:buNone/>
            </a:pPr>
            <a:r>
              <a:rPr lang="en-US" sz="1800" dirty="0">
                <a:solidFill>
                  <a:srgbClr val="2F75B5"/>
                </a:solidFill>
                <a:latin typeface="Aptos" pitchFamily="34" charset="0"/>
                <a:ea typeface="Aptos" pitchFamily="34" charset="-122"/>
                <a:cs typeface="Aptos" pitchFamily="34" charset="-120"/>
              </a:rPr>
              <a:t>• </a:t>
            </a:r>
            <a:r>
              <a:rPr lang="en-US" sz="1800" dirty="0">
                <a:solidFill>
                  <a:srgbClr val="222222"/>
                </a:solidFill>
                <a:latin typeface="Aptos" pitchFamily="34" charset="0"/>
                <a:ea typeface="Aptos" pitchFamily="34" charset="-122"/>
                <a:cs typeface="Aptos" pitchFamily="34" charset="-120"/>
              </a:rPr>
              <a:t>Separate population construction from substantive coding
</a:t>
            </a:r>
            <a:r>
              <a:rPr lang="en-US" sz="1800" dirty="0">
                <a:solidFill>
                  <a:srgbClr val="2F75B5"/>
                </a:solidFill>
                <a:latin typeface="Aptos" pitchFamily="34" charset="0"/>
                <a:ea typeface="Aptos" pitchFamily="34" charset="-122"/>
                <a:cs typeface="Aptos" pitchFamily="34" charset="-120"/>
              </a:rPr>
              <a:t>• </a:t>
            </a:r>
            <a:r>
              <a:rPr lang="en-US" sz="1800" dirty="0">
                <a:solidFill>
                  <a:srgbClr val="222222"/>
                </a:solidFill>
                <a:latin typeface="Aptos" pitchFamily="34" charset="0"/>
                <a:ea typeface="Aptos" pitchFamily="34" charset="-122"/>
                <a:cs typeface="Aptos" pitchFamily="34" charset="-120"/>
              </a:rPr>
              <a:t>Treat consolidated texts as versions, not separate laws
</a:t>
            </a:r>
            <a:r>
              <a:rPr lang="en-US" sz="1800" dirty="0">
                <a:solidFill>
                  <a:srgbClr val="2F75B5"/>
                </a:solidFill>
                <a:latin typeface="Aptos" pitchFamily="34" charset="0"/>
                <a:ea typeface="Aptos" pitchFamily="34" charset="-122"/>
                <a:cs typeface="Aptos" pitchFamily="34" charset="-120"/>
              </a:rPr>
              <a:t>• </a:t>
            </a:r>
            <a:r>
              <a:rPr lang="en-US" sz="1800" dirty="0">
                <a:solidFill>
                  <a:srgbClr val="222222"/>
                </a:solidFill>
                <a:latin typeface="Aptos" pitchFamily="34" charset="0"/>
                <a:ea typeface="Aptos" pitchFamily="34" charset="-122"/>
                <a:cs typeface="Aptos" pitchFamily="34" charset="-120"/>
              </a:rPr>
              <a:t>Preserve provenance and decision gates
</a:t>
            </a:r>
            <a:r>
              <a:rPr lang="en-US" sz="1800" dirty="0">
                <a:solidFill>
                  <a:srgbClr val="2F75B5"/>
                </a:solidFill>
                <a:latin typeface="Aptos" pitchFamily="34" charset="0"/>
                <a:ea typeface="Aptos" pitchFamily="34" charset="-122"/>
                <a:cs typeface="Aptos" pitchFamily="34" charset="-120"/>
              </a:rPr>
              <a:t>• </a:t>
            </a:r>
            <a:r>
              <a:rPr lang="en-US" sz="1800" dirty="0">
                <a:solidFill>
                  <a:srgbClr val="222222"/>
                </a:solidFill>
                <a:latin typeface="Aptos" pitchFamily="34" charset="0"/>
                <a:ea typeface="Aptos" pitchFamily="34" charset="-122"/>
                <a:cs typeface="Aptos" pitchFamily="34" charset="-120"/>
              </a:rPr>
              <a:t>Avoid selection bias from intermediary keywords
</a:t>
            </a:r>
            <a:r>
              <a:rPr lang="en-US" sz="1800" dirty="0">
                <a:solidFill>
                  <a:srgbClr val="2F75B5"/>
                </a:solidFill>
                <a:latin typeface="Aptos" pitchFamily="34" charset="0"/>
                <a:ea typeface="Aptos" pitchFamily="34" charset="-122"/>
                <a:cs typeface="Aptos" pitchFamily="34" charset="-120"/>
              </a:rPr>
              <a:t>• </a:t>
            </a:r>
            <a:r>
              <a:rPr lang="en-US" sz="1800" dirty="0">
                <a:solidFill>
                  <a:srgbClr val="222222"/>
                </a:solidFill>
                <a:latin typeface="Aptos" pitchFamily="34" charset="0"/>
                <a:ea typeface="Aptos" pitchFamily="34" charset="-122"/>
                <a:cs typeface="Aptos" pitchFamily="34" charset="-120"/>
              </a:rPr>
              <a:t>Record unresolved queries as unresolved, not as zero</a:t>
            </a:r>
            <a:endParaRPr lang="en-US" sz="1800" dirty="0"/>
          </a:p>
        </p:txBody>
      </p:sp>
      <p:sp>
        <p:nvSpPr>
          <p:cNvPr id="20" name="Text 18"/>
          <p:cNvSpPr/>
          <p:nvPr/>
        </p:nvSpPr>
        <p:spPr>
          <a:xfrm>
            <a:off x="502920" y="6492240"/>
            <a:ext cx="11201400" cy="228600"/>
          </a:xfrm>
          <a:prstGeom prst="rect">
            <a:avLst/>
          </a:prstGeom>
          <a:noFill/>
          <a:ln/>
        </p:spPr>
        <p:txBody>
          <a:bodyPr wrap="square" lIns="0" tIns="0" rIns="0" bIns="0" rtlCol="0" anchor="ctr">
            <a:normAutofit/>
          </a:bodyPr>
          <a:lstStyle/>
          <a:p>
            <a:pPr marL="0" indent="0">
              <a:buNone/>
            </a:pPr>
            <a:r>
              <a:rPr lang="en-US" sz="850" dirty="0">
                <a:solidFill>
                  <a:srgbClr val="777777"/>
                </a:solidFill>
                <a:latin typeface="Aptos" pitchFamily="34" charset="0"/>
                <a:ea typeface="Aptos" pitchFamily="34" charset="-122"/>
                <a:cs typeface="Aptos" pitchFamily="34" charset="-120"/>
              </a:rPr>
              <a:t>Source: R1 method progress report and population/calibration workbook, Sept. 2026.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01168"/>
            <a:ext cx="4389120" cy="256032"/>
          </a:xfrm>
          <a:prstGeom prst="rect">
            <a:avLst/>
          </a:prstGeom>
          <a:noFill/>
          <a:ln/>
        </p:spPr>
        <p:txBody>
          <a:bodyPr wrap="square" lIns="0" tIns="0" rIns="0" bIns="0" rtlCol="0" anchor="ctr"/>
          <a:lstStyle/>
          <a:p>
            <a:pPr marL="0" indent="0">
              <a:buNone/>
            </a:pPr>
            <a:r>
              <a:rPr lang="en-US" sz="1050" dirty="0">
                <a:solidFill>
                  <a:srgbClr val="5A5A5A"/>
                </a:solidFill>
                <a:latin typeface="Aptos" pitchFamily="34" charset="0"/>
                <a:ea typeface="Aptos" pitchFamily="34" charset="-122"/>
                <a:cs typeface="Aptos" pitchFamily="34" charset="-120"/>
              </a:rPr>
              <a:t>Law as Governance Group</a:t>
            </a:r>
            <a:endParaRPr lang="en-US" sz="1050" dirty="0"/>
          </a:p>
        </p:txBody>
      </p:sp>
      <p:sp>
        <p:nvSpPr>
          <p:cNvPr id="3" name="Text 1"/>
          <p:cNvSpPr/>
          <p:nvPr/>
        </p:nvSpPr>
        <p:spPr>
          <a:xfrm>
            <a:off x="8229600" y="201168"/>
            <a:ext cx="3429000" cy="256032"/>
          </a:xfrm>
          <a:prstGeom prst="rect">
            <a:avLst/>
          </a:prstGeom>
          <a:noFill/>
          <a:ln/>
        </p:spPr>
        <p:txBody>
          <a:bodyPr wrap="square" lIns="0" tIns="0" rIns="0" bIns="0" rtlCol="0" anchor="ctr"/>
          <a:lstStyle/>
          <a:p>
            <a:pPr marL="0" indent="0" algn="r">
              <a:buNone/>
            </a:pPr>
            <a:r>
              <a:rPr lang="en-US" sz="1050" dirty="0">
                <a:solidFill>
                  <a:srgbClr val="5A5A5A"/>
                </a:solidFill>
                <a:latin typeface="Aptos" pitchFamily="34" charset="0"/>
                <a:ea typeface="Aptos" pitchFamily="34" charset="-122"/>
                <a:cs typeface="Aptos" pitchFamily="34" charset="-120"/>
              </a:rPr>
              <a:t>Igor — cumulative work</a:t>
            </a:r>
            <a:endParaRPr lang="en-US" sz="1050" dirty="0"/>
          </a:p>
        </p:txBody>
      </p:sp>
      <p:sp>
        <p:nvSpPr>
          <p:cNvPr id="4" name="Shape 2"/>
          <p:cNvSpPr/>
          <p:nvPr/>
        </p:nvSpPr>
        <p:spPr>
          <a:xfrm>
            <a:off x="502920" y="530352"/>
            <a:ext cx="11201400" cy="0"/>
          </a:xfrm>
          <a:prstGeom prst="line">
            <a:avLst/>
          </a:prstGeom>
          <a:noFill/>
          <a:ln w="12700">
            <a:solidFill>
              <a:srgbClr val="D4DAE0"/>
            </a:solidFill>
            <a:prstDash val="solid"/>
          </a:ln>
        </p:spPr>
      </p:sp>
      <p:sp>
        <p:nvSpPr>
          <p:cNvPr id="5" name="Text 3"/>
          <p:cNvSpPr/>
          <p:nvPr/>
        </p:nvSpPr>
        <p:spPr>
          <a:xfrm>
            <a:off x="502920" y="786384"/>
            <a:ext cx="8778240" cy="438912"/>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R2 contribution: relational calibration</a:t>
            </a:r>
            <a:endParaRPr lang="en-US" sz="2600" dirty="0"/>
          </a:p>
        </p:txBody>
      </p:sp>
      <p:sp>
        <p:nvSpPr>
          <p:cNvPr id="6" name="Text 4"/>
          <p:cNvSpPr/>
          <p:nvPr/>
        </p:nvSpPr>
        <p:spPr>
          <a:xfrm>
            <a:off x="521208" y="1261872"/>
            <a:ext cx="10607040" cy="347472"/>
          </a:xfrm>
          <a:prstGeom prst="rect">
            <a:avLst/>
          </a:prstGeom>
          <a:noFill/>
          <a:ln/>
        </p:spPr>
        <p:txBody>
          <a:bodyPr wrap="square" lIns="0" tIns="0" rIns="0" bIns="0" rtlCol="0" anchor="ctr"/>
          <a:lstStyle/>
          <a:p>
            <a:pPr marL="0" indent="0">
              <a:buNone/>
            </a:pPr>
            <a:r>
              <a:rPr lang="en-US" sz="1600" dirty="0">
                <a:solidFill>
                  <a:srgbClr val="5A5A5A"/>
                </a:solidFill>
                <a:latin typeface="Aptos" pitchFamily="34" charset="0"/>
                <a:ea typeface="Aptos" pitchFamily="34" charset="-122"/>
                <a:cs typeface="Aptos" pitchFamily="34" charset="-120"/>
              </a:rPr>
              <a:t>The second contribution was to stabilize the RIT coding logic before scaling.</a:t>
            </a:r>
            <a:endParaRPr lang="en-US" sz="1600" dirty="0"/>
          </a:p>
        </p:txBody>
      </p:sp>
      <p:sp>
        <p:nvSpPr>
          <p:cNvPr id="7" name="Shape 5"/>
          <p:cNvSpPr/>
          <p:nvPr/>
        </p:nvSpPr>
        <p:spPr>
          <a:xfrm>
            <a:off x="502920" y="1965960"/>
            <a:ext cx="1143000" cy="685800"/>
          </a:xfrm>
          <a:prstGeom prst="roundRect">
            <a:avLst>
              <a:gd name="adj" fmla="val 8000"/>
            </a:avLst>
          </a:prstGeom>
          <a:solidFill>
            <a:srgbClr val="D9EAF7"/>
          </a:solidFill>
          <a:ln w="12700">
            <a:solidFill>
              <a:srgbClr val="B8C8D8"/>
            </a:solidFill>
            <a:prstDash val="solid"/>
          </a:ln>
        </p:spPr>
      </p:sp>
      <p:sp>
        <p:nvSpPr>
          <p:cNvPr id="8" name="Text 6"/>
          <p:cNvSpPr/>
          <p:nvPr/>
        </p:nvSpPr>
        <p:spPr>
          <a:xfrm>
            <a:off x="548640" y="2167128"/>
            <a:ext cx="1051560" cy="219456"/>
          </a:xfrm>
          <a:prstGeom prst="rect">
            <a:avLst/>
          </a:prstGeom>
          <a:noFill/>
          <a:ln/>
        </p:spPr>
        <p:txBody>
          <a:bodyPr wrap="square" lIns="0" tIns="0" rIns="0" bIns="0" rtlCol="0" anchor="ctr">
            <a:normAutofit/>
          </a:bodyPr>
          <a:lstStyle/>
          <a:p>
            <a:pPr marL="0" indent="0" algn="ctr">
              <a:buNone/>
            </a:pPr>
            <a:r>
              <a:rPr lang="en-US" sz="1200" b="1" dirty="0">
                <a:solidFill>
                  <a:srgbClr val="17365D"/>
                </a:solidFill>
              </a:rPr>
              <a:t>TEXT</a:t>
            </a:r>
            <a:endParaRPr lang="en-US" sz="1200" dirty="0"/>
          </a:p>
        </p:txBody>
      </p:sp>
      <p:sp>
        <p:nvSpPr>
          <p:cNvPr id="9" name="Shape 7"/>
          <p:cNvSpPr/>
          <p:nvPr/>
        </p:nvSpPr>
        <p:spPr>
          <a:xfrm>
            <a:off x="1920240" y="1965960"/>
            <a:ext cx="1143000" cy="685800"/>
          </a:xfrm>
          <a:prstGeom prst="roundRect">
            <a:avLst>
              <a:gd name="adj" fmla="val 8000"/>
            </a:avLst>
          </a:prstGeom>
          <a:solidFill>
            <a:srgbClr val="D9EAF7"/>
          </a:solidFill>
          <a:ln w="12700">
            <a:solidFill>
              <a:srgbClr val="B8C8D8"/>
            </a:solidFill>
            <a:prstDash val="solid"/>
          </a:ln>
        </p:spPr>
      </p:sp>
      <p:sp>
        <p:nvSpPr>
          <p:cNvPr id="10" name="Text 8"/>
          <p:cNvSpPr/>
          <p:nvPr/>
        </p:nvSpPr>
        <p:spPr>
          <a:xfrm>
            <a:off x="1965960" y="2167128"/>
            <a:ext cx="1051560" cy="219456"/>
          </a:xfrm>
          <a:prstGeom prst="rect">
            <a:avLst/>
          </a:prstGeom>
          <a:noFill/>
          <a:ln/>
        </p:spPr>
        <p:txBody>
          <a:bodyPr wrap="square" lIns="0" tIns="0" rIns="0" bIns="0" rtlCol="0" anchor="ctr">
            <a:normAutofit/>
          </a:bodyPr>
          <a:lstStyle/>
          <a:p>
            <a:pPr marL="0" indent="0" algn="ctr">
              <a:buNone/>
            </a:pPr>
            <a:r>
              <a:rPr lang="en-US" sz="1200" b="1" dirty="0">
                <a:solidFill>
                  <a:srgbClr val="17365D"/>
                </a:solidFill>
              </a:rPr>
              <a:t>ACTORS</a:t>
            </a:r>
            <a:endParaRPr lang="en-US" sz="1200" dirty="0"/>
          </a:p>
        </p:txBody>
      </p:sp>
      <p:sp>
        <p:nvSpPr>
          <p:cNvPr id="11" name="Shape 9"/>
          <p:cNvSpPr/>
          <p:nvPr/>
        </p:nvSpPr>
        <p:spPr>
          <a:xfrm>
            <a:off x="3337560" y="1965960"/>
            <a:ext cx="1143000" cy="685800"/>
          </a:xfrm>
          <a:prstGeom prst="roundRect">
            <a:avLst>
              <a:gd name="adj" fmla="val 8000"/>
            </a:avLst>
          </a:prstGeom>
          <a:solidFill>
            <a:srgbClr val="D9EAF7"/>
          </a:solidFill>
          <a:ln w="12700">
            <a:solidFill>
              <a:srgbClr val="B8C8D8"/>
            </a:solidFill>
            <a:prstDash val="solid"/>
          </a:ln>
        </p:spPr>
      </p:sp>
      <p:sp>
        <p:nvSpPr>
          <p:cNvPr id="12" name="Text 10"/>
          <p:cNvSpPr/>
          <p:nvPr/>
        </p:nvSpPr>
        <p:spPr>
          <a:xfrm>
            <a:off x="3383280" y="2167128"/>
            <a:ext cx="1051560" cy="219456"/>
          </a:xfrm>
          <a:prstGeom prst="rect">
            <a:avLst/>
          </a:prstGeom>
          <a:noFill/>
          <a:ln/>
        </p:spPr>
        <p:txBody>
          <a:bodyPr wrap="square" lIns="0" tIns="0" rIns="0" bIns="0" rtlCol="0" anchor="ctr">
            <a:normAutofit/>
          </a:bodyPr>
          <a:lstStyle/>
          <a:p>
            <a:pPr marL="0" indent="0" algn="ctr">
              <a:buNone/>
            </a:pPr>
            <a:r>
              <a:rPr lang="en-US" sz="1200" b="1" dirty="0">
                <a:solidFill>
                  <a:srgbClr val="17365D"/>
                </a:solidFill>
              </a:rPr>
              <a:t>ACTION</a:t>
            </a:r>
            <a:endParaRPr lang="en-US" sz="1200" dirty="0"/>
          </a:p>
        </p:txBody>
      </p:sp>
      <p:sp>
        <p:nvSpPr>
          <p:cNvPr id="13" name="Shape 11"/>
          <p:cNvSpPr/>
          <p:nvPr/>
        </p:nvSpPr>
        <p:spPr>
          <a:xfrm>
            <a:off x="4754880" y="1965960"/>
            <a:ext cx="1143000" cy="685800"/>
          </a:xfrm>
          <a:prstGeom prst="roundRect">
            <a:avLst>
              <a:gd name="adj" fmla="val 8000"/>
            </a:avLst>
          </a:prstGeom>
          <a:solidFill>
            <a:srgbClr val="D9EAF7"/>
          </a:solidFill>
          <a:ln w="12700">
            <a:solidFill>
              <a:srgbClr val="B8C8D8"/>
            </a:solidFill>
            <a:prstDash val="solid"/>
          </a:ln>
        </p:spPr>
      </p:sp>
      <p:sp>
        <p:nvSpPr>
          <p:cNvPr id="14" name="Text 12"/>
          <p:cNvSpPr/>
          <p:nvPr/>
        </p:nvSpPr>
        <p:spPr>
          <a:xfrm>
            <a:off x="4800600" y="2167128"/>
            <a:ext cx="1051560" cy="219456"/>
          </a:xfrm>
          <a:prstGeom prst="rect">
            <a:avLst/>
          </a:prstGeom>
          <a:noFill/>
          <a:ln/>
        </p:spPr>
        <p:txBody>
          <a:bodyPr wrap="square" lIns="0" tIns="0" rIns="0" bIns="0" rtlCol="0" anchor="ctr">
            <a:normAutofit/>
          </a:bodyPr>
          <a:lstStyle/>
          <a:p>
            <a:pPr marL="0" indent="0" algn="ctr">
              <a:buNone/>
            </a:pPr>
            <a:r>
              <a:rPr lang="en-US" sz="1200" b="1" dirty="0">
                <a:solidFill>
                  <a:srgbClr val="17365D"/>
                </a:solidFill>
              </a:rPr>
              <a:t>FUNCTION</a:t>
            </a:r>
            <a:endParaRPr lang="en-US" sz="1200" dirty="0"/>
          </a:p>
        </p:txBody>
      </p:sp>
      <p:sp>
        <p:nvSpPr>
          <p:cNvPr id="15" name="Shape 13"/>
          <p:cNvSpPr/>
          <p:nvPr/>
        </p:nvSpPr>
        <p:spPr>
          <a:xfrm>
            <a:off x="6172200" y="1965960"/>
            <a:ext cx="1143000" cy="685800"/>
          </a:xfrm>
          <a:prstGeom prst="roundRect">
            <a:avLst>
              <a:gd name="adj" fmla="val 8000"/>
            </a:avLst>
          </a:prstGeom>
          <a:solidFill>
            <a:srgbClr val="F7E5B7"/>
          </a:solidFill>
          <a:ln w="12700">
            <a:solidFill>
              <a:srgbClr val="B8C8D8"/>
            </a:solidFill>
            <a:prstDash val="solid"/>
          </a:ln>
        </p:spPr>
      </p:sp>
      <p:sp>
        <p:nvSpPr>
          <p:cNvPr id="16" name="Text 14"/>
          <p:cNvSpPr/>
          <p:nvPr/>
        </p:nvSpPr>
        <p:spPr>
          <a:xfrm>
            <a:off x="6217920" y="2167128"/>
            <a:ext cx="1051560" cy="219456"/>
          </a:xfrm>
          <a:prstGeom prst="rect">
            <a:avLst/>
          </a:prstGeom>
          <a:noFill/>
          <a:ln/>
        </p:spPr>
        <p:txBody>
          <a:bodyPr wrap="square" lIns="0" tIns="0" rIns="0" bIns="0" rtlCol="0" anchor="ctr">
            <a:normAutofit/>
          </a:bodyPr>
          <a:lstStyle/>
          <a:p>
            <a:pPr marL="0" indent="0" algn="ctr">
              <a:buNone/>
            </a:pPr>
            <a:r>
              <a:rPr lang="en-US" sz="1200" b="1" dirty="0">
                <a:solidFill>
                  <a:srgbClr val="17365D"/>
                </a:solidFill>
              </a:rPr>
              <a:t>RIT GATE</a:t>
            </a:r>
            <a:endParaRPr lang="en-US" sz="1200" dirty="0"/>
          </a:p>
        </p:txBody>
      </p:sp>
      <p:sp>
        <p:nvSpPr>
          <p:cNvPr id="17" name="Shape 15"/>
          <p:cNvSpPr/>
          <p:nvPr/>
        </p:nvSpPr>
        <p:spPr>
          <a:xfrm>
            <a:off x="7589520" y="1965960"/>
            <a:ext cx="1143000" cy="685800"/>
          </a:xfrm>
          <a:prstGeom prst="roundRect">
            <a:avLst>
              <a:gd name="adj" fmla="val 8000"/>
            </a:avLst>
          </a:prstGeom>
          <a:solidFill>
            <a:srgbClr val="D9EAF7"/>
          </a:solidFill>
          <a:ln w="12700">
            <a:solidFill>
              <a:srgbClr val="B8C8D8"/>
            </a:solidFill>
            <a:prstDash val="solid"/>
          </a:ln>
        </p:spPr>
      </p:sp>
      <p:sp>
        <p:nvSpPr>
          <p:cNvPr id="18" name="Text 16"/>
          <p:cNvSpPr/>
          <p:nvPr/>
        </p:nvSpPr>
        <p:spPr>
          <a:xfrm>
            <a:off x="7635240" y="2167128"/>
            <a:ext cx="1051560" cy="219456"/>
          </a:xfrm>
          <a:prstGeom prst="rect">
            <a:avLst/>
          </a:prstGeom>
          <a:noFill/>
          <a:ln/>
        </p:spPr>
        <p:txBody>
          <a:bodyPr wrap="square" lIns="0" tIns="0" rIns="0" bIns="0" rtlCol="0" anchor="ctr">
            <a:normAutofit/>
          </a:bodyPr>
          <a:lstStyle/>
          <a:p>
            <a:pPr marL="0" indent="0" algn="ctr">
              <a:buNone/>
            </a:pPr>
            <a:r>
              <a:rPr lang="en-US" sz="1200" b="1" dirty="0">
                <a:solidFill>
                  <a:srgbClr val="17365D"/>
                </a:solidFill>
              </a:rPr>
              <a:t>RELATION</a:t>
            </a:r>
            <a:endParaRPr lang="en-US" sz="1200" dirty="0"/>
          </a:p>
        </p:txBody>
      </p:sp>
      <p:sp>
        <p:nvSpPr>
          <p:cNvPr id="19" name="Shape 17"/>
          <p:cNvSpPr/>
          <p:nvPr/>
        </p:nvSpPr>
        <p:spPr>
          <a:xfrm>
            <a:off x="9006840" y="1965960"/>
            <a:ext cx="1143000" cy="685800"/>
          </a:xfrm>
          <a:prstGeom prst="roundRect">
            <a:avLst>
              <a:gd name="adj" fmla="val 8000"/>
            </a:avLst>
          </a:prstGeom>
          <a:solidFill>
            <a:srgbClr val="D9EAF7"/>
          </a:solidFill>
          <a:ln w="12700">
            <a:solidFill>
              <a:srgbClr val="B8C8D8"/>
            </a:solidFill>
            <a:prstDash val="solid"/>
          </a:ln>
        </p:spPr>
      </p:sp>
      <p:sp>
        <p:nvSpPr>
          <p:cNvPr id="20" name="Text 18"/>
          <p:cNvSpPr/>
          <p:nvPr/>
        </p:nvSpPr>
        <p:spPr>
          <a:xfrm>
            <a:off x="9052560" y="2167128"/>
            <a:ext cx="1051560" cy="219456"/>
          </a:xfrm>
          <a:prstGeom prst="rect">
            <a:avLst/>
          </a:prstGeom>
          <a:noFill/>
          <a:ln/>
        </p:spPr>
        <p:txBody>
          <a:bodyPr wrap="square" lIns="0" tIns="0" rIns="0" bIns="0" rtlCol="0" anchor="ctr">
            <a:normAutofit/>
          </a:bodyPr>
          <a:lstStyle/>
          <a:p>
            <a:pPr marL="0" indent="0" algn="ctr">
              <a:buNone/>
            </a:pPr>
            <a:r>
              <a:rPr lang="en-US" sz="1200" b="1" dirty="0">
                <a:solidFill>
                  <a:srgbClr val="17365D"/>
                </a:solidFill>
              </a:rPr>
              <a:t>R/I/T</a:t>
            </a:r>
            <a:endParaRPr lang="en-US" sz="1200" dirty="0"/>
          </a:p>
        </p:txBody>
      </p:sp>
      <p:sp>
        <p:nvSpPr>
          <p:cNvPr id="21" name="Shape 19"/>
          <p:cNvSpPr/>
          <p:nvPr/>
        </p:nvSpPr>
        <p:spPr>
          <a:xfrm>
            <a:off x="10424160" y="1965960"/>
            <a:ext cx="1143000" cy="685800"/>
          </a:xfrm>
          <a:prstGeom prst="roundRect">
            <a:avLst>
              <a:gd name="adj" fmla="val 8000"/>
            </a:avLst>
          </a:prstGeom>
          <a:solidFill>
            <a:srgbClr val="D9EAF7"/>
          </a:solidFill>
          <a:ln w="12700">
            <a:solidFill>
              <a:srgbClr val="B8C8D8"/>
            </a:solidFill>
            <a:prstDash val="solid"/>
          </a:ln>
        </p:spPr>
      </p:sp>
      <p:sp>
        <p:nvSpPr>
          <p:cNvPr id="22" name="Text 20"/>
          <p:cNvSpPr/>
          <p:nvPr/>
        </p:nvSpPr>
        <p:spPr>
          <a:xfrm>
            <a:off x="10469880" y="2167128"/>
            <a:ext cx="1051560" cy="219456"/>
          </a:xfrm>
          <a:prstGeom prst="rect">
            <a:avLst/>
          </a:prstGeom>
          <a:noFill/>
          <a:ln/>
        </p:spPr>
        <p:txBody>
          <a:bodyPr wrap="square" lIns="0" tIns="0" rIns="0" bIns="0" rtlCol="0" anchor="ctr">
            <a:normAutofit fontScale="92500"/>
          </a:bodyPr>
          <a:lstStyle/>
          <a:p>
            <a:pPr marL="0" indent="0" algn="ctr">
              <a:buNone/>
            </a:pPr>
            <a:r>
              <a:rPr lang="en-US" sz="1200" b="1" dirty="0">
                <a:solidFill>
                  <a:srgbClr val="17365D"/>
                </a:solidFill>
              </a:rPr>
              <a:t>INTERMEDIATION</a:t>
            </a:r>
            <a:endParaRPr lang="en-US" sz="1200" dirty="0"/>
          </a:p>
        </p:txBody>
      </p:sp>
      <p:sp>
        <p:nvSpPr>
          <p:cNvPr id="23" name="Shape 21"/>
          <p:cNvSpPr/>
          <p:nvPr/>
        </p:nvSpPr>
        <p:spPr>
          <a:xfrm>
            <a:off x="731520" y="3246120"/>
            <a:ext cx="4846320" cy="841248"/>
          </a:xfrm>
          <a:prstGeom prst="roundRect">
            <a:avLst>
              <a:gd name="adj" fmla="val 8696"/>
            </a:avLst>
          </a:prstGeom>
          <a:solidFill>
            <a:srgbClr val="F4F7FA"/>
          </a:solidFill>
          <a:ln w="12700">
            <a:solidFill>
              <a:srgbClr val="D4DAE0"/>
            </a:solidFill>
            <a:prstDash val="solid"/>
          </a:ln>
        </p:spPr>
      </p:sp>
      <p:sp>
        <p:nvSpPr>
          <p:cNvPr id="24" name="Text 22"/>
          <p:cNvSpPr/>
          <p:nvPr/>
        </p:nvSpPr>
        <p:spPr>
          <a:xfrm>
            <a:off x="868680" y="3374136"/>
            <a:ext cx="4572000" cy="292608"/>
          </a:xfrm>
          <a:prstGeom prst="rect">
            <a:avLst/>
          </a:prstGeom>
          <a:noFill/>
          <a:ln/>
        </p:spPr>
        <p:txBody>
          <a:bodyPr wrap="square" lIns="0" tIns="0" rIns="0" bIns="0" rtlCol="0" anchor="ctr">
            <a:normAutofit/>
          </a:bodyPr>
          <a:lstStyle/>
          <a:p>
            <a:pPr marL="0" indent="0">
              <a:buNone/>
            </a:pPr>
            <a:r>
              <a:rPr lang="en-US" sz="1600" b="1" dirty="0">
                <a:solidFill>
                  <a:srgbClr val="17365D"/>
                </a:solidFill>
                <a:latin typeface="Aptos Display" pitchFamily="34" charset="0"/>
                <a:ea typeface="Aptos Display" pitchFamily="34" charset="-122"/>
                <a:cs typeface="Aptos Display" pitchFamily="34" charset="-120"/>
              </a:rPr>
              <a:t>Rule 1</a:t>
            </a:r>
            <a:endParaRPr lang="en-US" sz="1600" dirty="0"/>
          </a:p>
        </p:txBody>
      </p:sp>
      <p:sp>
        <p:nvSpPr>
          <p:cNvPr id="25" name="Text 23"/>
          <p:cNvSpPr/>
          <p:nvPr/>
        </p:nvSpPr>
        <p:spPr>
          <a:xfrm>
            <a:off x="868680" y="3721608"/>
            <a:ext cx="4572000" cy="274320"/>
          </a:xfrm>
          <a:prstGeom prst="rect">
            <a:avLst/>
          </a:prstGeom>
          <a:noFill/>
          <a:ln/>
        </p:spPr>
        <p:txBody>
          <a:bodyPr wrap="square" lIns="381" tIns="381" rIns="381" bIns="381" rtlCol="0" anchor="ctr">
            <a:normAutofit/>
          </a:bodyPr>
          <a:lstStyle/>
          <a:p>
            <a:pPr marL="0" indent="0">
              <a:buNone/>
            </a:pPr>
            <a:r>
              <a:rPr lang="en-US" sz="1500" dirty="0">
                <a:solidFill>
                  <a:srgbClr val="222222"/>
                </a:solidFill>
                <a:latin typeface="Aptos" pitchFamily="34" charset="0"/>
                <a:ea typeface="Aptos" pitchFamily="34" charset="-122"/>
                <a:cs typeface="Aptos" pitchFamily="34" charset="-120"/>
              </a:rPr>
              <a:t>Non-binding output can still matter</a:t>
            </a:r>
            <a:endParaRPr lang="en-US" sz="1500" dirty="0"/>
          </a:p>
        </p:txBody>
      </p:sp>
      <p:sp>
        <p:nvSpPr>
          <p:cNvPr id="26" name="Shape 24"/>
          <p:cNvSpPr/>
          <p:nvPr/>
        </p:nvSpPr>
        <p:spPr>
          <a:xfrm>
            <a:off x="6217920" y="3246120"/>
            <a:ext cx="4846320" cy="841248"/>
          </a:xfrm>
          <a:prstGeom prst="roundRect">
            <a:avLst>
              <a:gd name="adj" fmla="val 8696"/>
            </a:avLst>
          </a:prstGeom>
          <a:solidFill>
            <a:srgbClr val="F4F7FA"/>
          </a:solidFill>
          <a:ln w="12700">
            <a:solidFill>
              <a:srgbClr val="D4DAE0"/>
            </a:solidFill>
            <a:prstDash val="solid"/>
          </a:ln>
        </p:spPr>
      </p:sp>
      <p:sp>
        <p:nvSpPr>
          <p:cNvPr id="27" name="Text 25"/>
          <p:cNvSpPr/>
          <p:nvPr/>
        </p:nvSpPr>
        <p:spPr>
          <a:xfrm>
            <a:off x="6355080" y="3374136"/>
            <a:ext cx="4572000" cy="292608"/>
          </a:xfrm>
          <a:prstGeom prst="rect">
            <a:avLst/>
          </a:prstGeom>
          <a:noFill/>
          <a:ln/>
        </p:spPr>
        <p:txBody>
          <a:bodyPr wrap="square" lIns="0" tIns="0" rIns="0" bIns="0" rtlCol="0" anchor="ctr">
            <a:normAutofit/>
          </a:bodyPr>
          <a:lstStyle/>
          <a:p>
            <a:pPr marL="0" indent="0">
              <a:buNone/>
            </a:pPr>
            <a:r>
              <a:rPr lang="en-US" sz="1600" b="1" dirty="0">
                <a:solidFill>
                  <a:srgbClr val="17365D"/>
                </a:solidFill>
                <a:latin typeface="Aptos Display" pitchFamily="34" charset="0"/>
                <a:ea typeface="Aptos Display" pitchFamily="34" charset="-122"/>
                <a:cs typeface="Aptos Display" pitchFamily="34" charset="-120"/>
              </a:rPr>
              <a:t>Rule 2</a:t>
            </a:r>
            <a:endParaRPr lang="en-US" sz="1600" dirty="0"/>
          </a:p>
        </p:txBody>
      </p:sp>
      <p:sp>
        <p:nvSpPr>
          <p:cNvPr id="28" name="Text 26"/>
          <p:cNvSpPr/>
          <p:nvPr/>
        </p:nvSpPr>
        <p:spPr>
          <a:xfrm>
            <a:off x="6355080" y="3721608"/>
            <a:ext cx="4572000" cy="274320"/>
          </a:xfrm>
          <a:prstGeom prst="rect">
            <a:avLst/>
          </a:prstGeom>
          <a:noFill/>
          <a:ln/>
        </p:spPr>
        <p:txBody>
          <a:bodyPr wrap="square" lIns="381" tIns="381" rIns="381" bIns="381" rtlCol="0" anchor="ctr">
            <a:normAutofit/>
          </a:bodyPr>
          <a:lstStyle/>
          <a:p>
            <a:pPr marL="0" indent="0">
              <a:buNone/>
            </a:pPr>
            <a:r>
              <a:rPr lang="en-US" sz="1500" dirty="0">
                <a:solidFill>
                  <a:srgbClr val="222222"/>
                </a:solidFill>
                <a:latin typeface="Aptos" pitchFamily="34" charset="0"/>
                <a:ea typeface="Aptos" pitchFamily="34" charset="-122"/>
                <a:cs typeface="Aptos" pitchFamily="34" charset="-120"/>
              </a:rPr>
              <a:t>Institutionalized expertise can mediate</a:t>
            </a:r>
            <a:endParaRPr lang="en-US" sz="1500" dirty="0"/>
          </a:p>
        </p:txBody>
      </p:sp>
      <p:sp>
        <p:nvSpPr>
          <p:cNvPr id="29" name="Shape 27"/>
          <p:cNvSpPr/>
          <p:nvPr/>
        </p:nvSpPr>
        <p:spPr>
          <a:xfrm>
            <a:off x="731520" y="4343400"/>
            <a:ext cx="4846320" cy="841248"/>
          </a:xfrm>
          <a:prstGeom prst="roundRect">
            <a:avLst>
              <a:gd name="adj" fmla="val 8696"/>
            </a:avLst>
          </a:prstGeom>
          <a:solidFill>
            <a:srgbClr val="F4F7FA"/>
          </a:solidFill>
          <a:ln w="12700">
            <a:solidFill>
              <a:srgbClr val="D4DAE0"/>
            </a:solidFill>
            <a:prstDash val="solid"/>
          </a:ln>
        </p:spPr>
      </p:sp>
      <p:sp>
        <p:nvSpPr>
          <p:cNvPr id="30" name="Text 28"/>
          <p:cNvSpPr/>
          <p:nvPr/>
        </p:nvSpPr>
        <p:spPr>
          <a:xfrm>
            <a:off x="868680" y="4471416"/>
            <a:ext cx="4572000" cy="292608"/>
          </a:xfrm>
          <a:prstGeom prst="rect">
            <a:avLst/>
          </a:prstGeom>
          <a:noFill/>
          <a:ln/>
        </p:spPr>
        <p:txBody>
          <a:bodyPr wrap="square" lIns="0" tIns="0" rIns="0" bIns="0" rtlCol="0" anchor="ctr">
            <a:normAutofit/>
          </a:bodyPr>
          <a:lstStyle/>
          <a:p>
            <a:pPr marL="0" indent="0">
              <a:buNone/>
            </a:pPr>
            <a:r>
              <a:rPr lang="en-US" sz="1600" b="1" dirty="0">
                <a:solidFill>
                  <a:srgbClr val="17365D"/>
                </a:solidFill>
                <a:latin typeface="Aptos Display" pitchFamily="34" charset="0"/>
                <a:ea typeface="Aptos Display" pitchFamily="34" charset="-122"/>
                <a:cs typeface="Aptos Display" pitchFamily="34" charset="-120"/>
              </a:rPr>
              <a:t>Rule 3</a:t>
            </a:r>
            <a:endParaRPr lang="en-US" sz="1600" dirty="0"/>
          </a:p>
        </p:txBody>
      </p:sp>
      <p:sp>
        <p:nvSpPr>
          <p:cNvPr id="31" name="Text 29"/>
          <p:cNvSpPr/>
          <p:nvPr/>
        </p:nvSpPr>
        <p:spPr>
          <a:xfrm>
            <a:off x="868680" y="4818888"/>
            <a:ext cx="4572000" cy="274320"/>
          </a:xfrm>
          <a:prstGeom prst="rect">
            <a:avLst/>
          </a:prstGeom>
          <a:noFill/>
          <a:ln/>
        </p:spPr>
        <p:txBody>
          <a:bodyPr wrap="square" lIns="381" tIns="381" rIns="381" bIns="381" rtlCol="0" anchor="ctr">
            <a:normAutofit/>
          </a:bodyPr>
          <a:lstStyle/>
          <a:p>
            <a:pPr marL="0" indent="0">
              <a:buNone/>
            </a:pPr>
            <a:r>
              <a:rPr lang="en-US" sz="1500" dirty="0">
                <a:solidFill>
                  <a:srgbClr val="222222"/>
                </a:solidFill>
                <a:latin typeface="Aptos" pitchFamily="34" charset="0"/>
                <a:ea typeface="Aptos" pitchFamily="34" charset="-122"/>
                <a:cs typeface="Aptos" pitchFamily="34" charset="-120"/>
              </a:rPr>
              <a:t>R/I/T roles are relation-specific</a:t>
            </a:r>
            <a:endParaRPr lang="en-US" sz="1500" dirty="0"/>
          </a:p>
        </p:txBody>
      </p:sp>
      <p:sp>
        <p:nvSpPr>
          <p:cNvPr id="32" name="Shape 30"/>
          <p:cNvSpPr/>
          <p:nvPr/>
        </p:nvSpPr>
        <p:spPr>
          <a:xfrm>
            <a:off x="6217920" y="4343400"/>
            <a:ext cx="4846320" cy="841248"/>
          </a:xfrm>
          <a:prstGeom prst="roundRect">
            <a:avLst>
              <a:gd name="adj" fmla="val 8696"/>
            </a:avLst>
          </a:prstGeom>
          <a:solidFill>
            <a:srgbClr val="F4F7FA"/>
          </a:solidFill>
          <a:ln w="12700">
            <a:solidFill>
              <a:srgbClr val="D4DAE0"/>
            </a:solidFill>
            <a:prstDash val="solid"/>
          </a:ln>
        </p:spPr>
      </p:sp>
      <p:sp>
        <p:nvSpPr>
          <p:cNvPr id="33" name="Text 31"/>
          <p:cNvSpPr/>
          <p:nvPr/>
        </p:nvSpPr>
        <p:spPr>
          <a:xfrm>
            <a:off x="6355080" y="4471416"/>
            <a:ext cx="4572000" cy="292608"/>
          </a:xfrm>
          <a:prstGeom prst="rect">
            <a:avLst/>
          </a:prstGeom>
          <a:noFill/>
          <a:ln/>
        </p:spPr>
        <p:txBody>
          <a:bodyPr wrap="square" lIns="0" tIns="0" rIns="0" bIns="0" rtlCol="0" anchor="ctr">
            <a:normAutofit/>
          </a:bodyPr>
          <a:lstStyle/>
          <a:p>
            <a:pPr marL="0" indent="0">
              <a:buNone/>
            </a:pPr>
            <a:r>
              <a:rPr lang="en-US" sz="1600" b="1" dirty="0">
                <a:solidFill>
                  <a:srgbClr val="17365D"/>
                </a:solidFill>
                <a:latin typeface="Aptos Display" pitchFamily="34" charset="0"/>
                <a:ea typeface="Aptos Display" pitchFamily="34" charset="-122"/>
                <a:cs typeface="Aptos Display" pitchFamily="34" charset="-120"/>
              </a:rPr>
              <a:t>Rule 4</a:t>
            </a:r>
            <a:endParaRPr lang="en-US" sz="1600" dirty="0"/>
          </a:p>
        </p:txBody>
      </p:sp>
      <p:sp>
        <p:nvSpPr>
          <p:cNvPr id="34" name="Text 32"/>
          <p:cNvSpPr/>
          <p:nvPr/>
        </p:nvSpPr>
        <p:spPr>
          <a:xfrm>
            <a:off x="6355080" y="4818888"/>
            <a:ext cx="4572000" cy="274320"/>
          </a:xfrm>
          <a:prstGeom prst="rect">
            <a:avLst/>
          </a:prstGeom>
          <a:noFill/>
          <a:ln/>
        </p:spPr>
        <p:txBody>
          <a:bodyPr wrap="square" lIns="381" tIns="381" rIns="381" bIns="381" rtlCol="0" anchor="ctr">
            <a:normAutofit/>
          </a:bodyPr>
          <a:lstStyle/>
          <a:p>
            <a:pPr marL="0" indent="0">
              <a:buNone/>
            </a:pPr>
            <a:r>
              <a:rPr lang="en-US" sz="1500" dirty="0">
                <a:solidFill>
                  <a:srgbClr val="222222"/>
                </a:solidFill>
                <a:latin typeface="Aptos" pitchFamily="34" charset="0"/>
                <a:ea typeface="Aptos" pitchFamily="34" charset="-122"/>
                <a:cs typeface="Aptos" pitchFamily="34" charset="-120"/>
              </a:rPr>
              <a:t>Targets can be reconstructed across provisions</a:t>
            </a:r>
            <a:endParaRPr lang="en-US" sz="1500" dirty="0"/>
          </a:p>
        </p:txBody>
      </p:sp>
      <p:sp>
        <p:nvSpPr>
          <p:cNvPr id="35" name="Text 33"/>
          <p:cNvSpPr/>
          <p:nvPr/>
        </p:nvSpPr>
        <p:spPr>
          <a:xfrm>
            <a:off x="731520" y="5641848"/>
            <a:ext cx="10698480" cy="384048"/>
          </a:xfrm>
          <a:prstGeom prst="rect">
            <a:avLst/>
          </a:prstGeom>
          <a:noFill/>
          <a:ln/>
        </p:spPr>
        <p:txBody>
          <a:bodyPr wrap="square" lIns="0" tIns="0" rIns="0" bIns="0" rtlCol="0" anchor="ctr"/>
          <a:lstStyle/>
          <a:p>
            <a:pPr marL="0" indent="0" algn="ctr">
              <a:buNone/>
            </a:pPr>
            <a:r>
              <a:rPr lang="en-US" sz="2200" b="1" dirty="0">
                <a:solidFill>
                  <a:srgbClr val="17365D"/>
                </a:solidFill>
              </a:rPr>
              <a:t>Key result: reconstruct relations first. Do not classify actors first.</a:t>
            </a:r>
            <a:endParaRPr lang="en-US" sz="2200" dirty="0"/>
          </a:p>
        </p:txBody>
      </p:sp>
      <p:sp>
        <p:nvSpPr>
          <p:cNvPr id="36" name="Text 34"/>
          <p:cNvSpPr/>
          <p:nvPr/>
        </p:nvSpPr>
        <p:spPr>
          <a:xfrm>
            <a:off x="502920" y="6492240"/>
            <a:ext cx="11201400" cy="228600"/>
          </a:xfrm>
          <a:prstGeom prst="rect">
            <a:avLst/>
          </a:prstGeom>
          <a:noFill/>
          <a:ln/>
        </p:spPr>
        <p:txBody>
          <a:bodyPr wrap="square" lIns="0" tIns="0" rIns="0" bIns="0" rtlCol="0" anchor="ctr">
            <a:normAutofit/>
          </a:bodyPr>
          <a:lstStyle/>
          <a:p>
            <a:pPr marL="0" indent="0">
              <a:buNone/>
            </a:pPr>
            <a:r>
              <a:rPr lang="en-US" sz="850" dirty="0">
                <a:solidFill>
                  <a:srgbClr val="777777"/>
                </a:solidFill>
                <a:latin typeface="Aptos" pitchFamily="34" charset="0"/>
                <a:ea typeface="Aptos" pitchFamily="34" charset="-122"/>
                <a:cs typeface="Aptos" pitchFamily="34" charset="-120"/>
              </a:rPr>
              <a:t>Source: R2 methodological calibration note, v1.3, Sept. 2026.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01168"/>
            <a:ext cx="4389120" cy="256032"/>
          </a:xfrm>
          <a:prstGeom prst="rect">
            <a:avLst/>
          </a:prstGeom>
          <a:noFill/>
          <a:ln/>
        </p:spPr>
        <p:txBody>
          <a:bodyPr wrap="square" lIns="0" tIns="0" rIns="0" bIns="0" rtlCol="0" anchor="ctr"/>
          <a:lstStyle/>
          <a:p>
            <a:pPr marL="0" indent="0">
              <a:buNone/>
            </a:pPr>
            <a:r>
              <a:rPr lang="en-US" sz="1050" dirty="0">
                <a:solidFill>
                  <a:srgbClr val="5A5A5A"/>
                </a:solidFill>
                <a:latin typeface="Aptos" pitchFamily="34" charset="0"/>
                <a:ea typeface="Aptos" pitchFamily="34" charset="-122"/>
                <a:cs typeface="Aptos" pitchFamily="34" charset="-120"/>
              </a:rPr>
              <a:t>Law as Governance Group</a:t>
            </a:r>
            <a:endParaRPr lang="en-US" sz="1050" dirty="0"/>
          </a:p>
        </p:txBody>
      </p:sp>
      <p:sp>
        <p:nvSpPr>
          <p:cNvPr id="3" name="Text 1"/>
          <p:cNvSpPr/>
          <p:nvPr/>
        </p:nvSpPr>
        <p:spPr>
          <a:xfrm>
            <a:off x="8229600" y="201168"/>
            <a:ext cx="3429000" cy="256032"/>
          </a:xfrm>
          <a:prstGeom prst="rect">
            <a:avLst/>
          </a:prstGeom>
          <a:noFill/>
          <a:ln/>
        </p:spPr>
        <p:txBody>
          <a:bodyPr wrap="square" lIns="0" tIns="0" rIns="0" bIns="0" rtlCol="0" anchor="ctr"/>
          <a:lstStyle/>
          <a:p>
            <a:pPr marL="0" indent="0" algn="r">
              <a:buNone/>
            </a:pPr>
            <a:r>
              <a:rPr lang="en-US" sz="1050" dirty="0">
                <a:solidFill>
                  <a:srgbClr val="5A5A5A"/>
                </a:solidFill>
                <a:latin typeface="Aptos" pitchFamily="34" charset="0"/>
                <a:ea typeface="Aptos" pitchFamily="34" charset="-122"/>
                <a:cs typeface="Aptos" pitchFamily="34" charset="-120"/>
              </a:rPr>
              <a:t>Igor — cumulative work</a:t>
            </a:r>
            <a:endParaRPr lang="en-US" sz="1050" dirty="0"/>
          </a:p>
        </p:txBody>
      </p:sp>
      <p:sp>
        <p:nvSpPr>
          <p:cNvPr id="4" name="Shape 2"/>
          <p:cNvSpPr/>
          <p:nvPr/>
        </p:nvSpPr>
        <p:spPr>
          <a:xfrm>
            <a:off x="502920" y="530352"/>
            <a:ext cx="11201400" cy="0"/>
          </a:xfrm>
          <a:prstGeom prst="line">
            <a:avLst/>
          </a:prstGeom>
          <a:noFill/>
          <a:ln w="12700">
            <a:solidFill>
              <a:srgbClr val="D4DAE0"/>
            </a:solidFill>
            <a:prstDash val="solid"/>
          </a:ln>
        </p:spPr>
      </p:sp>
      <p:sp>
        <p:nvSpPr>
          <p:cNvPr id="5" name="Text 3"/>
          <p:cNvSpPr/>
          <p:nvPr/>
        </p:nvSpPr>
        <p:spPr>
          <a:xfrm>
            <a:off x="502920" y="786384"/>
            <a:ext cx="8778240" cy="438912"/>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R3 contribution: regulatory intermediation architecture</a:t>
            </a:r>
            <a:endParaRPr lang="en-US" sz="2600" dirty="0"/>
          </a:p>
        </p:txBody>
      </p:sp>
      <p:sp>
        <p:nvSpPr>
          <p:cNvPr id="6" name="Text 4"/>
          <p:cNvSpPr/>
          <p:nvPr/>
        </p:nvSpPr>
        <p:spPr>
          <a:xfrm>
            <a:off x="521208" y="1261872"/>
            <a:ext cx="10607040" cy="347472"/>
          </a:xfrm>
          <a:prstGeom prst="rect">
            <a:avLst/>
          </a:prstGeom>
          <a:noFill/>
          <a:ln/>
        </p:spPr>
        <p:txBody>
          <a:bodyPr wrap="square" lIns="0" tIns="0" rIns="0" bIns="0" rtlCol="0" anchor="ctr"/>
          <a:lstStyle/>
          <a:p>
            <a:pPr marL="0" indent="0">
              <a:buNone/>
            </a:pPr>
            <a:r>
              <a:rPr lang="en-US" sz="1600" dirty="0">
                <a:solidFill>
                  <a:srgbClr val="5A5A5A"/>
                </a:solidFill>
                <a:latin typeface="Aptos" pitchFamily="34" charset="0"/>
                <a:ea typeface="Aptos" pitchFamily="34" charset="-122"/>
                <a:cs typeface="Aptos" pitchFamily="34" charset="-120"/>
              </a:rPr>
              <a:t>The third contribution was a relational dataset architecture, not just a spreadsheet.</a:t>
            </a:r>
            <a:endParaRPr lang="en-US" sz="1600" dirty="0"/>
          </a:p>
        </p:txBody>
      </p:sp>
      <p:sp>
        <p:nvSpPr>
          <p:cNvPr id="7" name="Shape 5"/>
          <p:cNvSpPr/>
          <p:nvPr/>
        </p:nvSpPr>
        <p:spPr>
          <a:xfrm>
            <a:off x="457200" y="1828800"/>
            <a:ext cx="1920240" cy="1143000"/>
          </a:xfrm>
          <a:prstGeom prst="roundRect">
            <a:avLst>
              <a:gd name="adj" fmla="val 6400"/>
            </a:avLst>
          </a:prstGeom>
          <a:solidFill>
            <a:srgbClr val="FFFFFF"/>
          </a:solidFill>
          <a:ln w="19050">
            <a:solidFill>
              <a:srgbClr val="2F75B5"/>
            </a:solidFill>
            <a:prstDash val="solid"/>
          </a:ln>
        </p:spPr>
      </p:sp>
      <p:sp>
        <p:nvSpPr>
          <p:cNvPr id="8" name="Text 6"/>
          <p:cNvSpPr/>
          <p:nvPr/>
        </p:nvSpPr>
        <p:spPr>
          <a:xfrm>
            <a:off x="502920" y="1938528"/>
            <a:ext cx="1828800" cy="438912"/>
          </a:xfrm>
          <a:prstGeom prst="rect">
            <a:avLst/>
          </a:prstGeom>
          <a:noFill/>
          <a:ln/>
        </p:spPr>
        <p:txBody>
          <a:bodyPr wrap="square" lIns="0" tIns="0" rIns="0" bIns="0" rtlCol="0" anchor="ctr"/>
          <a:lstStyle/>
          <a:p>
            <a:pPr marL="0" indent="0" algn="ctr">
              <a:buNone/>
            </a:pPr>
            <a:r>
              <a:rPr lang="en-US" sz="2800" b="1" dirty="0">
                <a:solidFill>
                  <a:srgbClr val="2F75B5"/>
                </a:solidFill>
                <a:latin typeface="Aptos Display" pitchFamily="34" charset="0"/>
                <a:ea typeface="Aptos Display" pitchFamily="34" charset="-122"/>
                <a:cs typeface="Aptos Display" pitchFamily="34" charset="-120"/>
              </a:rPr>
              <a:t>5</a:t>
            </a:r>
            <a:endParaRPr lang="en-US" sz="2800" dirty="0"/>
          </a:p>
        </p:txBody>
      </p:sp>
      <p:sp>
        <p:nvSpPr>
          <p:cNvPr id="9" name="Text 7"/>
          <p:cNvSpPr/>
          <p:nvPr/>
        </p:nvSpPr>
        <p:spPr>
          <a:xfrm>
            <a:off x="566928" y="2441448"/>
            <a:ext cx="1700784" cy="402336"/>
          </a:xfrm>
          <a:prstGeom prst="rect">
            <a:avLst/>
          </a:prstGeom>
          <a:noFill/>
          <a:ln/>
        </p:spPr>
        <p:txBody>
          <a:bodyPr wrap="square" lIns="0" tIns="0" rIns="0" bIns="0" rtlCol="0" anchor="ctr">
            <a:normAutofit/>
          </a:bodyPr>
          <a:lstStyle/>
          <a:p>
            <a:pPr marL="0" indent="0" algn="ctr">
              <a:buNone/>
            </a:pPr>
            <a:r>
              <a:rPr lang="en-US" sz="1050" dirty="0">
                <a:solidFill>
                  <a:srgbClr val="5A5A5A"/>
                </a:solidFill>
                <a:latin typeface="Aptos" pitchFamily="34" charset="0"/>
                <a:ea typeface="Aptos" pitchFamily="34" charset="-122"/>
                <a:cs typeface="Aptos" pitchFamily="34" charset="-120"/>
              </a:rPr>
              <a:t>LAW</a:t>
            </a:r>
            <a:endParaRPr lang="en-US" sz="1050" dirty="0"/>
          </a:p>
        </p:txBody>
      </p:sp>
      <p:sp>
        <p:nvSpPr>
          <p:cNvPr id="10" name="Shape 8"/>
          <p:cNvSpPr/>
          <p:nvPr/>
        </p:nvSpPr>
        <p:spPr>
          <a:xfrm>
            <a:off x="2404872" y="1828800"/>
            <a:ext cx="1920240" cy="1143000"/>
          </a:xfrm>
          <a:prstGeom prst="roundRect">
            <a:avLst>
              <a:gd name="adj" fmla="val 6400"/>
            </a:avLst>
          </a:prstGeom>
          <a:solidFill>
            <a:srgbClr val="FFFFFF"/>
          </a:solidFill>
          <a:ln w="19050">
            <a:solidFill>
              <a:srgbClr val="2F75B5"/>
            </a:solidFill>
            <a:prstDash val="solid"/>
          </a:ln>
        </p:spPr>
      </p:sp>
      <p:sp>
        <p:nvSpPr>
          <p:cNvPr id="11" name="Text 9"/>
          <p:cNvSpPr/>
          <p:nvPr/>
        </p:nvSpPr>
        <p:spPr>
          <a:xfrm>
            <a:off x="2450592" y="1938528"/>
            <a:ext cx="1828800" cy="438912"/>
          </a:xfrm>
          <a:prstGeom prst="rect">
            <a:avLst/>
          </a:prstGeom>
          <a:noFill/>
          <a:ln/>
        </p:spPr>
        <p:txBody>
          <a:bodyPr wrap="square" lIns="0" tIns="0" rIns="0" bIns="0" rtlCol="0" anchor="ctr"/>
          <a:lstStyle/>
          <a:p>
            <a:pPr marL="0" indent="0" algn="ctr">
              <a:buNone/>
            </a:pPr>
            <a:r>
              <a:rPr lang="en-US" sz="2800" b="1" dirty="0">
                <a:solidFill>
                  <a:srgbClr val="2F75B5"/>
                </a:solidFill>
                <a:latin typeface="Aptos Display" pitchFamily="34" charset="0"/>
                <a:ea typeface="Aptos Display" pitchFamily="34" charset="-122"/>
                <a:cs typeface="Aptos Display" pitchFamily="34" charset="-120"/>
              </a:rPr>
              <a:t>89</a:t>
            </a:r>
            <a:endParaRPr lang="en-US" sz="2800" dirty="0"/>
          </a:p>
        </p:txBody>
      </p:sp>
      <p:sp>
        <p:nvSpPr>
          <p:cNvPr id="12" name="Text 10"/>
          <p:cNvSpPr/>
          <p:nvPr/>
        </p:nvSpPr>
        <p:spPr>
          <a:xfrm>
            <a:off x="2514600" y="2441448"/>
            <a:ext cx="1700784" cy="402336"/>
          </a:xfrm>
          <a:prstGeom prst="rect">
            <a:avLst/>
          </a:prstGeom>
          <a:noFill/>
          <a:ln/>
        </p:spPr>
        <p:txBody>
          <a:bodyPr wrap="square" lIns="0" tIns="0" rIns="0" bIns="0" rtlCol="0" anchor="ctr">
            <a:normAutofit/>
          </a:bodyPr>
          <a:lstStyle/>
          <a:p>
            <a:pPr marL="0" indent="0" algn="ctr">
              <a:buNone/>
            </a:pPr>
            <a:r>
              <a:rPr lang="en-US" sz="1050" dirty="0">
                <a:solidFill>
                  <a:srgbClr val="5A5A5A"/>
                </a:solidFill>
                <a:latin typeface="Aptos" pitchFamily="34" charset="0"/>
                <a:ea typeface="Aptos" pitchFamily="34" charset="-122"/>
                <a:cs typeface="Aptos" pitchFamily="34" charset="-120"/>
              </a:rPr>
              <a:t>ACTOR</a:t>
            </a:r>
            <a:endParaRPr lang="en-US" sz="1050" dirty="0"/>
          </a:p>
        </p:txBody>
      </p:sp>
      <p:sp>
        <p:nvSpPr>
          <p:cNvPr id="13" name="Shape 11"/>
          <p:cNvSpPr/>
          <p:nvPr/>
        </p:nvSpPr>
        <p:spPr>
          <a:xfrm>
            <a:off x="4352544" y="1828800"/>
            <a:ext cx="1920240" cy="1143000"/>
          </a:xfrm>
          <a:prstGeom prst="roundRect">
            <a:avLst>
              <a:gd name="adj" fmla="val 6400"/>
            </a:avLst>
          </a:prstGeom>
          <a:solidFill>
            <a:srgbClr val="FFFFFF"/>
          </a:solidFill>
          <a:ln w="19050">
            <a:solidFill>
              <a:srgbClr val="2F75B5"/>
            </a:solidFill>
            <a:prstDash val="solid"/>
          </a:ln>
        </p:spPr>
      </p:sp>
      <p:sp>
        <p:nvSpPr>
          <p:cNvPr id="14" name="Text 12"/>
          <p:cNvSpPr/>
          <p:nvPr/>
        </p:nvSpPr>
        <p:spPr>
          <a:xfrm>
            <a:off x="4398264" y="1938528"/>
            <a:ext cx="1828800" cy="438912"/>
          </a:xfrm>
          <a:prstGeom prst="rect">
            <a:avLst/>
          </a:prstGeom>
          <a:noFill/>
          <a:ln/>
        </p:spPr>
        <p:txBody>
          <a:bodyPr wrap="square" lIns="0" tIns="0" rIns="0" bIns="0" rtlCol="0" anchor="ctr"/>
          <a:lstStyle/>
          <a:p>
            <a:pPr marL="0" indent="0" algn="ctr">
              <a:buNone/>
            </a:pPr>
            <a:r>
              <a:rPr lang="en-US" sz="2800" b="1" dirty="0">
                <a:solidFill>
                  <a:srgbClr val="2F75B5"/>
                </a:solidFill>
                <a:latin typeface="Aptos Display" pitchFamily="34" charset="0"/>
                <a:ea typeface="Aptos Display" pitchFamily="34" charset="-122"/>
                <a:cs typeface="Aptos Display" pitchFamily="34" charset="-120"/>
              </a:rPr>
              <a:t>56</a:t>
            </a:r>
            <a:endParaRPr lang="en-US" sz="2800" dirty="0"/>
          </a:p>
        </p:txBody>
      </p:sp>
      <p:sp>
        <p:nvSpPr>
          <p:cNvPr id="15" name="Text 13"/>
          <p:cNvSpPr/>
          <p:nvPr/>
        </p:nvSpPr>
        <p:spPr>
          <a:xfrm>
            <a:off x="4462272" y="2441448"/>
            <a:ext cx="1700784" cy="402336"/>
          </a:xfrm>
          <a:prstGeom prst="rect">
            <a:avLst/>
          </a:prstGeom>
          <a:noFill/>
          <a:ln/>
        </p:spPr>
        <p:txBody>
          <a:bodyPr wrap="square" lIns="0" tIns="0" rIns="0" bIns="0" rtlCol="0" anchor="ctr">
            <a:normAutofit/>
          </a:bodyPr>
          <a:lstStyle/>
          <a:p>
            <a:pPr marL="0" indent="0" algn="ctr">
              <a:buNone/>
            </a:pPr>
            <a:r>
              <a:rPr lang="en-US" sz="1050" dirty="0">
                <a:solidFill>
                  <a:srgbClr val="5A5A5A"/>
                </a:solidFill>
                <a:latin typeface="Aptos" pitchFamily="34" charset="0"/>
                <a:ea typeface="Aptos" pitchFamily="34" charset="-122"/>
                <a:cs typeface="Aptos" pitchFamily="34" charset="-120"/>
              </a:rPr>
              <a:t>RELATION</a:t>
            </a:r>
            <a:endParaRPr lang="en-US" sz="1050" dirty="0"/>
          </a:p>
        </p:txBody>
      </p:sp>
      <p:sp>
        <p:nvSpPr>
          <p:cNvPr id="16" name="Shape 14"/>
          <p:cNvSpPr/>
          <p:nvPr/>
        </p:nvSpPr>
        <p:spPr>
          <a:xfrm>
            <a:off x="6300216" y="1828800"/>
            <a:ext cx="1920240" cy="1143000"/>
          </a:xfrm>
          <a:prstGeom prst="roundRect">
            <a:avLst>
              <a:gd name="adj" fmla="val 6400"/>
            </a:avLst>
          </a:prstGeom>
          <a:solidFill>
            <a:srgbClr val="FFFFFF"/>
          </a:solidFill>
          <a:ln w="19050">
            <a:solidFill>
              <a:srgbClr val="17365D"/>
            </a:solidFill>
            <a:prstDash val="solid"/>
          </a:ln>
        </p:spPr>
      </p:sp>
      <p:sp>
        <p:nvSpPr>
          <p:cNvPr id="17" name="Text 15"/>
          <p:cNvSpPr/>
          <p:nvPr/>
        </p:nvSpPr>
        <p:spPr>
          <a:xfrm>
            <a:off x="6345936" y="1938528"/>
            <a:ext cx="1828800" cy="438912"/>
          </a:xfrm>
          <a:prstGeom prst="rect">
            <a:avLst/>
          </a:prstGeom>
          <a:noFill/>
          <a:ln/>
        </p:spPr>
        <p:txBody>
          <a:bodyPr wrap="square" lIns="0" tIns="0" rIns="0" bIns="0" rtlCol="0" anchor="ctr"/>
          <a:lstStyle/>
          <a:p>
            <a:pPr marL="0" indent="0" algn="ctr">
              <a:buNone/>
            </a:pPr>
            <a:r>
              <a:rPr lang="en-US" sz="2800" b="1" dirty="0">
                <a:solidFill>
                  <a:srgbClr val="17365D"/>
                </a:solidFill>
                <a:latin typeface="Aptos Display" pitchFamily="34" charset="0"/>
                <a:ea typeface="Aptos Display" pitchFamily="34" charset="-122"/>
                <a:cs typeface="Aptos Display" pitchFamily="34" charset="-120"/>
              </a:rPr>
              <a:t>7</a:t>
            </a:r>
            <a:endParaRPr lang="en-US" sz="2800" dirty="0"/>
          </a:p>
        </p:txBody>
      </p:sp>
      <p:sp>
        <p:nvSpPr>
          <p:cNvPr id="18" name="Text 16"/>
          <p:cNvSpPr/>
          <p:nvPr/>
        </p:nvSpPr>
        <p:spPr>
          <a:xfrm>
            <a:off x="6409944" y="2441448"/>
            <a:ext cx="1700784" cy="402336"/>
          </a:xfrm>
          <a:prstGeom prst="rect">
            <a:avLst/>
          </a:prstGeom>
          <a:noFill/>
          <a:ln/>
        </p:spPr>
        <p:txBody>
          <a:bodyPr wrap="square" lIns="0" tIns="0" rIns="0" bIns="0" rtlCol="0" anchor="ctr">
            <a:normAutofit/>
          </a:bodyPr>
          <a:lstStyle/>
          <a:p>
            <a:pPr marL="0" indent="0" algn="ctr">
              <a:buNone/>
            </a:pPr>
            <a:r>
              <a:rPr lang="en-US" sz="1050" dirty="0">
                <a:solidFill>
                  <a:srgbClr val="5A5A5A"/>
                </a:solidFill>
                <a:latin typeface="Aptos" pitchFamily="34" charset="0"/>
                <a:ea typeface="Aptos" pitchFamily="34" charset="-122"/>
                <a:cs typeface="Aptos" pitchFamily="34" charset="-120"/>
              </a:rPr>
              <a:t>LAW × I</a:t>
            </a:r>
            <a:endParaRPr lang="en-US" sz="1050" dirty="0"/>
          </a:p>
        </p:txBody>
      </p:sp>
      <p:sp>
        <p:nvSpPr>
          <p:cNvPr id="19" name="Shape 17"/>
          <p:cNvSpPr/>
          <p:nvPr/>
        </p:nvSpPr>
        <p:spPr>
          <a:xfrm>
            <a:off x="8247888" y="1828800"/>
            <a:ext cx="1920240" cy="1143000"/>
          </a:xfrm>
          <a:prstGeom prst="roundRect">
            <a:avLst>
              <a:gd name="adj" fmla="val 6400"/>
            </a:avLst>
          </a:prstGeom>
          <a:solidFill>
            <a:srgbClr val="FFFFFF"/>
          </a:solidFill>
          <a:ln w="19050">
            <a:solidFill>
              <a:srgbClr val="17365D"/>
            </a:solidFill>
            <a:prstDash val="solid"/>
          </a:ln>
        </p:spPr>
      </p:sp>
      <p:sp>
        <p:nvSpPr>
          <p:cNvPr id="20" name="Text 18"/>
          <p:cNvSpPr/>
          <p:nvPr/>
        </p:nvSpPr>
        <p:spPr>
          <a:xfrm>
            <a:off x="8293608" y="1938528"/>
            <a:ext cx="1828800" cy="438912"/>
          </a:xfrm>
          <a:prstGeom prst="rect">
            <a:avLst/>
          </a:prstGeom>
          <a:noFill/>
          <a:ln/>
        </p:spPr>
        <p:txBody>
          <a:bodyPr wrap="square" lIns="0" tIns="0" rIns="0" bIns="0" rtlCol="0" anchor="ctr"/>
          <a:lstStyle/>
          <a:p>
            <a:pPr marL="0" indent="0" algn="ctr">
              <a:buNone/>
            </a:pPr>
            <a:r>
              <a:rPr lang="en-US" sz="2800" b="1" dirty="0">
                <a:solidFill>
                  <a:srgbClr val="17365D"/>
                </a:solidFill>
                <a:latin typeface="Aptos Display" pitchFamily="34" charset="0"/>
                <a:ea typeface="Aptos Display" pitchFamily="34" charset="-122"/>
                <a:cs typeface="Aptos Display" pitchFamily="34" charset="-120"/>
              </a:rPr>
              <a:t>10</a:t>
            </a:r>
            <a:endParaRPr lang="en-US" sz="2800" dirty="0"/>
          </a:p>
        </p:txBody>
      </p:sp>
      <p:sp>
        <p:nvSpPr>
          <p:cNvPr id="21" name="Text 19"/>
          <p:cNvSpPr/>
          <p:nvPr/>
        </p:nvSpPr>
        <p:spPr>
          <a:xfrm>
            <a:off x="8357616" y="2441448"/>
            <a:ext cx="1700784" cy="402336"/>
          </a:xfrm>
          <a:prstGeom prst="rect">
            <a:avLst/>
          </a:prstGeom>
          <a:noFill/>
          <a:ln/>
        </p:spPr>
        <p:txBody>
          <a:bodyPr wrap="square" lIns="0" tIns="0" rIns="0" bIns="0" rtlCol="0" anchor="ctr">
            <a:normAutofit/>
          </a:bodyPr>
          <a:lstStyle/>
          <a:p>
            <a:pPr marL="0" indent="0" algn="ctr">
              <a:buNone/>
            </a:pPr>
            <a:r>
              <a:rPr lang="en-US" sz="1050" dirty="0">
                <a:solidFill>
                  <a:srgbClr val="5A5A5A"/>
                </a:solidFill>
                <a:latin typeface="Aptos" pitchFamily="34" charset="0"/>
                <a:ea typeface="Aptos" pitchFamily="34" charset="-122"/>
                <a:cs typeface="Aptos" pitchFamily="34" charset="-120"/>
              </a:rPr>
              <a:t>MECHANISM</a:t>
            </a:r>
            <a:endParaRPr lang="en-US" sz="1050" dirty="0"/>
          </a:p>
        </p:txBody>
      </p:sp>
      <p:sp>
        <p:nvSpPr>
          <p:cNvPr id="22" name="Shape 20"/>
          <p:cNvSpPr/>
          <p:nvPr/>
        </p:nvSpPr>
        <p:spPr>
          <a:xfrm>
            <a:off x="10195560" y="1828800"/>
            <a:ext cx="1920240" cy="1143000"/>
          </a:xfrm>
          <a:prstGeom prst="roundRect">
            <a:avLst>
              <a:gd name="adj" fmla="val 6400"/>
            </a:avLst>
          </a:prstGeom>
          <a:solidFill>
            <a:srgbClr val="FFFFFF"/>
          </a:solidFill>
          <a:ln w="19050">
            <a:solidFill>
              <a:srgbClr val="17365D"/>
            </a:solidFill>
            <a:prstDash val="solid"/>
          </a:ln>
        </p:spPr>
      </p:sp>
      <p:sp>
        <p:nvSpPr>
          <p:cNvPr id="23" name="Text 21"/>
          <p:cNvSpPr/>
          <p:nvPr/>
        </p:nvSpPr>
        <p:spPr>
          <a:xfrm>
            <a:off x="10241280" y="1938528"/>
            <a:ext cx="1828800" cy="438912"/>
          </a:xfrm>
          <a:prstGeom prst="rect">
            <a:avLst/>
          </a:prstGeom>
          <a:noFill/>
          <a:ln/>
        </p:spPr>
        <p:txBody>
          <a:bodyPr wrap="square" lIns="0" tIns="0" rIns="0" bIns="0" rtlCol="0" anchor="ctr"/>
          <a:lstStyle/>
          <a:p>
            <a:pPr marL="0" indent="0" algn="ctr">
              <a:buNone/>
            </a:pPr>
            <a:r>
              <a:rPr lang="en-US" sz="2800" b="1" dirty="0">
                <a:solidFill>
                  <a:srgbClr val="17365D"/>
                </a:solidFill>
                <a:latin typeface="Aptos Display" pitchFamily="34" charset="0"/>
                <a:ea typeface="Aptos Display" pitchFamily="34" charset="-122"/>
                <a:cs typeface="Aptos Display" pitchFamily="34" charset="-120"/>
              </a:rPr>
              <a:t>9</a:t>
            </a:r>
            <a:endParaRPr lang="en-US" sz="2800" dirty="0"/>
          </a:p>
        </p:txBody>
      </p:sp>
      <p:sp>
        <p:nvSpPr>
          <p:cNvPr id="24" name="Text 22"/>
          <p:cNvSpPr/>
          <p:nvPr/>
        </p:nvSpPr>
        <p:spPr>
          <a:xfrm>
            <a:off x="10305288" y="2441448"/>
            <a:ext cx="1700784" cy="402336"/>
          </a:xfrm>
          <a:prstGeom prst="rect">
            <a:avLst/>
          </a:prstGeom>
          <a:noFill/>
          <a:ln/>
        </p:spPr>
        <p:txBody>
          <a:bodyPr wrap="square" lIns="0" tIns="0" rIns="0" bIns="0" rtlCol="0" anchor="ctr">
            <a:normAutofit/>
          </a:bodyPr>
          <a:lstStyle/>
          <a:p>
            <a:pPr marL="0" indent="0" algn="ctr">
              <a:buNone/>
            </a:pPr>
            <a:r>
              <a:rPr lang="en-US" sz="1050" dirty="0">
                <a:solidFill>
                  <a:srgbClr val="5A5A5A"/>
                </a:solidFill>
                <a:latin typeface="Aptos" pitchFamily="34" charset="0"/>
                <a:ea typeface="Aptos" pitchFamily="34" charset="-122"/>
                <a:cs typeface="Aptos" pitchFamily="34" charset="-120"/>
              </a:rPr>
              <a:t>CONFIG.</a:t>
            </a:r>
            <a:endParaRPr lang="en-US" sz="1050" dirty="0"/>
          </a:p>
        </p:txBody>
      </p:sp>
      <p:sp>
        <p:nvSpPr>
          <p:cNvPr id="25" name="Text 23"/>
          <p:cNvSpPr/>
          <p:nvPr/>
        </p:nvSpPr>
        <p:spPr>
          <a:xfrm>
            <a:off x="868680" y="3520440"/>
            <a:ext cx="10607040" cy="2148840"/>
          </a:xfrm>
          <a:prstGeom prst="rect">
            <a:avLst/>
          </a:prstGeom>
          <a:noFill/>
          <a:ln/>
        </p:spPr>
        <p:txBody>
          <a:bodyPr wrap="square" lIns="635" tIns="635" rIns="635" bIns="635" rtlCol="0" anchor="ctr">
            <a:normAutofit/>
          </a:bodyPr>
          <a:lstStyle/>
          <a:p>
            <a:pPr marL="0" indent="0">
              <a:buNone/>
            </a:pPr>
            <a:r>
              <a:rPr lang="en-US" sz="1800" dirty="0">
                <a:solidFill>
                  <a:srgbClr val="2F75B5"/>
                </a:solidFill>
                <a:latin typeface="Aptos" pitchFamily="34" charset="0"/>
                <a:ea typeface="Aptos" pitchFamily="34" charset="-122"/>
                <a:cs typeface="Aptos" pitchFamily="34" charset="-120"/>
              </a:rPr>
              <a:t>• </a:t>
            </a:r>
            <a:r>
              <a:rPr lang="en-US" sz="1800" dirty="0">
                <a:solidFill>
                  <a:srgbClr val="222222"/>
                </a:solidFill>
                <a:latin typeface="Aptos" pitchFamily="34" charset="0"/>
                <a:ea typeface="Aptos" pitchFamily="34" charset="-122"/>
                <a:cs typeface="Aptos" pitchFamily="34" charset="-120"/>
              </a:rPr>
              <a:t>Separate LAW, ACTOR, RELATION and MECHANISM levels
</a:t>
            </a:r>
            <a:r>
              <a:rPr lang="en-US" sz="1800" dirty="0">
                <a:solidFill>
                  <a:srgbClr val="2F75B5"/>
                </a:solidFill>
                <a:latin typeface="Aptos" pitchFamily="34" charset="0"/>
                <a:ea typeface="Aptos" pitchFamily="34" charset="-122"/>
                <a:cs typeface="Aptos" pitchFamily="34" charset="-120"/>
              </a:rPr>
              <a:t>• </a:t>
            </a:r>
            <a:r>
              <a:rPr lang="en-US" sz="1800" dirty="0">
                <a:solidFill>
                  <a:srgbClr val="222222"/>
                </a:solidFill>
                <a:latin typeface="Aptos" pitchFamily="34" charset="0"/>
                <a:ea typeface="Aptos" pitchFamily="34" charset="-122"/>
                <a:cs typeface="Aptos" pitchFamily="34" charset="-120"/>
              </a:rPr>
              <a:t>Preserve positive, negative and zero cases
</a:t>
            </a:r>
            <a:r>
              <a:rPr lang="en-US" sz="1800" dirty="0">
                <a:solidFill>
                  <a:srgbClr val="2F75B5"/>
                </a:solidFill>
                <a:latin typeface="Aptos" pitchFamily="34" charset="0"/>
                <a:ea typeface="Aptos" pitchFamily="34" charset="-122"/>
                <a:cs typeface="Aptos" pitchFamily="34" charset="-120"/>
              </a:rPr>
              <a:t>• </a:t>
            </a:r>
            <a:r>
              <a:rPr lang="en-US" sz="1800" dirty="0">
                <a:solidFill>
                  <a:srgbClr val="222222"/>
                </a:solidFill>
                <a:latin typeface="Aptos" pitchFamily="34" charset="0"/>
                <a:ea typeface="Aptos" pitchFamily="34" charset="-122"/>
                <a:cs typeface="Aptos" pitchFamily="34" charset="-120"/>
              </a:rPr>
              <a:t>Keep legal evidence and decision provenance visible
</a:t>
            </a:r>
            <a:r>
              <a:rPr lang="en-US" sz="1800" dirty="0">
                <a:solidFill>
                  <a:srgbClr val="2F75B5"/>
                </a:solidFill>
                <a:latin typeface="Aptos" pitchFamily="34" charset="0"/>
                <a:ea typeface="Aptos" pitchFamily="34" charset="-122"/>
                <a:cs typeface="Aptos" pitchFamily="34" charset="-120"/>
              </a:rPr>
              <a:t>• </a:t>
            </a:r>
            <a:r>
              <a:rPr lang="en-US" sz="1800" dirty="0">
                <a:solidFill>
                  <a:srgbClr val="222222"/>
                </a:solidFill>
                <a:latin typeface="Aptos" pitchFamily="34" charset="0"/>
                <a:ea typeface="Aptos" pitchFamily="34" charset="-122"/>
                <a:cs typeface="Aptos" pitchFamily="34" charset="-120"/>
              </a:rPr>
              <a:t>Treat mechanism events as transformations
</a:t>
            </a:r>
            <a:r>
              <a:rPr lang="en-US" sz="1800" dirty="0">
                <a:solidFill>
                  <a:srgbClr val="2F75B5"/>
                </a:solidFill>
                <a:latin typeface="Aptos" pitchFamily="34" charset="0"/>
                <a:ea typeface="Aptos" pitchFamily="34" charset="-122"/>
                <a:cs typeface="Aptos" pitchFamily="34" charset="-120"/>
              </a:rPr>
              <a:t>• </a:t>
            </a:r>
            <a:r>
              <a:rPr lang="en-US" sz="1800" dirty="0">
                <a:solidFill>
                  <a:srgbClr val="222222"/>
                </a:solidFill>
                <a:latin typeface="Aptos" pitchFamily="34" charset="0"/>
                <a:ea typeface="Aptos" pitchFamily="34" charset="-122"/>
                <a:cs typeface="Aptos" pitchFamily="34" charset="-120"/>
              </a:rPr>
              <a:t>Leave higher-order capacity empty until derived</a:t>
            </a:r>
            <a:endParaRPr lang="en-US" sz="1800" dirty="0"/>
          </a:p>
        </p:txBody>
      </p:sp>
      <p:sp>
        <p:nvSpPr>
          <p:cNvPr id="26" name="Text 24"/>
          <p:cNvSpPr/>
          <p:nvPr/>
        </p:nvSpPr>
        <p:spPr>
          <a:xfrm>
            <a:off x="502920" y="6492240"/>
            <a:ext cx="11201400" cy="228600"/>
          </a:xfrm>
          <a:prstGeom prst="rect">
            <a:avLst/>
          </a:prstGeom>
          <a:noFill/>
          <a:ln/>
        </p:spPr>
        <p:txBody>
          <a:bodyPr wrap="square" lIns="0" tIns="0" rIns="0" bIns="0" rtlCol="0" anchor="ctr">
            <a:normAutofit/>
          </a:bodyPr>
          <a:lstStyle/>
          <a:p>
            <a:pPr marL="0" indent="0">
              <a:buNone/>
            </a:pPr>
            <a:r>
              <a:rPr lang="en-US" sz="850" dirty="0">
                <a:solidFill>
                  <a:srgbClr val="777777"/>
                </a:solidFill>
                <a:latin typeface="Aptos" pitchFamily="34" charset="0"/>
                <a:ea typeface="Aptos" pitchFamily="34" charset="-122"/>
                <a:cs typeface="Aptos" pitchFamily="34" charset="-120"/>
              </a:rPr>
              <a:t>Source: R3 technical note and case-study dataset, Sept. 2026.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01168"/>
            <a:ext cx="4389120" cy="256032"/>
          </a:xfrm>
          <a:prstGeom prst="rect">
            <a:avLst/>
          </a:prstGeom>
          <a:noFill/>
          <a:ln/>
        </p:spPr>
        <p:txBody>
          <a:bodyPr wrap="square" lIns="0" tIns="0" rIns="0" bIns="0" rtlCol="0" anchor="ctr"/>
          <a:lstStyle/>
          <a:p>
            <a:pPr marL="0" indent="0">
              <a:buNone/>
            </a:pPr>
            <a:r>
              <a:rPr lang="en-US" sz="1050" dirty="0">
                <a:solidFill>
                  <a:srgbClr val="5A5A5A"/>
                </a:solidFill>
                <a:latin typeface="Aptos" pitchFamily="34" charset="0"/>
                <a:ea typeface="Aptos" pitchFamily="34" charset="-122"/>
                <a:cs typeface="Aptos" pitchFamily="34" charset="-120"/>
              </a:rPr>
              <a:t>Law as Governance Group</a:t>
            </a:r>
            <a:endParaRPr lang="en-US" sz="1050" dirty="0"/>
          </a:p>
        </p:txBody>
      </p:sp>
      <p:sp>
        <p:nvSpPr>
          <p:cNvPr id="3" name="Text 1"/>
          <p:cNvSpPr/>
          <p:nvPr/>
        </p:nvSpPr>
        <p:spPr>
          <a:xfrm>
            <a:off x="8229600" y="201168"/>
            <a:ext cx="3429000" cy="256032"/>
          </a:xfrm>
          <a:prstGeom prst="rect">
            <a:avLst/>
          </a:prstGeom>
          <a:noFill/>
          <a:ln/>
        </p:spPr>
        <p:txBody>
          <a:bodyPr wrap="square" lIns="0" tIns="0" rIns="0" bIns="0" rtlCol="0" anchor="ctr"/>
          <a:lstStyle/>
          <a:p>
            <a:pPr marL="0" indent="0" algn="r">
              <a:buNone/>
            </a:pPr>
            <a:r>
              <a:rPr lang="en-US" sz="1050" dirty="0">
                <a:solidFill>
                  <a:srgbClr val="5A5A5A"/>
                </a:solidFill>
                <a:latin typeface="Aptos" pitchFamily="34" charset="0"/>
                <a:ea typeface="Aptos" pitchFamily="34" charset="-122"/>
                <a:cs typeface="Aptos" pitchFamily="34" charset="-120"/>
              </a:rPr>
              <a:t>Igor — cumulative work</a:t>
            </a:r>
            <a:endParaRPr lang="en-US" sz="1050" dirty="0"/>
          </a:p>
        </p:txBody>
      </p:sp>
      <p:sp>
        <p:nvSpPr>
          <p:cNvPr id="4" name="Shape 2"/>
          <p:cNvSpPr/>
          <p:nvPr/>
        </p:nvSpPr>
        <p:spPr>
          <a:xfrm>
            <a:off x="502920" y="530352"/>
            <a:ext cx="11201400" cy="0"/>
          </a:xfrm>
          <a:prstGeom prst="line">
            <a:avLst/>
          </a:prstGeom>
          <a:noFill/>
          <a:ln w="12700">
            <a:solidFill>
              <a:srgbClr val="D4DAE0"/>
            </a:solidFill>
            <a:prstDash val="solid"/>
          </a:ln>
        </p:spPr>
      </p:sp>
      <p:sp>
        <p:nvSpPr>
          <p:cNvPr id="5" name="Text 3"/>
          <p:cNvSpPr/>
          <p:nvPr/>
        </p:nvSpPr>
        <p:spPr>
          <a:xfrm>
            <a:off x="502920" y="786384"/>
            <a:ext cx="8778240" cy="438912"/>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R4 contribution: digital-law validation</a:t>
            </a:r>
            <a:endParaRPr lang="en-US" sz="2600" dirty="0"/>
          </a:p>
        </p:txBody>
      </p:sp>
      <p:sp>
        <p:nvSpPr>
          <p:cNvPr id="6" name="Text 4"/>
          <p:cNvSpPr/>
          <p:nvPr/>
        </p:nvSpPr>
        <p:spPr>
          <a:xfrm>
            <a:off x="521208" y="1261872"/>
            <a:ext cx="10607040" cy="347472"/>
          </a:xfrm>
          <a:prstGeom prst="rect">
            <a:avLst/>
          </a:prstGeom>
          <a:noFill/>
          <a:ln/>
        </p:spPr>
        <p:txBody>
          <a:bodyPr wrap="square" lIns="0" tIns="0" rIns="0" bIns="0" rtlCol="0" anchor="ctr"/>
          <a:lstStyle/>
          <a:p>
            <a:pPr marL="0" indent="0">
              <a:buNone/>
            </a:pPr>
            <a:r>
              <a:rPr lang="en-US" sz="1600" dirty="0">
                <a:solidFill>
                  <a:srgbClr val="5A5A5A"/>
                </a:solidFill>
                <a:latin typeface="Aptos" pitchFamily="34" charset="0"/>
                <a:ea typeface="Aptos" pitchFamily="34" charset="-122"/>
                <a:cs typeface="Aptos" pitchFamily="34" charset="-120"/>
              </a:rPr>
              <a:t>This round tested whether the coding architecture travels to digital regulation.</a:t>
            </a:r>
            <a:endParaRPr lang="en-US" sz="1600" dirty="0"/>
          </a:p>
        </p:txBody>
      </p:sp>
      <p:sp>
        <p:nvSpPr>
          <p:cNvPr id="7" name="Shape 5"/>
          <p:cNvSpPr/>
          <p:nvPr/>
        </p:nvSpPr>
        <p:spPr>
          <a:xfrm>
            <a:off x="914400" y="1828800"/>
            <a:ext cx="1920240" cy="1143000"/>
          </a:xfrm>
          <a:prstGeom prst="roundRect">
            <a:avLst>
              <a:gd name="adj" fmla="val 6400"/>
            </a:avLst>
          </a:prstGeom>
          <a:solidFill>
            <a:srgbClr val="FFFFFF"/>
          </a:solidFill>
          <a:ln w="19050">
            <a:solidFill>
              <a:srgbClr val="2F75B5"/>
            </a:solidFill>
            <a:prstDash val="solid"/>
          </a:ln>
        </p:spPr>
      </p:sp>
      <p:sp>
        <p:nvSpPr>
          <p:cNvPr id="8" name="Text 6"/>
          <p:cNvSpPr/>
          <p:nvPr/>
        </p:nvSpPr>
        <p:spPr>
          <a:xfrm>
            <a:off x="960120" y="1938528"/>
            <a:ext cx="1828800" cy="438912"/>
          </a:xfrm>
          <a:prstGeom prst="rect">
            <a:avLst/>
          </a:prstGeom>
          <a:noFill/>
          <a:ln/>
        </p:spPr>
        <p:txBody>
          <a:bodyPr wrap="square" lIns="0" tIns="0" rIns="0" bIns="0" rtlCol="0" anchor="ctr"/>
          <a:lstStyle/>
          <a:p>
            <a:pPr marL="0" indent="0" algn="ctr">
              <a:buNone/>
            </a:pPr>
            <a:r>
              <a:rPr lang="en-US" sz="2800" b="1" dirty="0">
                <a:solidFill>
                  <a:srgbClr val="2F75B5"/>
                </a:solidFill>
                <a:latin typeface="Aptos Display" pitchFamily="34" charset="0"/>
                <a:ea typeface="Aptos Display" pitchFamily="34" charset="-122"/>
                <a:cs typeface="Aptos Display" pitchFamily="34" charset="-120"/>
              </a:rPr>
              <a:t>3</a:t>
            </a:r>
            <a:endParaRPr lang="en-US" sz="2800" dirty="0"/>
          </a:p>
        </p:txBody>
      </p:sp>
      <p:sp>
        <p:nvSpPr>
          <p:cNvPr id="9" name="Text 7"/>
          <p:cNvSpPr/>
          <p:nvPr/>
        </p:nvSpPr>
        <p:spPr>
          <a:xfrm>
            <a:off x="1024128" y="2441448"/>
            <a:ext cx="1700784" cy="402336"/>
          </a:xfrm>
          <a:prstGeom prst="rect">
            <a:avLst/>
          </a:prstGeom>
          <a:noFill/>
          <a:ln/>
        </p:spPr>
        <p:txBody>
          <a:bodyPr wrap="square" lIns="0" tIns="0" rIns="0" bIns="0" rtlCol="0" anchor="ctr">
            <a:normAutofit/>
          </a:bodyPr>
          <a:lstStyle/>
          <a:p>
            <a:pPr marL="0" indent="0" algn="ctr">
              <a:buNone/>
            </a:pPr>
            <a:r>
              <a:rPr lang="en-US" sz="1050" dirty="0">
                <a:solidFill>
                  <a:srgbClr val="5A5A5A"/>
                </a:solidFill>
                <a:latin typeface="Aptos" pitchFamily="34" charset="0"/>
                <a:ea typeface="Aptos" pitchFamily="34" charset="-122"/>
                <a:cs typeface="Aptos" pitchFamily="34" charset="-120"/>
              </a:rPr>
              <a:t>digital instruments: GDPR · DSA · AI Act</a:t>
            </a:r>
            <a:endParaRPr lang="en-US" sz="1050" dirty="0"/>
          </a:p>
        </p:txBody>
      </p:sp>
      <p:sp>
        <p:nvSpPr>
          <p:cNvPr id="10" name="Shape 8"/>
          <p:cNvSpPr/>
          <p:nvPr/>
        </p:nvSpPr>
        <p:spPr>
          <a:xfrm>
            <a:off x="3291840" y="1828800"/>
            <a:ext cx="1920240" cy="1143000"/>
          </a:xfrm>
          <a:prstGeom prst="roundRect">
            <a:avLst>
              <a:gd name="adj" fmla="val 6400"/>
            </a:avLst>
          </a:prstGeom>
          <a:solidFill>
            <a:srgbClr val="FFFFFF"/>
          </a:solidFill>
          <a:ln w="19050">
            <a:solidFill>
              <a:srgbClr val="2F75B5"/>
            </a:solidFill>
            <a:prstDash val="solid"/>
          </a:ln>
        </p:spPr>
      </p:sp>
      <p:sp>
        <p:nvSpPr>
          <p:cNvPr id="11" name="Text 9"/>
          <p:cNvSpPr/>
          <p:nvPr/>
        </p:nvSpPr>
        <p:spPr>
          <a:xfrm>
            <a:off x="3337560" y="1938528"/>
            <a:ext cx="1828800" cy="438912"/>
          </a:xfrm>
          <a:prstGeom prst="rect">
            <a:avLst/>
          </a:prstGeom>
          <a:noFill/>
          <a:ln/>
        </p:spPr>
        <p:txBody>
          <a:bodyPr wrap="square" lIns="0" tIns="0" rIns="0" bIns="0" rtlCol="0" anchor="ctr"/>
          <a:lstStyle/>
          <a:p>
            <a:pPr marL="0" indent="0" algn="ctr">
              <a:buNone/>
            </a:pPr>
            <a:r>
              <a:rPr lang="en-US" sz="2800" b="1" dirty="0">
                <a:solidFill>
                  <a:srgbClr val="2F75B5"/>
                </a:solidFill>
                <a:latin typeface="Aptos Display" pitchFamily="34" charset="0"/>
                <a:ea typeface="Aptos Display" pitchFamily="34" charset="-122"/>
                <a:cs typeface="Aptos Display" pitchFamily="34" charset="-120"/>
              </a:rPr>
              <a:t>1,404</a:t>
            </a:r>
            <a:endParaRPr lang="en-US" sz="2800" dirty="0"/>
          </a:p>
        </p:txBody>
      </p:sp>
      <p:sp>
        <p:nvSpPr>
          <p:cNvPr id="12" name="Text 10"/>
          <p:cNvSpPr/>
          <p:nvPr/>
        </p:nvSpPr>
        <p:spPr>
          <a:xfrm>
            <a:off x="3401568" y="2441448"/>
            <a:ext cx="1700784" cy="402336"/>
          </a:xfrm>
          <a:prstGeom prst="rect">
            <a:avLst/>
          </a:prstGeom>
          <a:noFill/>
          <a:ln/>
        </p:spPr>
        <p:txBody>
          <a:bodyPr wrap="square" lIns="0" tIns="0" rIns="0" bIns="0" rtlCol="0" anchor="ctr">
            <a:normAutofit/>
          </a:bodyPr>
          <a:lstStyle/>
          <a:p>
            <a:pPr marL="0" indent="0" algn="ctr">
              <a:buNone/>
            </a:pPr>
            <a:r>
              <a:rPr lang="en-US" sz="1050" dirty="0">
                <a:solidFill>
                  <a:srgbClr val="5A5A5A"/>
                </a:solidFill>
                <a:latin typeface="Aptos" pitchFamily="34" charset="0"/>
                <a:ea typeface="Aptos" pitchFamily="34" charset="-122"/>
                <a:cs typeface="Aptos" pitchFamily="34" charset="-120"/>
              </a:rPr>
              <a:t>structural records</a:t>
            </a:r>
            <a:endParaRPr lang="en-US" sz="1050" dirty="0"/>
          </a:p>
        </p:txBody>
      </p:sp>
      <p:sp>
        <p:nvSpPr>
          <p:cNvPr id="13" name="Shape 11"/>
          <p:cNvSpPr/>
          <p:nvPr/>
        </p:nvSpPr>
        <p:spPr>
          <a:xfrm>
            <a:off x="5669280" y="1828800"/>
            <a:ext cx="1920240" cy="1143000"/>
          </a:xfrm>
          <a:prstGeom prst="roundRect">
            <a:avLst>
              <a:gd name="adj" fmla="val 6400"/>
            </a:avLst>
          </a:prstGeom>
          <a:solidFill>
            <a:srgbClr val="FFFFFF"/>
          </a:solidFill>
          <a:ln w="19050">
            <a:solidFill>
              <a:srgbClr val="2F75B5"/>
            </a:solidFill>
            <a:prstDash val="solid"/>
          </a:ln>
        </p:spPr>
      </p:sp>
      <p:sp>
        <p:nvSpPr>
          <p:cNvPr id="14" name="Text 12"/>
          <p:cNvSpPr/>
          <p:nvPr/>
        </p:nvSpPr>
        <p:spPr>
          <a:xfrm>
            <a:off x="5715000" y="1938528"/>
            <a:ext cx="1828800" cy="438912"/>
          </a:xfrm>
          <a:prstGeom prst="rect">
            <a:avLst/>
          </a:prstGeom>
          <a:noFill/>
          <a:ln/>
        </p:spPr>
        <p:txBody>
          <a:bodyPr wrap="square" lIns="0" tIns="0" rIns="0" bIns="0" rtlCol="0" anchor="ctr"/>
          <a:lstStyle/>
          <a:p>
            <a:pPr marL="0" indent="0" algn="ctr">
              <a:buNone/>
            </a:pPr>
            <a:r>
              <a:rPr lang="en-US" sz="2800" b="1" dirty="0">
                <a:solidFill>
                  <a:srgbClr val="2F75B5"/>
                </a:solidFill>
                <a:latin typeface="Aptos Display" pitchFamily="34" charset="0"/>
                <a:ea typeface="Aptos Display" pitchFamily="34" charset="-122"/>
                <a:cs typeface="Aptos Display" pitchFamily="34" charset="-120"/>
              </a:rPr>
              <a:t>143</a:t>
            </a:r>
            <a:endParaRPr lang="en-US" sz="2800" dirty="0"/>
          </a:p>
        </p:txBody>
      </p:sp>
      <p:sp>
        <p:nvSpPr>
          <p:cNvPr id="15" name="Text 13"/>
          <p:cNvSpPr/>
          <p:nvPr/>
        </p:nvSpPr>
        <p:spPr>
          <a:xfrm>
            <a:off x="5779008" y="2441448"/>
            <a:ext cx="1700784" cy="402336"/>
          </a:xfrm>
          <a:prstGeom prst="rect">
            <a:avLst/>
          </a:prstGeom>
          <a:noFill/>
          <a:ln/>
        </p:spPr>
        <p:txBody>
          <a:bodyPr wrap="square" lIns="0" tIns="0" rIns="0" bIns="0" rtlCol="0" anchor="ctr">
            <a:normAutofit/>
          </a:bodyPr>
          <a:lstStyle/>
          <a:p>
            <a:pPr marL="0" indent="0" algn="ctr">
              <a:buNone/>
            </a:pPr>
            <a:r>
              <a:rPr lang="en-US" sz="1050" dirty="0">
                <a:solidFill>
                  <a:srgbClr val="5A5A5A"/>
                </a:solidFill>
                <a:latin typeface="Aptos" pitchFamily="34" charset="0"/>
                <a:ea typeface="Aptos" pitchFamily="34" charset="-122"/>
                <a:cs typeface="Aptos" pitchFamily="34" charset="-120"/>
              </a:rPr>
              <a:t>advanced review cases</a:t>
            </a:r>
            <a:endParaRPr lang="en-US" sz="1050" dirty="0"/>
          </a:p>
        </p:txBody>
      </p:sp>
      <p:sp>
        <p:nvSpPr>
          <p:cNvPr id="16" name="Shape 14"/>
          <p:cNvSpPr/>
          <p:nvPr/>
        </p:nvSpPr>
        <p:spPr>
          <a:xfrm>
            <a:off x="8046720" y="1828800"/>
            <a:ext cx="1920240" cy="1143000"/>
          </a:xfrm>
          <a:prstGeom prst="roundRect">
            <a:avLst>
              <a:gd name="adj" fmla="val 6400"/>
            </a:avLst>
          </a:prstGeom>
          <a:solidFill>
            <a:srgbClr val="FFFFFF"/>
          </a:solidFill>
          <a:ln w="19050">
            <a:solidFill>
              <a:srgbClr val="2F75B5"/>
            </a:solidFill>
            <a:prstDash val="solid"/>
          </a:ln>
        </p:spPr>
      </p:sp>
      <p:sp>
        <p:nvSpPr>
          <p:cNvPr id="17" name="Text 15"/>
          <p:cNvSpPr/>
          <p:nvPr/>
        </p:nvSpPr>
        <p:spPr>
          <a:xfrm>
            <a:off x="8092440" y="1938528"/>
            <a:ext cx="1828800" cy="438912"/>
          </a:xfrm>
          <a:prstGeom prst="rect">
            <a:avLst/>
          </a:prstGeom>
          <a:noFill/>
          <a:ln/>
        </p:spPr>
        <p:txBody>
          <a:bodyPr wrap="square" lIns="0" tIns="0" rIns="0" bIns="0" rtlCol="0" anchor="ctr"/>
          <a:lstStyle/>
          <a:p>
            <a:pPr marL="0" indent="0" algn="ctr">
              <a:buNone/>
            </a:pPr>
            <a:r>
              <a:rPr lang="en-US" sz="2800" b="1" dirty="0">
                <a:solidFill>
                  <a:srgbClr val="2F75B5"/>
                </a:solidFill>
                <a:latin typeface="Aptos Display" pitchFamily="34" charset="0"/>
                <a:ea typeface="Aptos Display" pitchFamily="34" charset="-122"/>
                <a:cs typeface="Aptos Display" pitchFamily="34" charset="-120"/>
              </a:rPr>
              <a:t>211</a:t>
            </a:r>
            <a:endParaRPr lang="en-US" sz="2800" dirty="0"/>
          </a:p>
        </p:txBody>
      </p:sp>
      <p:sp>
        <p:nvSpPr>
          <p:cNvPr id="18" name="Text 16"/>
          <p:cNvSpPr/>
          <p:nvPr/>
        </p:nvSpPr>
        <p:spPr>
          <a:xfrm>
            <a:off x="8156448" y="2441448"/>
            <a:ext cx="1700784" cy="402336"/>
          </a:xfrm>
          <a:prstGeom prst="rect">
            <a:avLst/>
          </a:prstGeom>
          <a:noFill/>
          <a:ln/>
        </p:spPr>
        <p:txBody>
          <a:bodyPr wrap="square" lIns="0" tIns="0" rIns="0" bIns="0" rtlCol="0" anchor="ctr">
            <a:normAutofit/>
          </a:bodyPr>
          <a:lstStyle/>
          <a:p>
            <a:pPr marL="0" indent="0" algn="ctr">
              <a:buNone/>
            </a:pPr>
            <a:r>
              <a:rPr lang="en-US" sz="1050" dirty="0">
                <a:solidFill>
                  <a:srgbClr val="5A5A5A"/>
                </a:solidFill>
                <a:latin typeface="Aptos" pitchFamily="34" charset="0"/>
                <a:ea typeface="Aptos" pitchFamily="34" charset="-122"/>
                <a:cs typeface="Aptos" pitchFamily="34" charset="-120"/>
              </a:rPr>
              <a:t>repair families</a:t>
            </a:r>
            <a:endParaRPr lang="en-US" sz="1050" dirty="0"/>
          </a:p>
        </p:txBody>
      </p:sp>
      <p:sp>
        <p:nvSpPr>
          <p:cNvPr id="19" name="Shape 17"/>
          <p:cNvSpPr/>
          <p:nvPr/>
        </p:nvSpPr>
        <p:spPr>
          <a:xfrm>
            <a:off x="960120" y="3767328"/>
            <a:ext cx="10058400" cy="1325880"/>
          </a:xfrm>
          <a:prstGeom prst="roundRect">
            <a:avLst>
              <a:gd name="adj" fmla="val 5517"/>
            </a:avLst>
          </a:prstGeom>
          <a:solidFill>
            <a:srgbClr val="F7E5B7"/>
          </a:solidFill>
          <a:ln w="12700">
            <a:solidFill>
              <a:srgbClr val="D4DAE0"/>
            </a:solidFill>
            <a:prstDash val="solid"/>
          </a:ln>
        </p:spPr>
      </p:sp>
      <p:sp>
        <p:nvSpPr>
          <p:cNvPr id="20" name="Text 18"/>
          <p:cNvSpPr/>
          <p:nvPr/>
        </p:nvSpPr>
        <p:spPr>
          <a:xfrm>
            <a:off x="1097280" y="3895344"/>
            <a:ext cx="9784080" cy="292608"/>
          </a:xfrm>
          <a:prstGeom prst="rect">
            <a:avLst/>
          </a:prstGeom>
          <a:noFill/>
          <a:ln/>
        </p:spPr>
        <p:txBody>
          <a:bodyPr wrap="square" lIns="0" tIns="0" rIns="0" bIns="0" rtlCol="0" anchor="ctr">
            <a:normAutofit lnSpcReduction="10000"/>
          </a:bodyPr>
          <a:lstStyle/>
          <a:p>
            <a:pPr marL="0" indent="0">
              <a:buNone/>
            </a:pPr>
            <a:r>
              <a:rPr lang="en-US" sz="2000" b="1" dirty="0">
                <a:solidFill>
                  <a:srgbClr val="17365D"/>
                </a:solidFill>
                <a:latin typeface="Aptos Display" pitchFamily="34" charset="0"/>
                <a:ea typeface="Aptos Display" pitchFamily="34" charset="-122"/>
                <a:cs typeface="Aptos Display" pitchFamily="34" charset="-120"/>
              </a:rPr>
              <a:t>Important boundary</a:t>
            </a:r>
            <a:endParaRPr lang="en-US" sz="2000" dirty="0"/>
          </a:p>
        </p:txBody>
      </p:sp>
      <p:sp>
        <p:nvSpPr>
          <p:cNvPr id="21" name="Text 19"/>
          <p:cNvSpPr/>
          <p:nvPr/>
        </p:nvSpPr>
        <p:spPr>
          <a:xfrm>
            <a:off x="1097280" y="4242816"/>
            <a:ext cx="9784080" cy="758952"/>
          </a:xfrm>
          <a:prstGeom prst="rect">
            <a:avLst/>
          </a:prstGeom>
          <a:noFill/>
          <a:ln/>
        </p:spPr>
        <p:txBody>
          <a:bodyPr wrap="square" lIns="381" tIns="381" rIns="381" bIns="381" rtlCol="0" anchor="ctr">
            <a:normAutofit/>
          </a:bodyPr>
          <a:lstStyle/>
          <a:p>
            <a:pPr marL="0" indent="0">
              <a:buNone/>
            </a:pPr>
            <a:r>
              <a:rPr lang="en-US" sz="1800" dirty="0">
                <a:solidFill>
                  <a:srgbClr val="222222"/>
                </a:solidFill>
                <a:latin typeface="Aptos" pitchFamily="34" charset="0"/>
                <a:ea typeface="Aptos" pitchFamily="34" charset="-122"/>
                <a:cs typeface="Aptos" pitchFamily="34" charset="-120"/>
              </a:rPr>
              <a:t>This was structural validation, not yet full RIT or mechanism coding. The contribution is portability and parsimony: which structural fields travel, and which coding burdens are worth keeping?</a:t>
            </a:r>
            <a:endParaRPr lang="en-US" sz="1800" dirty="0"/>
          </a:p>
        </p:txBody>
      </p:sp>
      <p:sp>
        <p:nvSpPr>
          <p:cNvPr id="22" name="Text 20"/>
          <p:cNvSpPr/>
          <p:nvPr/>
        </p:nvSpPr>
        <p:spPr>
          <a:xfrm>
            <a:off x="502920" y="6492240"/>
            <a:ext cx="11201400" cy="228600"/>
          </a:xfrm>
          <a:prstGeom prst="rect">
            <a:avLst/>
          </a:prstGeom>
          <a:noFill/>
          <a:ln/>
        </p:spPr>
        <p:txBody>
          <a:bodyPr wrap="square" lIns="0" tIns="0" rIns="0" bIns="0" rtlCol="0" anchor="ctr">
            <a:normAutofit/>
          </a:bodyPr>
          <a:lstStyle/>
          <a:p>
            <a:pPr marL="0" indent="0">
              <a:buNone/>
            </a:pPr>
            <a:r>
              <a:rPr lang="en-US" sz="850" dirty="0">
                <a:solidFill>
                  <a:srgbClr val="777777"/>
                </a:solidFill>
                <a:latin typeface="Aptos" pitchFamily="34" charset="0"/>
                <a:ea typeface="Aptos" pitchFamily="34" charset="-122"/>
                <a:cs typeface="Aptos" pitchFamily="34" charset="-120"/>
              </a:rPr>
              <a:t>Source: R4 digital validation memo and October methodological notes.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01168"/>
            <a:ext cx="4389120" cy="256032"/>
          </a:xfrm>
          <a:prstGeom prst="rect">
            <a:avLst/>
          </a:prstGeom>
          <a:noFill/>
          <a:ln/>
        </p:spPr>
        <p:txBody>
          <a:bodyPr wrap="square" lIns="0" tIns="0" rIns="0" bIns="0" rtlCol="0" anchor="ctr"/>
          <a:lstStyle/>
          <a:p>
            <a:pPr marL="0" indent="0">
              <a:buNone/>
            </a:pPr>
            <a:r>
              <a:rPr lang="en-US" sz="1050" dirty="0">
                <a:solidFill>
                  <a:srgbClr val="5A5A5A"/>
                </a:solidFill>
                <a:latin typeface="Aptos" pitchFamily="34" charset="0"/>
                <a:ea typeface="Aptos" pitchFamily="34" charset="-122"/>
                <a:cs typeface="Aptos" pitchFamily="34" charset="-120"/>
              </a:rPr>
              <a:t>Law as Governance Group</a:t>
            </a:r>
            <a:endParaRPr lang="en-US" sz="1050" dirty="0"/>
          </a:p>
        </p:txBody>
      </p:sp>
      <p:sp>
        <p:nvSpPr>
          <p:cNvPr id="3" name="Text 1"/>
          <p:cNvSpPr/>
          <p:nvPr/>
        </p:nvSpPr>
        <p:spPr>
          <a:xfrm>
            <a:off x="8229600" y="201168"/>
            <a:ext cx="3429000" cy="256032"/>
          </a:xfrm>
          <a:prstGeom prst="rect">
            <a:avLst/>
          </a:prstGeom>
          <a:noFill/>
          <a:ln/>
        </p:spPr>
        <p:txBody>
          <a:bodyPr wrap="square" lIns="0" tIns="0" rIns="0" bIns="0" rtlCol="0" anchor="ctr"/>
          <a:lstStyle/>
          <a:p>
            <a:pPr marL="0" indent="0" algn="r">
              <a:buNone/>
            </a:pPr>
            <a:r>
              <a:rPr lang="en-US" sz="1050" dirty="0">
                <a:solidFill>
                  <a:srgbClr val="5A5A5A"/>
                </a:solidFill>
                <a:latin typeface="Aptos" pitchFamily="34" charset="0"/>
                <a:ea typeface="Aptos" pitchFamily="34" charset="-122"/>
                <a:cs typeface="Aptos" pitchFamily="34" charset="-120"/>
              </a:rPr>
              <a:t>Igor — cumulative work</a:t>
            </a:r>
            <a:endParaRPr lang="en-US" sz="1050" dirty="0"/>
          </a:p>
        </p:txBody>
      </p:sp>
      <p:sp>
        <p:nvSpPr>
          <p:cNvPr id="4" name="Shape 2"/>
          <p:cNvSpPr/>
          <p:nvPr/>
        </p:nvSpPr>
        <p:spPr>
          <a:xfrm>
            <a:off x="502920" y="530352"/>
            <a:ext cx="11201400" cy="0"/>
          </a:xfrm>
          <a:prstGeom prst="line">
            <a:avLst/>
          </a:prstGeom>
          <a:noFill/>
          <a:ln w="12700">
            <a:solidFill>
              <a:srgbClr val="D4DAE0"/>
            </a:solidFill>
            <a:prstDash val="solid"/>
          </a:ln>
        </p:spPr>
      </p:sp>
      <p:sp>
        <p:nvSpPr>
          <p:cNvPr id="5" name="Text 3"/>
          <p:cNvSpPr/>
          <p:nvPr/>
        </p:nvSpPr>
        <p:spPr>
          <a:xfrm>
            <a:off x="502920" y="786384"/>
            <a:ext cx="8778240" cy="438912"/>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R5 contribution: paired four-case methodological test</a:t>
            </a:r>
            <a:endParaRPr lang="en-US" sz="2600" dirty="0"/>
          </a:p>
        </p:txBody>
      </p:sp>
      <p:sp>
        <p:nvSpPr>
          <p:cNvPr id="6" name="Text 4"/>
          <p:cNvSpPr/>
          <p:nvPr/>
        </p:nvSpPr>
        <p:spPr>
          <a:xfrm>
            <a:off x="521208" y="1261872"/>
            <a:ext cx="10607040" cy="347472"/>
          </a:xfrm>
          <a:prstGeom prst="rect">
            <a:avLst/>
          </a:prstGeom>
          <a:noFill/>
          <a:ln/>
        </p:spPr>
        <p:txBody>
          <a:bodyPr wrap="square" lIns="0" tIns="0" rIns="0" bIns="0" rtlCol="0" anchor="ctr"/>
          <a:lstStyle/>
          <a:p>
            <a:pPr marL="0" indent="0">
              <a:buNone/>
            </a:pPr>
            <a:r>
              <a:rPr lang="en-US" sz="1600" dirty="0">
                <a:solidFill>
                  <a:srgbClr val="5A5A5A"/>
                </a:solidFill>
                <a:latin typeface="Aptos" pitchFamily="34" charset="0"/>
                <a:ea typeface="Aptos" pitchFamily="34" charset="-122"/>
                <a:cs typeface="Aptos" pitchFamily="34" charset="-120"/>
              </a:rPr>
              <a:t>Same evidence, two levels of procedural explicitness.</a:t>
            </a:r>
            <a:endParaRPr lang="en-US" sz="1600" dirty="0"/>
          </a:p>
        </p:txBody>
      </p:sp>
      <p:sp>
        <p:nvSpPr>
          <p:cNvPr id="7" name="Shape 5"/>
          <p:cNvSpPr/>
          <p:nvPr/>
        </p:nvSpPr>
        <p:spPr>
          <a:xfrm>
            <a:off x="777240" y="1828800"/>
            <a:ext cx="4800600" cy="868680"/>
          </a:xfrm>
          <a:prstGeom prst="roundRect">
            <a:avLst>
              <a:gd name="adj" fmla="val 8421"/>
            </a:avLst>
          </a:prstGeom>
          <a:solidFill>
            <a:srgbClr val="F4F7FA"/>
          </a:solidFill>
          <a:ln w="12700">
            <a:solidFill>
              <a:srgbClr val="D4DAE0"/>
            </a:solidFill>
            <a:prstDash val="solid"/>
          </a:ln>
        </p:spPr>
      </p:sp>
      <p:sp>
        <p:nvSpPr>
          <p:cNvPr id="8" name="Text 6"/>
          <p:cNvSpPr/>
          <p:nvPr/>
        </p:nvSpPr>
        <p:spPr>
          <a:xfrm>
            <a:off x="914400" y="1956816"/>
            <a:ext cx="4526280" cy="292608"/>
          </a:xfrm>
          <a:prstGeom prst="rect">
            <a:avLst/>
          </a:prstGeom>
          <a:noFill/>
          <a:ln/>
        </p:spPr>
        <p:txBody>
          <a:bodyPr wrap="square" lIns="0" tIns="0" rIns="0" bIns="0" rtlCol="0" anchor="ctr">
            <a:normAutofit lnSpcReduction="10000"/>
          </a:bodyPr>
          <a:lstStyle/>
          <a:p>
            <a:pPr marL="0" indent="0">
              <a:buNone/>
            </a:pPr>
            <a:r>
              <a:rPr lang="en-US" sz="2000" b="1" dirty="0">
                <a:solidFill>
                  <a:srgbClr val="17365D"/>
                </a:solidFill>
                <a:latin typeface="Aptos Display" pitchFamily="34" charset="0"/>
                <a:ea typeface="Aptos Display" pitchFamily="34" charset="-122"/>
                <a:cs typeface="Aptos Display" pitchFamily="34" charset="-120"/>
              </a:rPr>
              <a:t>SCF</a:t>
            </a:r>
            <a:endParaRPr lang="en-US" sz="2000" dirty="0"/>
          </a:p>
        </p:txBody>
      </p:sp>
      <p:sp>
        <p:nvSpPr>
          <p:cNvPr id="9" name="Text 7"/>
          <p:cNvSpPr/>
          <p:nvPr/>
        </p:nvSpPr>
        <p:spPr>
          <a:xfrm>
            <a:off x="914400" y="2304288"/>
            <a:ext cx="4526280" cy="301752"/>
          </a:xfrm>
          <a:prstGeom prst="rect">
            <a:avLst/>
          </a:prstGeom>
          <a:noFill/>
          <a:ln/>
        </p:spPr>
        <p:txBody>
          <a:bodyPr wrap="square" lIns="381" tIns="381" rIns="381" bIns="381" rtlCol="0" anchor="ctr">
            <a:normAutofit/>
          </a:bodyPr>
          <a:lstStyle/>
          <a:p>
            <a:pPr marL="0" indent="0">
              <a:buNone/>
            </a:pPr>
            <a:r>
              <a:rPr lang="en-US" sz="1500" dirty="0">
                <a:solidFill>
                  <a:srgbClr val="222222"/>
                </a:solidFill>
                <a:latin typeface="Aptos" pitchFamily="34" charset="0"/>
                <a:ea typeface="Aptos" pitchFamily="34" charset="-122"/>
                <a:cs typeface="Aptos" pitchFamily="34" charset="-120"/>
              </a:rPr>
              <a:t>Social Climate Fund</a:t>
            </a:r>
            <a:endParaRPr lang="en-US" sz="1500" dirty="0"/>
          </a:p>
        </p:txBody>
      </p:sp>
      <p:sp>
        <p:nvSpPr>
          <p:cNvPr id="10" name="Shape 8"/>
          <p:cNvSpPr/>
          <p:nvPr/>
        </p:nvSpPr>
        <p:spPr>
          <a:xfrm>
            <a:off x="6263640" y="1828800"/>
            <a:ext cx="4800600" cy="868680"/>
          </a:xfrm>
          <a:prstGeom prst="roundRect">
            <a:avLst>
              <a:gd name="adj" fmla="val 8421"/>
            </a:avLst>
          </a:prstGeom>
          <a:solidFill>
            <a:srgbClr val="F4F7FA"/>
          </a:solidFill>
          <a:ln w="12700">
            <a:solidFill>
              <a:srgbClr val="D4DAE0"/>
            </a:solidFill>
            <a:prstDash val="solid"/>
          </a:ln>
        </p:spPr>
      </p:sp>
      <p:sp>
        <p:nvSpPr>
          <p:cNvPr id="11" name="Text 9"/>
          <p:cNvSpPr/>
          <p:nvPr/>
        </p:nvSpPr>
        <p:spPr>
          <a:xfrm>
            <a:off x="6400800" y="1956816"/>
            <a:ext cx="4526280" cy="292608"/>
          </a:xfrm>
          <a:prstGeom prst="rect">
            <a:avLst/>
          </a:prstGeom>
          <a:noFill/>
          <a:ln/>
        </p:spPr>
        <p:txBody>
          <a:bodyPr wrap="square" lIns="0" tIns="0" rIns="0" bIns="0" rtlCol="0" anchor="ctr">
            <a:normAutofit lnSpcReduction="10000"/>
          </a:bodyPr>
          <a:lstStyle/>
          <a:p>
            <a:pPr marL="0" indent="0">
              <a:buNone/>
            </a:pPr>
            <a:r>
              <a:rPr lang="en-US" sz="2000" b="1" dirty="0">
                <a:solidFill>
                  <a:srgbClr val="17365D"/>
                </a:solidFill>
                <a:latin typeface="Aptos Display" pitchFamily="34" charset="0"/>
                <a:ea typeface="Aptos Display" pitchFamily="34" charset="-122"/>
                <a:cs typeface="Aptos Display" pitchFamily="34" charset="-120"/>
              </a:rPr>
              <a:t>CBAM</a:t>
            </a:r>
            <a:endParaRPr lang="en-US" sz="2000" dirty="0"/>
          </a:p>
        </p:txBody>
      </p:sp>
      <p:sp>
        <p:nvSpPr>
          <p:cNvPr id="12" name="Text 10"/>
          <p:cNvSpPr/>
          <p:nvPr/>
        </p:nvSpPr>
        <p:spPr>
          <a:xfrm>
            <a:off x="6400800" y="2304288"/>
            <a:ext cx="4526280" cy="301752"/>
          </a:xfrm>
          <a:prstGeom prst="rect">
            <a:avLst/>
          </a:prstGeom>
          <a:noFill/>
          <a:ln/>
        </p:spPr>
        <p:txBody>
          <a:bodyPr wrap="square" lIns="381" tIns="381" rIns="381" bIns="381" rtlCol="0" anchor="ctr">
            <a:normAutofit/>
          </a:bodyPr>
          <a:lstStyle/>
          <a:p>
            <a:pPr marL="0" indent="0">
              <a:buNone/>
            </a:pPr>
            <a:r>
              <a:rPr lang="en-US" sz="1500" dirty="0">
                <a:solidFill>
                  <a:srgbClr val="222222"/>
                </a:solidFill>
                <a:latin typeface="Aptos" pitchFamily="34" charset="0"/>
                <a:ea typeface="Aptos" pitchFamily="34" charset="-122"/>
                <a:cs typeface="Aptos" pitchFamily="34" charset="-120"/>
              </a:rPr>
              <a:t>Carbon Border Adjustment Mechanism</a:t>
            </a:r>
            <a:endParaRPr lang="en-US" sz="1500" dirty="0"/>
          </a:p>
        </p:txBody>
      </p:sp>
      <p:sp>
        <p:nvSpPr>
          <p:cNvPr id="13" name="Shape 11"/>
          <p:cNvSpPr/>
          <p:nvPr/>
        </p:nvSpPr>
        <p:spPr>
          <a:xfrm>
            <a:off x="777240" y="2971800"/>
            <a:ext cx="4800600" cy="868680"/>
          </a:xfrm>
          <a:prstGeom prst="roundRect">
            <a:avLst>
              <a:gd name="adj" fmla="val 8421"/>
            </a:avLst>
          </a:prstGeom>
          <a:solidFill>
            <a:srgbClr val="D9EAF7"/>
          </a:solidFill>
          <a:ln w="12700">
            <a:solidFill>
              <a:srgbClr val="D4DAE0"/>
            </a:solidFill>
            <a:prstDash val="solid"/>
          </a:ln>
        </p:spPr>
      </p:sp>
      <p:sp>
        <p:nvSpPr>
          <p:cNvPr id="14" name="Text 12"/>
          <p:cNvSpPr/>
          <p:nvPr/>
        </p:nvSpPr>
        <p:spPr>
          <a:xfrm>
            <a:off x="914400" y="3099816"/>
            <a:ext cx="4526280" cy="292608"/>
          </a:xfrm>
          <a:prstGeom prst="rect">
            <a:avLst/>
          </a:prstGeom>
          <a:noFill/>
          <a:ln/>
        </p:spPr>
        <p:txBody>
          <a:bodyPr wrap="square" lIns="0" tIns="0" rIns="0" bIns="0" rtlCol="0" anchor="ctr">
            <a:normAutofit lnSpcReduction="10000"/>
          </a:bodyPr>
          <a:lstStyle/>
          <a:p>
            <a:pPr marL="0" indent="0">
              <a:buNone/>
            </a:pPr>
            <a:r>
              <a:rPr lang="en-US" sz="2000" b="1" dirty="0">
                <a:solidFill>
                  <a:srgbClr val="17365D"/>
                </a:solidFill>
                <a:latin typeface="Aptos Display" pitchFamily="34" charset="0"/>
                <a:ea typeface="Aptos Display" pitchFamily="34" charset="-122"/>
                <a:cs typeface="Aptos Display" pitchFamily="34" charset="-120"/>
              </a:rPr>
              <a:t>AI Act</a:t>
            </a:r>
            <a:endParaRPr lang="en-US" sz="2000" dirty="0"/>
          </a:p>
        </p:txBody>
      </p:sp>
      <p:sp>
        <p:nvSpPr>
          <p:cNvPr id="15" name="Text 13"/>
          <p:cNvSpPr/>
          <p:nvPr/>
        </p:nvSpPr>
        <p:spPr>
          <a:xfrm>
            <a:off x="914400" y="3447288"/>
            <a:ext cx="4526280" cy="301752"/>
          </a:xfrm>
          <a:prstGeom prst="rect">
            <a:avLst/>
          </a:prstGeom>
          <a:noFill/>
          <a:ln/>
        </p:spPr>
        <p:txBody>
          <a:bodyPr wrap="square" lIns="381" tIns="381" rIns="381" bIns="381" rtlCol="0" anchor="ctr">
            <a:normAutofit/>
          </a:bodyPr>
          <a:lstStyle/>
          <a:p>
            <a:pPr marL="0" indent="0">
              <a:buNone/>
            </a:pPr>
            <a:r>
              <a:rPr lang="en-US" sz="1500" dirty="0">
                <a:solidFill>
                  <a:srgbClr val="222222"/>
                </a:solidFill>
                <a:latin typeface="Aptos" pitchFamily="34" charset="0"/>
                <a:ea typeface="Aptos" pitchFamily="34" charset="-122"/>
                <a:cs typeface="Aptos" pitchFamily="34" charset="-120"/>
              </a:rPr>
              <a:t>Artificial Intelligence Act</a:t>
            </a:r>
            <a:endParaRPr lang="en-US" sz="1500" dirty="0"/>
          </a:p>
        </p:txBody>
      </p:sp>
      <p:sp>
        <p:nvSpPr>
          <p:cNvPr id="16" name="Shape 14"/>
          <p:cNvSpPr/>
          <p:nvPr/>
        </p:nvSpPr>
        <p:spPr>
          <a:xfrm>
            <a:off x="6263640" y="2971800"/>
            <a:ext cx="4800600" cy="868680"/>
          </a:xfrm>
          <a:prstGeom prst="roundRect">
            <a:avLst>
              <a:gd name="adj" fmla="val 8421"/>
            </a:avLst>
          </a:prstGeom>
          <a:solidFill>
            <a:srgbClr val="D9EAF7"/>
          </a:solidFill>
          <a:ln w="12700">
            <a:solidFill>
              <a:srgbClr val="D4DAE0"/>
            </a:solidFill>
            <a:prstDash val="solid"/>
          </a:ln>
        </p:spPr>
      </p:sp>
      <p:sp>
        <p:nvSpPr>
          <p:cNvPr id="17" name="Text 15"/>
          <p:cNvSpPr/>
          <p:nvPr/>
        </p:nvSpPr>
        <p:spPr>
          <a:xfrm>
            <a:off x="6400800" y="3099816"/>
            <a:ext cx="4526280" cy="292608"/>
          </a:xfrm>
          <a:prstGeom prst="rect">
            <a:avLst/>
          </a:prstGeom>
          <a:noFill/>
          <a:ln/>
        </p:spPr>
        <p:txBody>
          <a:bodyPr wrap="square" lIns="0" tIns="0" rIns="0" bIns="0" rtlCol="0" anchor="ctr">
            <a:normAutofit lnSpcReduction="10000"/>
          </a:bodyPr>
          <a:lstStyle/>
          <a:p>
            <a:pPr marL="0" indent="0">
              <a:buNone/>
            </a:pPr>
            <a:r>
              <a:rPr lang="en-US" sz="2000" b="1" dirty="0">
                <a:solidFill>
                  <a:srgbClr val="17365D"/>
                </a:solidFill>
                <a:latin typeface="Aptos Display" pitchFamily="34" charset="0"/>
                <a:ea typeface="Aptos Display" pitchFamily="34" charset="-122"/>
                <a:cs typeface="Aptos Display" pitchFamily="34" charset="-120"/>
              </a:rPr>
              <a:t>86/361</a:t>
            </a:r>
            <a:endParaRPr lang="en-US" sz="2000" dirty="0"/>
          </a:p>
        </p:txBody>
      </p:sp>
      <p:sp>
        <p:nvSpPr>
          <p:cNvPr id="18" name="Text 16"/>
          <p:cNvSpPr/>
          <p:nvPr/>
        </p:nvSpPr>
        <p:spPr>
          <a:xfrm>
            <a:off x="6400800" y="3447288"/>
            <a:ext cx="4526280" cy="301752"/>
          </a:xfrm>
          <a:prstGeom prst="rect">
            <a:avLst/>
          </a:prstGeom>
          <a:noFill/>
          <a:ln/>
        </p:spPr>
        <p:txBody>
          <a:bodyPr wrap="square" lIns="381" tIns="381" rIns="381" bIns="381" rtlCol="0" anchor="ctr">
            <a:normAutofit/>
          </a:bodyPr>
          <a:lstStyle/>
          <a:p>
            <a:pPr marL="0" indent="0">
              <a:buNone/>
            </a:pPr>
            <a:r>
              <a:rPr lang="en-US" sz="1500" dirty="0">
                <a:solidFill>
                  <a:srgbClr val="222222"/>
                </a:solidFill>
                <a:latin typeface="Aptos" pitchFamily="34" charset="0"/>
                <a:ea typeface="Aptos" pitchFamily="34" charset="-122"/>
                <a:cs typeface="Aptos" pitchFamily="34" charset="-120"/>
              </a:rPr>
              <a:t>Terminal equipment directive</a:t>
            </a:r>
            <a:endParaRPr lang="en-US" sz="1500" dirty="0"/>
          </a:p>
        </p:txBody>
      </p:sp>
      <p:sp>
        <p:nvSpPr>
          <p:cNvPr id="19" name="Shape 17"/>
          <p:cNvSpPr/>
          <p:nvPr/>
        </p:nvSpPr>
        <p:spPr>
          <a:xfrm>
            <a:off x="914400" y="4526280"/>
            <a:ext cx="4800600" cy="914400"/>
          </a:xfrm>
          <a:prstGeom prst="roundRect">
            <a:avLst>
              <a:gd name="adj" fmla="val 8000"/>
            </a:avLst>
          </a:prstGeom>
          <a:solidFill>
            <a:srgbClr val="FFFFFF"/>
          </a:solidFill>
          <a:ln w="12700">
            <a:solidFill>
              <a:srgbClr val="2F75B5"/>
            </a:solidFill>
            <a:prstDash val="solid"/>
          </a:ln>
        </p:spPr>
      </p:sp>
      <p:sp>
        <p:nvSpPr>
          <p:cNvPr id="20" name="Text 18"/>
          <p:cNvSpPr/>
          <p:nvPr/>
        </p:nvSpPr>
        <p:spPr>
          <a:xfrm>
            <a:off x="1051560" y="4654296"/>
            <a:ext cx="4526280" cy="292608"/>
          </a:xfrm>
          <a:prstGeom prst="rect">
            <a:avLst/>
          </a:prstGeom>
          <a:noFill/>
          <a:ln/>
        </p:spPr>
        <p:txBody>
          <a:bodyPr wrap="square" lIns="0" tIns="0" rIns="0" bIns="0" rtlCol="0" anchor="ctr">
            <a:normAutofit lnSpcReduction="10000"/>
          </a:bodyPr>
          <a:lstStyle/>
          <a:p>
            <a:pPr marL="0" indent="0">
              <a:buNone/>
            </a:pPr>
            <a:r>
              <a:rPr lang="en-US" sz="2000" b="1" dirty="0">
                <a:solidFill>
                  <a:srgbClr val="17365D"/>
                </a:solidFill>
                <a:latin typeface="Aptos Display" pitchFamily="34" charset="0"/>
                <a:ea typeface="Aptos Display" pitchFamily="34" charset="-122"/>
                <a:cs typeface="Aptos Display" pitchFamily="34" charset="-120"/>
              </a:rPr>
              <a:t>V8 baseline</a:t>
            </a:r>
            <a:endParaRPr lang="en-US" sz="2000" dirty="0"/>
          </a:p>
        </p:txBody>
      </p:sp>
      <p:sp>
        <p:nvSpPr>
          <p:cNvPr id="21" name="Text 19"/>
          <p:cNvSpPr/>
          <p:nvPr/>
        </p:nvSpPr>
        <p:spPr>
          <a:xfrm>
            <a:off x="1051560" y="5001768"/>
            <a:ext cx="4526280" cy="347472"/>
          </a:xfrm>
          <a:prstGeom prst="rect">
            <a:avLst/>
          </a:prstGeom>
          <a:noFill/>
          <a:ln/>
        </p:spPr>
        <p:txBody>
          <a:bodyPr wrap="square" lIns="381" tIns="381" rIns="381" bIns="381" rtlCol="0" anchor="ctr">
            <a:normAutofit/>
          </a:bodyPr>
          <a:lstStyle/>
          <a:p>
            <a:pPr marL="0" indent="0">
              <a:buNone/>
            </a:pPr>
            <a:r>
              <a:rPr lang="en-US" sz="1700" dirty="0">
                <a:solidFill>
                  <a:srgbClr val="222222"/>
                </a:solidFill>
                <a:latin typeface="Aptos" pitchFamily="34" charset="0"/>
                <a:ea typeface="Aptos" pitchFamily="34" charset="-122"/>
                <a:cs typeface="Aptos" pitchFamily="34" charset="-120"/>
              </a:rPr>
              <a:t>Direct application of the framework</a:t>
            </a:r>
            <a:endParaRPr lang="en-US" sz="1700" dirty="0"/>
          </a:p>
        </p:txBody>
      </p:sp>
      <p:sp>
        <p:nvSpPr>
          <p:cNvPr id="22" name="Shape 20"/>
          <p:cNvSpPr/>
          <p:nvPr/>
        </p:nvSpPr>
        <p:spPr>
          <a:xfrm>
            <a:off x="6446520" y="4526280"/>
            <a:ext cx="4800600" cy="914400"/>
          </a:xfrm>
          <a:prstGeom prst="roundRect">
            <a:avLst>
              <a:gd name="adj" fmla="val 8000"/>
            </a:avLst>
          </a:prstGeom>
          <a:solidFill>
            <a:srgbClr val="FFFFFF"/>
          </a:solidFill>
          <a:ln w="12700">
            <a:solidFill>
              <a:srgbClr val="2F75B5"/>
            </a:solidFill>
            <a:prstDash val="solid"/>
          </a:ln>
        </p:spPr>
      </p:sp>
      <p:sp>
        <p:nvSpPr>
          <p:cNvPr id="23" name="Text 21"/>
          <p:cNvSpPr/>
          <p:nvPr/>
        </p:nvSpPr>
        <p:spPr>
          <a:xfrm>
            <a:off x="6583680" y="4654296"/>
            <a:ext cx="4526280" cy="292608"/>
          </a:xfrm>
          <a:prstGeom prst="rect">
            <a:avLst/>
          </a:prstGeom>
          <a:noFill/>
          <a:ln/>
        </p:spPr>
        <p:txBody>
          <a:bodyPr wrap="square" lIns="0" tIns="0" rIns="0" bIns="0" rtlCol="0" anchor="ctr">
            <a:normAutofit lnSpcReduction="10000"/>
          </a:bodyPr>
          <a:lstStyle/>
          <a:p>
            <a:pPr marL="0" indent="0">
              <a:buNone/>
            </a:pPr>
            <a:r>
              <a:rPr lang="en-US" sz="2000" b="1" dirty="0">
                <a:solidFill>
                  <a:srgbClr val="17365D"/>
                </a:solidFill>
                <a:latin typeface="Aptos Display" pitchFamily="34" charset="0"/>
                <a:ea typeface="Aptos Display" pitchFamily="34" charset="-122"/>
                <a:cs typeface="Aptos Display" pitchFamily="34" charset="-120"/>
              </a:rPr>
              <a:t>Controlled reconstruction</a:t>
            </a:r>
            <a:endParaRPr lang="en-US" sz="2000" dirty="0"/>
          </a:p>
        </p:txBody>
      </p:sp>
      <p:sp>
        <p:nvSpPr>
          <p:cNvPr id="24" name="Text 22"/>
          <p:cNvSpPr/>
          <p:nvPr/>
        </p:nvSpPr>
        <p:spPr>
          <a:xfrm>
            <a:off x="6583680" y="5001768"/>
            <a:ext cx="4526280" cy="347472"/>
          </a:xfrm>
          <a:prstGeom prst="rect">
            <a:avLst/>
          </a:prstGeom>
          <a:noFill/>
          <a:ln/>
        </p:spPr>
        <p:txBody>
          <a:bodyPr wrap="square" lIns="381" tIns="381" rIns="381" bIns="381" rtlCol="0" anchor="ctr">
            <a:normAutofit/>
          </a:bodyPr>
          <a:lstStyle/>
          <a:p>
            <a:pPr marL="0" indent="0">
              <a:buNone/>
            </a:pPr>
            <a:r>
              <a:rPr lang="en-US" sz="1700" dirty="0">
                <a:solidFill>
                  <a:srgbClr val="222222"/>
                </a:solidFill>
                <a:latin typeface="Aptos" pitchFamily="34" charset="0"/>
                <a:ea typeface="Aptos" pitchFamily="34" charset="-122"/>
                <a:cs typeface="Aptos" pitchFamily="34" charset="-120"/>
              </a:rPr>
              <a:t>Additional safeguards and explicit stopping</a:t>
            </a:r>
            <a:endParaRPr lang="en-US" sz="1700" dirty="0"/>
          </a:p>
        </p:txBody>
      </p:sp>
      <p:sp>
        <p:nvSpPr>
          <p:cNvPr id="25" name="Text 23"/>
          <p:cNvSpPr/>
          <p:nvPr/>
        </p:nvSpPr>
        <p:spPr>
          <a:xfrm>
            <a:off x="1005840" y="5742432"/>
            <a:ext cx="10058400" cy="320040"/>
          </a:xfrm>
          <a:prstGeom prst="rect">
            <a:avLst/>
          </a:prstGeom>
          <a:noFill/>
          <a:ln/>
        </p:spPr>
        <p:txBody>
          <a:bodyPr wrap="square" lIns="0" tIns="0" rIns="0" bIns="0" rtlCol="0" anchor="ctr"/>
          <a:lstStyle/>
          <a:p>
            <a:pPr marL="0" indent="0" algn="ctr">
              <a:buNone/>
            </a:pPr>
            <a:r>
              <a:rPr lang="en-US" sz="2100" b="1" dirty="0">
                <a:solidFill>
                  <a:srgbClr val="17365D"/>
                </a:solidFill>
              </a:rPr>
              <a:t>Purpose: test incremental value, not assume superiority.</a:t>
            </a:r>
            <a:endParaRPr lang="en-US" sz="2100" dirty="0"/>
          </a:p>
        </p:txBody>
      </p:sp>
      <p:sp>
        <p:nvSpPr>
          <p:cNvPr id="26" name="Text 24"/>
          <p:cNvSpPr/>
          <p:nvPr/>
        </p:nvSpPr>
        <p:spPr>
          <a:xfrm>
            <a:off x="502920" y="6492240"/>
            <a:ext cx="11201400" cy="228600"/>
          </a:xfrm>
          <a:prstGeom prst="rect">
            <a:avLst/>
          </a:prstGeom>
          <a:noFill/>
          <a:ln/>
        </p:spPr>
        <p:txBody>
          <a:bodyPr wrap="square" lIns="0" tIns="0" rIns="0" bIns="0" rtlCol="0" anchor="ctr">
            <a:normAutofit/>
          </a:bodyPr>
          <a:lstStyle/>
          <a:p>
            <a:pPr marL="0" indent="0">
              <a:buNone/>
            </a:pPr>
            <a:r>
              <a:rPr lang="en-US" sz="850" dirty="0">
                <a:solidFill>
                  <a:srgbClr val="777777"/>
                </a:solidFill>
                <a:latin typeface="Aptos" pitchFamily="34" charset="0"/>
                <a:ea typeface="Aptos" pitchFamily="34" charset="-122"/>
                <a:cs typeface="Aptos" pitchFamily="34" charset="-120"/>
              </a:rPr>
              <a:t>Source: V8–RGAM paired methodological test, Oct. 2026.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01168"/>
            <a:ext cx="4389120" cy="256032"/>
          </a:xfrm>
          <a:prstGeom prst="rect">
            <a:avLst/>
          </a:prstGeom>
          <a:noFill/>
          <a:ln/>
        </p:spPr>
        <p:txBody>
          <a:bodyPr wrap="square" lIns="0" tIns="0" rIns="0" bIns="0" rtlCol="0" anchor="ctr"/>
          <a:lstStyle/>
          <a:p>
            <a:pPr marL="0" indent="0">
              <a:buNone/>
            </a:pPr>
            <a:r>
              <a:rPr lang="en-US" sz="1050" dirty="0">
                <a:solidFill>
                  <a:srgbClr val="5A5A5A"/>
                </a:solidFill>
                <a:latin typeface="Aptos" pitchFamily="34" charset="0"/>
                <a:ea typeface="Aptos" pitchFamily="34" charset="-122"/>
                <a:cs typeface="Aptos" pitchFamily="34" charset="-120"/>
              </a:rPr>
              <a:t>Law as Governance Group</a:t>
            </a:r>
            <a:endParaRPr lang="en-US" sz="1050" dirty="0"/>
          </a:p>
        </p:txBody>
      </p:sp>
      <p:sp>
        <p:nvSpPr>
          <p:cNvPr id="3" name="Text 1"/>
          <p:cNvSpPr/>
          <p:nvPr/>
        </p:nvSpPr>
        <p:spPr>
          <a:xfrm>
            <a:off x="8229600" y="201168"/>
            <a:ext cx="3429000" cy="256032"/>
          </a:xfrm>
          <a:prstGeom prst="rect">
            <a:avLst/>
          </a:prstGeom>
          <a:noFill/>
          <a:ln/>
        </p:spPr>
        <p:txBody>
          <a:bodyPr wrap="square" lIns="0" tIns="0" rIns="0" bIns="0" rtlCol="0" anchor="ctr"/>
          <a:lstStyle/>
          <a:p>
            <a:pPr marL="0" indent="0" algn="r">
              <a:buNone/>
            </a:pPr>
            <a:r>
              <a:rPr lang="en-US" sz="1050" dirty="0">
                <a:solidFill>
                  <a:srgbClr val="5A5A5A"/>
                </a:solidFill>
                <a:latin typeface="Aptos" pitchFamily="34" charset="0"/>
                <a:ea typeface="Aptos" pitchFamily="34" charset="-122"/>
                <a:cs typeface="Aptos" pitchFamily="34" charset="-120"/>
              </a:rPr>
              <a:t>Igor — cumulative work</a:t>
            </a:r>
            <a:endParaRPr lang="en-US" sz="1050" dirty="0"/>
          </a:p>
        </p:txBody>
      </p:sp>
      <p:sp>
        <p:nvSpPr>
          <p:cNvPr id="4" name="Shape 2"/>
          <p:cNvSpPr/>
          <p:nvPr/>
        </p:nvSpPr>
        <p:spPr>
          <a:xfrm>
            <a:off x="502920" y="530352"/>
            <a:ext cx="11201400" cy="0"/>
          </a:xfrm>
          <a:prstGeom prst="line">
            <a:avLst/>
          </a:prstGeom>
          <a:noFill/>
          <a:ln w="12700">
            <a:solidFill>
              <a:srgbClr val="D4DAE0"/>
            </a:solidFill>
            <a:prstDash val="solid"/>
          </a:ln>
        </p:spPr>
      </p:sp>
      <p:sp>
        <p:nvSpPr>
          <p:cNvPr id="5" name="Text 3"/>
          <p:cNvSpPr/>
          <p:nvPr/>
        </p:nvSpPr>
        <p:spPr>
          <a:xfrm>
            <a:off x="502920" y="786384"/>
            <a:ext cx="8778240" cy="438912"/>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R6 contribution: architectural inference protocol</a:t>
            </a:r>
            <a:endParaRPr lang="en-US" sz="2600" dirty="0"/>
          </a:p>
        </p:txBody>
      </p:sp>
      <p:sp>
        <p:nvSpPr>
          <p:cNvPr id="6" name="Text 4"/>
          <p:cNvSpPr/>
          <p:nvPr/>
        </p:nvSpPr>
        <p:spPr>
          <a:xfrm>
            <a:off x="521208" y="1261872"/>
            <a:ext cx="10607040" cy="347472"/>
          </a:xfrm>
          <a:prstGeom prst="rect">
            <a:avLst/>
          </a:prstGeom>
          <a:noFill/>
          <a:ln/>
        </p:spPr>
        <p:txBody>
          <a:bodyPr wrap="square" lIns="0" tIns="0" rIns="0" bIns="0" rtlCol="0" anchor="ctr"/>
          <a:lstStyle/>
          <a:p>
            <a:pPr marL="0" indent="0">
              <a:buNone/>
            </a:pPr>
            <a:r>
              <a:rPr lang="en-US" sz="1600" dirty="0">
                <a:solidFill>
                  <a:srgbClr val="5A5A5A"/>
                </a:solidFill>
                <a:latin typeface="Aptos" pitchFamily="34" charset="0"/>
                <a:ea typeface="Aptos" pitchFamily="34" charset="-122"/>
                <a:cs typeface="Aptos" pitchFamily="34" charset="-120"/>
              </a:rPr>
              <a:t>The latest contribution protects the method from fluent over-inference.</a:t>
            </a:r>
            <a:endParaRPr lang="en-US" sz="1600" dirty="0"/>
          </a:p>
        </p:txBody>
      </p:sp>
      <p:sp>
        <p:nvSpPr>
          <p:cNvPr id="7" name="Shape 5"/>
          <p:cNvSpPr/>
          <p:nvPr/>
        </p:nvSpPr>
        <p:spPr>
          <a:xfrm>
            <a:off x="822960" y="1828800"/>
            <a:ext cx="1920240" cy="1143000"/>
          </a:xfrm>
          <a:prstGeom prst="roundRect">
            <a:avLst>
              <a:gd name="adj" fmla="val 6400"/>
            </a:avLst>
          </a:prstGeom>
          <a:solidFill>
            <a:srgbClr val="FFFFFF"/>
          </a:solidFill>
          <a:ln w="19050">
            <a:solidFill>
              <a:srgbClr val="2F75B5"/>
            </a:solidFill>
            <a:prstDash val="solid"/>
          </a:ln>
        </p:spPr>
      </p:sp>
      <p:sp>
        <p:nvSpPr>
          <p:cNvPr id="8" name="Text 6"/>
          <p:cNvSpPr/>
          <p:nvPr/>
        </p:nvSpPr>
        <p:spPr>
          <a:xfrm>
            <a:off x="868680" y="1938528"/>
            <a:ext cx="1828800" cy="438912"/>
          </a:xfrm>
          <a:prstGeom prst="rect">
            <a:avLst/>
          </a:prstGeom>
          <a:noFill/>
          <a:ln/>
        </p:spPr>
        <p:txBody>
          <a:bodyPr wrap="square" lIns="0" tIns="0" rIns="0" bIns="0" rtlCol="0" anchor="ctr"/>
          <a:lstStyle/>
          <a:p>
            <a:pPr marL="0" indent="0" algn="ctr">
              <a:buNone/>
            </a:pPr>
            <a:r>
              <a:rPr lang="en-US" sz="2800" b="1" dirty="0">
                <a:solidFill>
                  <a:srgbClr val="2F75B5"/>
                </a:solidFill>
                <a:latin typeface="Aptos Display" pitchFamily="34" charset="0"/>
                <a:ea typeface="Aptos Display" pitchFamily="34" charset="-122"/>
                <a:cs typeface="Aptos Display" pitchFamily="34" charset="-120"/>
              </a:rPr>
              <a:t>1</a:t>
            </a:r>
            <a:endParaRPr lang="en-US" sz="2800" dirty="0"/>
          </a:p>
        </p:txBody>
      </p:sp>
      <p:sp>
        <p:nvSpPr>
          <p:cNvPr id="9" name="Text 7"/>
          <p:cNvSpPr/>
          <p:nvPr/>
        </p:nvSpPr>
        <p:spPr>
          <a:xfrm>
            <a:off x="932688" y="2441448"/>
            <a:ext cx="1700784" cy="402336"/>
          </a:xfrm>
          <a:prstGeom prst="rect">
            <a:avLst/>
          </a:prstGeom>
          <a:noFill/>
          <a:ln/>
        </p:spPr>
        <p:txBody>
          <a:bodyPr wrap="square" lIns="0" tIns="0" rIns="0" bIns="0" rtlCol="0" anchor="ctr">
            <a:normAutofit/>
          </a:bodyPr>
          <a:lstStyle/>
          <a:p>
            <a:pPr marL="0" indent="0" algn="ctr">
              <a:buNone/>
            </a:pPr>
            <a:r>
              <a:rPr lang="en-US" sz="1050" dirty="0">
                <a:solidFill>
                  <a:srgbClr val="5A5A5A"/>
                </a:solidFill>
                <a:latin typeface="Aptos" pitchFamily="34" charset="0"/>
                <a:ea typeface="Aptos" pitchFamily="34" charset="-122"/>
                <a:cs typeface="Aptos" pitchFamily="34" charset="-120"/>
              </a:rPr>
              <a:t>material difference at evidence level</a:t>
            </a:r>
            <a:endParaRPr lang="en-US" sz="1050" dirty="0"/>
          </a:p>
        </p:txBody>
      </p:sp>
      <p:sp>
        <p:nvSpPr>
          <p:cNvPr id="10" name="Shape 8"/>
          <p:cNvSpPr/>
          <p:nvPr/>
        </p:nvSpPr>
        <p:spPr>
          <a:xfrm>
            <a:off x="2971800" y="1828800"/>
            <a:ext cx="1920240" cy="1143000"/>
          </a:xfrm>
          <a:prstGeom prst="roundRect">
            <a:avLst>
              <a:gd name="adj" fmla="val 6400"/>
            </a:avLst>
          </a:prstGeom>
          <a:solidFill>
            <a:srgbClr val="FFFFFF"/>
          </a:solidFill>
          <a:ln w="19050">
            <a:solidFill>
              <a:srgbClr val="2F75B5"/>
            </a:solidFill>
            <a:prstDash val="solid"/>
          </a:ln>
        </p:spPr>
      </p:sp>
      <p:sp>
        <p:nvSpPr>
          <p:cNvPr id="11" name="Text 9"/>
          <p:cNvSpPr/>
          <p:nvPr/>
        </p:nvSpPr>
        <p:spPr>
          <a:xfrm>
            <a:off x="3017520" y="1938528"/>
            <a:ext cx="1828800" cy="438912"/>
          </a:xfrm>
          <a:prstGeom prst="rect">
            <a:avLst/>
          </a:prstGeom>
          <a:noFill/>
          <a:ln/>
        </p:spPr>
        <p:txBody>
          <a:bodyPr wrap="square" lIns="0" tIns="0" rIns="0" bIns="0" rtlCol="0" anchor="ctr"/>
          <a:lstStyle/>
          <a:p>
            <a:pPr marL="0" indent="0" algn="ctr">
              <a:buNone/>
            </a:pPr>
            <a:r>
              <a:rPr lang="en-US" sz="2800" b="1" dirty="0">
                <a:solidFill>
                  <a:srgbClr val="2F75B5"/>
                </a:solidFill>
                <a:latin typeface="Aptos Display" pitchFamily="34" charset="0"/>
                <a:ea typeface="Aptos Display" pitchFamily="34" charset="-122"/>
                <a:cs typeface="Aptos Display" pitchFamily="34" charset="-120"/>
              </a:rPr>
              <a:t>30</a:t>
            </a:r>
            <a:endParaRPr lang="en-US" sz="2800" dirty="0"/>
          </a:p>
        </p:txBody>
      </p:sp>
      <p:sp>
        <p:nvSpPr>
          <p:cNvPr id="12" name="Text 10"/>
          <p:cNvSpPr/>
          <p:nvPr/>
        </p:nvSpPr>
        <p:spPr>
          <a:xfrm>
            <a:off x="3081528" y="2441448"/>
            <a:ext cx="1700784" cy="402336"/>
          </a:xfrm>
          <a:prstGeom prst="rect">
            <a:avLst/>
          </a:prstGeom>
          <a:noFill/>
          <a:ln/>
        </p:spPr>
        <p:txBody>
          <a:bodyPr wrap="square" lIns="0" tIns="0" rIns="0" bIns="0" rtlCol="0" anchor="ctr">
            <a:normAutofit/>
          </a:bodyPr>
          <a:lstStyle/>
          <a:p>
            <a:pPr marL="0" indent="0" algn="ctr">
              <a:buNone/>
            </a:pPr>
            <a:r>
              <a:rPr lang="en-US" sz="1050" dirty="0">
                <a:solidFill>
                  <a:srgbClr val="5A5A5A"/>
                </a:solidFill>
                <a:latin typeface="Aptos" pitchFamily="34" charset="0"/>
                <a:ea typeface="Aptos" pitchFamily="34" charset="-122"/>
                <a:cs typeface="Aptos" pitchFamily="34" charset="-120"/>
              </a:rPr>
              <a:t>relationship-level differences</a:t>
            </a:r>
            <a:endParaRPr lang="en-US" sz="1050" dirty="0"/>
          </a:p>
        </p:txBody>
      </p:sp>
      <p:sp>
        <p:nvSpPr>
          <p:cNvPr id="13" name="Shape 11"/>
          <p:cNvSpPr/>
          <p:nvPr/>
        </p:nvSpPr>
        <p:spPr>
          <a:xfrm>
            <a:off x="5120640" y="1828800"/>
            <a:ext cx="1920240" cy="1143000"/>
          </a:xfrm>
          <a:prstGeom prst="roundRect">
            <a:avLst>
              <a:gd name="adj" fmla="val 6400"/>
            </a:avLst>
          </a:prstGeom>
          <a:solidFill>
            <a:srgbClr val="FFFFFF"/>
          </a:solidFill>
          <a:ln w="19050">
            <a:solidFill>
              <a:srgbClr val="2F75B5"/>
            </a:solidFill>
            <a:prstDash val="solid"/>
          </a:ln>
        </p:spPr>
      </p:sp>
      <p:sp>
        <p:nvSpPr>
          <p:cNvPr id="14" name="Text 12"/>
          <p:cNvSpPr/>
          <p:nvPr/>
        </p:nvSpPr>
        <p:spPr>
          <a:xfrm>
            <a:off x="5166360" y="1938528"/>
            <a:ext cx="1828800" cy="438912"/>
          </a:xfrm>
          <a:prstGeom prst="rect">
            <a:avLst/>
          </a:prstGeom>
          <a:noFill/>
          <a:ln/>
        </p:spPr>
        <p:txBody>
          <a:bodyPr wrap="square" lIns="0" tIns="0" rIns="0" bIns="0" rtlCol="0" anchor="ctr"/>
          <a:lstStyle/>
          <a:p>
            <a:pPr marL="0" indent="0" algn="ctr">
              <a:buNone/>
            </a:pPr>
            <a:r>
              <a:rPr lang="en-US" sz="2800" b="1" dirty="0">
                <a:solidFill>
                  <a:srgbClr val="2F75B5"/>
                </a:solidFill>
                <a:latin typeface="Aptos Display" pitchFamily="34" charset="0"/>
                <a:ea typeface="Aptos Display" pitchFamily="34" charset="-122"/>
                <a:cs typeface="Aptos Display" pitchFamily="34" charset="-120"/>
              </a:rPr>
              <a:t>65</a:t>
            </a:r>
            <a:endParaRPr lang="en-US" sz="2800" dirty="0"/>
          </a:p>
        </p:txBody>
      </p:sp>
      <p:sp>
        <p:nvSpPr>
          <p:cNvPr id="15" name="Text 13"/>
          <p:cNvSpPr/>
          <p:nvPr/>
        </p:nvSpPr>
        <p:spPr>
          <a:xfrm>
            <a:off x="5230368" y="2441448"/>
            <a:ext cx="1700784" cy="402336"/>
          </a:xfrm>
          <a:prstGeom prst="rect">
            <a:avLst/>
          </a:prstGeom>
          <a:noFill/>
          <a:ln/>
        </p:spPr>
        <p:txBody>
          <a:bodyPr wrap="square" lIns="0" tIns="0" rIns="0" bIns="0" rtlCol="0" anchor="ctr">
            <a:normAutofit/>
          </a:bodyPr>
          <a:lstStyle/>
          <a:p>
            <a:pPr marL="0" indent="0" algn="ctr">
              <a:buNone/>
            </a:pPr>
            <a:r>
              <a:rPr lang="en-US" sz="1050" dirty="0">
                <a:solidFill>
                  <a:srgbClr val="5A5A5A"/>
                </a:solidFill>
                <a:latin typeface="Aptos" pitchFamily="34" charset="0"/>
                <a:ea typeface="Aptos" pitchFamily="34" charset="-122"/>
                <a:cs typeface="Aptos" pitchFamily="34" charset="-120"/>
              </a:rPr>
              <a:t>higher-inference differences</a:t>
            </a:r>
            <a:endParaRPr lang="en-US" sz="1050" dirty="0"/>
          </a:p>
        </p:txBody>
      </p:sp>
      <p:sp>
        <p:nvSpPr>
          <p:cNvPr id="16" name="Shape 14"/>
          <p:cNvSpPr/>
          <p:nvPr/>
        </p:nvSpPr>
        <p:spPr>
          <a:xfrm>
            <a:off x="7269480" y="1828800"/>
            <a:ext cx="1920240" cy="1143000"/>
          </a:xfrm>
          <a:prstGeom prst="roundRect">
            <a:avLst>
              <a:gd name="adj" fmla="val 6400"/>
            </a:avLst>
          </a:prstGeom>
          <a:solidFill>
            <a:srgbClr val="FFFFFF"/>
          </a:solidFill>
          <a:ln w="19050">
            <a:solidFill>
              <a:srgbClr val="2F75B5"/>
            </a:solidFill>
            <a:prstDash val="solid"/>
          </a:ln>
        </p:spPr>
      </p:sp>
      <p:sp>
        <p:nvSpPr>
          <p:cNvPr id="17" name="Text 15"/>
          <p:cNvSpPr/>
          <p:nvPr/>
        </p:nvSpPr>
        <p:spPr>
          <a:xfrm>
            <a:off x="7315200" y="1938528"/>
            <a:ext cx="1828800" cy="438912"/>
          </a:xfrm>
          <a:prstGeom prst="rect">
            <a:avLst/>
          </a:prstGeom>
          <a:noFill/>
          <a:ln/>
        </p:spPr>
        <p:txBody>
          <a:bodyPr wrap="square" lIns="0" tIns="0" rIns="0" bIns="0" rtlCol="0" anchor="ctr"/>
          <a:lstStyle/>
          <a:p>
            <a:pPr marL="0" indent="0" algn="ctr">
              <a:buNone/>
            </a:pPr>
            <a:r>
              <a:rPr lang="en-US" sz="2800" b="1" dirty="0">
                <a:solidFill>
                  <a:srgbClr val="2F75B5"/>
                </a:solidFill>
                <a:latin typeface="Aptos Display" pitchFamily="34" charset="0"/>
                <a:ea typeface="Aptos Display" pitchFamily="34" charset="-122"/>
                <a:cs typeface="Aptos Display" pitchFamily="34" charset="-120"/>
              </a:rPr>
              <a:t>96</a:t>
            </a:r>
            <a:endParaRPr lang="en-US" sz="2800" dirty="0"/>
          </a:p>
        </p:txBody>
      </p:sp>
      <p:sp>
        <p:nvSpPr>
          <p:cNvPr id="18" name="Text 16"/>
          <p:cNvSpPr/>
          <p:nvPr/>
        </p:nvSpPr>
        <p:spPr>
          <a:xfrm>
            <a:off x="7379208" y="2441448"/>
            <a:ext cx="1700784" cy="402336"/>
          </a:xfrm>
          <a:prstGeom prst="rect">
            <a:avLst/>
          </a:prstGeom>
          <a:noFill/>
          <a:ln/>
        </p:spPr>
        <p:txBody>
          <a:bodyPr wrap="square" lIns="0" tIns="0" rIns="0" bIns="0" rtlCol="0" anchor="ctr">
            <a:normAutofit/>
          </a:bodyPr>
          <a:lstStyle/>
          <a:p>
            <a:pPr marL="0" indent="0" algn="ctr">
              <a:buNone/>
            </a:pPr>
            <a:r>
              <a:rPr lang="en-US" sz="1050" dirty="0">
                <a:solidFill>
                  <a:srgbClr val="5A5A5A"/>
                </a:solidFill>
                <a:latin typeface="Aptos" pitchFamily="34" charset="0"/>
                <a:ea typeface="Aptos" pitchFamily="34" charset="-122"/>
                <a:cs typeface="Aptos" pitchFamily="34" charset="-120"/>
              </a:rPr>
              <a:t>material differences overall</a:t>
            </a:r>
            <a:endParaRPr lang="en-US" sz="1050" dirty="0"/>
          </a:p>
        </p:txBody>
      </p:sp>
      <p:sp>
        <p:nvSpPr>
          <p:cNvPr id="19" name="Shape 17"/>
          <p:cNvSpPr/>
          <p:nvPr/>
        </p:nvSpPr>
        <p:spPr>
          <a:xfrm>
            <a:off x="868680" y="3429000"/>
            <a:ext cx="5029200" cy="1463040"/>
          </a:xfrm>
          <a:prstGeom prst="roundRect">
            <a:avLst>
              <a:gd name="adj" fmla="val 5000"/>
            </a:avLst>
          </a:prstGeom>
          <a:solidFill>
            <a:srgbClr val="F4F7FA"/>
          </a:solidFill>
          <a:ln w="12700">
            <a:solidFill>
              <a:srgbClr val="D4DAE0"/>
            </a:solidFill>
            <a:prstDash val="solid"/>
          </a:ln>
        </p:spPr>
      </p:sp>
      <p:sp>
        <p:nvSpPr>
          <p:cNvPr id="20" name="Text 18"/>
          <p:cNvSpPr/>
          <p:nvPr/>
        </p:nvSpPr>
        <p:spPr>
          <a:xfrm>
            <a:off x="1005840" y="3557016"/>
            <a:ext cx="4754880" cy="292608"/>
          </a:xfrm>
          <a:prstGeom prst="rect">
            <a:avLst/>
          </a:prstGeom>
          <a:noFill/>
          <a:ln/>
        </p:spPr>
        <p:txBody>
          <a:bodyPr wrap="square" lIns="0" tIns="0" rIns="0" bIns="0" rtlCol="0" anchor="ctr">
            <a:normAutofit lnSpcReduction="10000"/>
          </a:bodyPr>
          <a:lstStyle/>
          <a:p>
            <a:pPr marL="0" indent="0">
              <a:buNone/>
            </a:pPr>
            <a:r>
              <a:rPr lang="en-US" sz="2000" b="1" dirty="0">
                <a:solidFill>
                  <a:srgbClr val="17365D"/>
                </a:solidFill>
                <a:latin typeface="Aptos Display" pitchFamily="34" charset="0"/>
                <a:ea typeface="Aptos Display" pitchFamily="34" charset="-122"/>
                <a:cs typeface="Aptos Display" pitchFamily="34" charset="-120"/>
              </a:rPr>
              <a:t>Vulnerability 1</a:t>
            </a:r>
            <a:endParaRPr lang="en-US" sz="2000" dirty="0"/>
          </a:p>
        </p:txBody>
      </p:sp>
      <p:sp>
        <p:nvSpPr>
          <p:cNvPr id="21" name="Text 19"/>
          <p:cNvSpPr/>
          <p:nvPr/>
        </p:nvSpPr>
        <p:spPr>
          <a:xfrm>
            <a:off x="1005840" y="3904488"/>
            <a:ext cx="4754880" cy="896112"/>
          </a:xfrm>
          <a:prstGeom prst="rect">
            <a:avLst/>
          </a:prstGeom>
          <a:noFill/>
          <a:ln/>
        </p:spPr>
        <p:txBody>
          <a:bodyPr wrap="square" lIns="381" tIns="381" rIns="381" bIns="381" rtlCol="0" anchor="ctr">
            <a:normAutofit/>
          </a:bodyPr>
          <a:lstStyle/>
          <a:p>
            <a:pPr marL="0" indent="0">
              <a:buNone/>
            </a:pPr>
            <a:r>
              <a:rPr lang="en-US" sz="1800" dirty="0">
                <a:solidFill>
                  <a:srgbClr val="222222"/>
                </a:solidFill>
                <a:latin typeface="Aptos" pitchFamily="34" charset="0"/>
                <a:ea typeface="Aptos" pitchFamily="34" charset="-122"/>
                <a:cs typeface="Aptos" pitchFamily="34" charset="-120"/>
              </a:rPr>
              <a:t>Relational precision: who, to whom, in what direction, with what legal modality?</a:t>
            </a:r>
            <a:endParaRPr lang="en-US" sz="1800" dirty="0"/>
          </a:p>
        </p:txBody>
      </p:sp>
      <p:sp>
        <p:nvSpPr>
          <p:cNvPr id="22" name="Shape 20"/>
          <p:cNvSpPr/>
          <p:nvPr/>
        </p:nvSpPr>
        <p:spPr>
          <a:xfrm>
            <a:off x="6309360" y="3429000"/>
            <a:ext cx="5029200" cy="1463040"/>
          </a:xfrm>
          <a:prstGeom prst="roundRect">
            <a:avLst>
              <a:gd name="adj" fmla="val 5000"/>
            </a:avLst>
          </a:prstGeom>
          <a:solidFill>
            <a:srgbClr val="F7E5B7"/>
          </a:solidFill>
          <a:ln w="12700">
            <a:solidFill>
              <a:srgbClr val="D4DAE0"/>
            </a:solidFill>
            <a:prstDash val="solid"/>
          </a:ln>
        </p:spPr>
      </p:sp>
      <p:sp>
        <p:nvSpPr>
          <p:cNvPr id="23" name="Text 21"/>
          <p:cNvSpPr/>
          <p:nvPr/>
        </p:nvSpPr>
        <p:spPr>
          <a:xfrm>
            <a:off x="6446520" y="3557016"/>
            <a:ext cx="4754880" cy="292608"/>
          </a:xfrm>
          <a:prstGeom prst="rect">
            <a:avLst/>
          </a:prstGeom>
          <a:noFill/>
          <a:ln/>
        </p:spPr>
        <p:txBody>
          <a:bodyPr wrap="square" lIns="0" tIns="0" rIns="0" bIns="0" rtlCol="0" anchor="ctr">
            <a:normAutofit lnSpcReduction="10000"/>
          </a:bodyPr>
          <a:lstStyle/>
          <a:p>
            <a:pPr marL="0" indent="0">
              <a:buNone/>
            </a:pPr>
            <a:r>
              <a:rPr lang="en-US" sz="2000" b="1" dirty="0">
                <a:solidFill>
                  <a:srgbClr val="17365D"/>
                </a:solidFill>
                <a:latin typeface="Aptos Display" pitchFamily="34" charset="0"/>
                <a:ea typeface="Aptos Display" pitchFamily="34" charset="-122"/>
                <a:cs typeface="Aptos Display" pitchFamily="34" charset="-120"/>
              </a:rPr>
              <a:t>Vulnerability 2</a:t>
            </a:r>
            <a:endParaRPr lang="en-US" sz="2000" dirty="0"/>
          </a:p>
        </p:txBody>
      </p:sp>
      <p:sp>
        <p:nvSpPr>
          <p:cNvPr id="24" name="Text 22"/>
          <p:cNvSpPr/>
          <p:nvPr/>
        </p:nvSpPr>
        <p:spPr>
          <a:xfrm>
            <a:off x="6446520" y="3904488"/>
            <a:ext cx="4754880" cy="896112"/>
          </a:xfrm>
          <a:prstGeom prst="rect">
            <a:avLst/>
          </a:prstGeom>
          <a:noFill/>
          <a:ln/>
        </p:spPr>
        <p:txBody>
          <a:bodyPr wrap="square" lIns="381" tIns="381" rIns="381" bIns="381" rtlCol="0" anchor="ctr">
            <a:normAutofit/>
          </a:bodyPr>
          <a:lstStyle/>
          <a:p>
            <a:pPr marL="0" indent="0">
              <a:buNone/>
            </a:pPr>
            <a:r>
              <a:rPr lang="en-US" sz="1800" dirty="0">
                <a:solidFill>
                  <a:srgbClr val="222222"/>
                </a:solidFill>
                <a:latin typeface="Aptos" pitchFamily="34" charset="0"/>
                <a:ea typeface="Aptos" pitchFamily="34" charset="-122"/>
                <a:cs typeface="Aptos" pitchFamily="34" charset="-120"/>
              </a:rPr>
              <a:t>Upward inference: when do relations become configurations, architectures or only candidates?</a:t>
            </a:r>
            <a:endParaRPr lang="en-US" sz="1800" dirty="0"/>
          </a:p>
        </p:txBody>
      </p:sp>
      <p:sp>
        <p:nvSpPr>
          <p:cNvPr id="25" name="Text 23"/>
          <p:cNvSpPr/>
          <p:nvPr/>
        </p:nvSpPr>
        <p:spPr>
          <a:xfrm>
            <a:off x="1005840" y="5614416"/>
            <a:ext cx="10058400" cy="329184"/>
          </a:xfrm>
          <a:prstGeom prst="rect">
            <a:avLst/>
          </a:prstGeom>
          <a:noFill/>
          <a:ln/>
        </p:spPr>
        <p:txBody>
          <a:bodyPr wrap="square" lIns="0" tIns="0" rIns="0" bIns="0" rtlCol="0" anchor="ctr"/>
          <a:lstStyle/>
          <a:p>
            <a:pPr marL="0" indent="0" algn="ctr">
              <a:buNone/>
            </a:pPr>
            <a:r>
              <a:rPr lang="en-US" sz="2200" b="1" dirty="0">
                <a:solidFill>
                  <a:srgbClr val="17365D"/>
                </a:solidFill>
              </a:rPr>
              <a:t>Architecture should be a conclusion, not a default label.</a:t>
            </a:r>
            <a:endParaRPr lang="en-US" sz="2200" dirty="0"/>
          </a:p>
        </p:txBody>
      </p:sp>
      <p:sp>
        <p:nvSpPr>
          <p:cNvPr id="26" name="Text 24"/>
          <p:cNvSpPr/>
          <p:nvPr/>
        </p:nvSpPr>
        <p:spPr>
          <a:xfrm>
            <a:off x="502920" y="6492240"/>
            <a:ext cx="11201400" cy="228600"/>
          </a:xfrm>
          <a:prstGeom prst="rect">
            <a:avLst/>
          </a:prstGeom>
          <a:noFill/>
          <a:ln/>
        </p:spPr>
        <p:txBody>
          <a:bodyPr wrap="square" lIns="0" tIns="0" rIns="0" bIns="0" rtlCol="0" anchor="ctr">
            <a:normAutofit/>
          </a:bodyPr>
          <a:lstStyle/>
          <a:p>
            <a:pPr marL="0" indent="0">
              <a:buNone/>
            </a:pPr>
            <a:r>
              <a:rPr lang="en-US" sz="850" dirty="0">
                <a:solidFill>
                  <a:srgbClr val="777777"/>
                </a:solidFill>
                <a:latin typeface="Aptos" pitchFamily="34" charset="0"/>
                <a:ea typeface="Aptos" pitchFamily="34" charset="-122"/>
                <a:cs typeface="Aptos" pitchFamily="34" charset="-120"/>
              </a:rPr>
              <a:t>Source: From Coding to Architectural Inference note, Oct. 2026.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01168"/>
            <a:ext cx="4389120" cy="256032"/>
          </a:xfrm>
          <a:prstGeom prst="rect">
            <a:avLst/>
          </a:prstGeom>
          <a:noFill/>
          <a:ln/>
        </p:spPr>
        <p:txBody>
          <a:bodyPr wrap="square" lIns="0" tIns="0" rIns="0" bIns="0" rtlCol="0" anchor="ctr"/>
          <a:lstStyle/>
          <a:p>
            <a:pPr marL="0" indent="0">
              <a:buNone/>
            </a:pPr>
            <a:r>
              <a:rPr lang="en-US" sz="1050" dirty="0">
                <a:solidFill>
                  <a:srgbClr val="5A5A5A"/>
                </a:solidFill>
                <a:latin typeface="Aptos" pitchFamily="34" charset="0"/>
                <a:ea typeface="Aptos" pitchFamily="34" charset="-122"/>
                <a:cs typeface="Aptos" pitchFamily="34" charset="-120"/>
              </a:rPr>
              <a:t>Law as Governance Group</a:t>
            </a:r>
            <a:endParaRPr lang="en-US" sz="1050" dirty="0"/>
          </a:p>
        </p:txBody>
      </p:sp>
      <p:sp>
        <p:nvSpPr>
          <p:cNvPr id="3" name="Text 1"/>
          <p:cNvSpPr/>
          <p:nvPr/>
        </p:nvSpPr>
        <p:spPr>
          <a:xfrm>
            <a:off x="8229600" y="201168"/>
            <a:ext cx="3429000" cy="256032"/>
          </a:xfrm>
          <a:prstGeom prst="rect">
            <a:avLst/>
          </a:prstGeom>
          <a:noFill/>
          <a:ln/>
        </p:spPr>
        <p:txBody>
          <a:bodyPr wrap="square" lIns="0" tIns="0" rIns="0" bIns="0" rtlCol="0" anchor="ctr"/>
          <a:lstStyle/>
          <a:p>
            <a:pPr marL="0" indent="0" algn="r">
              <a:buNone/>
            </a:pPr>
            <a:r>
              <a:rPr lang="en-US" sz="1050" dirty="0">
                <a:solidFill>
                  <a:srgbClr val="5A5A5A"/>
                </a:solidFill>
                <a:latin typeface="Aptos" pitchFamily="34" charset="0"/>
                <a:ea typeface="Aptos" pitchFamily="34" charset="-122"/>
                <a:cs typeface="Aptos" pitchFamily="34" charset="-120"/>
              </a:rPr>
              <a:t>Igor — cumulative work</a:t>
            </a:r>
            <a:endParaRPr lang="en-US" sz="1050" dirty="0"/>
          </a:p>
        </p:txBody>
      </p:sp>
      <p:sp>
        <p:nvSpPr>
          <p:cNvPr id="4" name="Shape 2"/>
          <p:cNvSpPr/>
          <p:nvPr/>
        </p:nvSpPr>
        <p:spPr>
          <a:xfrm>
            <a:off x="502920" y="530352"/>
            <a:ext cx="11201400" cy="0"/>
          </a:xfrm>
          <a:prstGeom prst="line">
            <a:avLst/>
          </a:prstGeom>
          <a:noFill/>
          <a:ln w="12700">
            <a:solidFill>
              <a:srgbClr val="D4DAE0"/>
            </a:solidFill>
            <a:prstDash val="solid"/>
          </a:ln>
        </p:spPr>
      </p:sp>
      <p:sp>
        <p:nvSpPr>
          <p:cNvPr id="5" name="Text 3"/>
          <p:cNvSpPr/>
          <p:nvPr/>
        </p:nvSpPr>
        <p:spPr>
          <a:xfrm>
            <a:off x="502920" y="786384"/>
            <a:ext cx="8778240" cy="438912"/>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R7 contribution: substantive intermediation agenda</a:t>
            </a:r>
            <a:endParaRPr lang="en-US" sz="2600" dirty="0"/>
          </a:p>
        </p:txBody>
      </p:sp>
      <p:sp>
        <p:nvSpPr>
          <p:cNvPr id="6" name="Text 4"/>
          <p:cNvSpPr/>
          <p:nvPr/>
        </p:nvSpPr>
        <p:spPr>
          <a:xfrm>
            <a:off x="521208" y="1261872"/>
            <a:ext cx="10607040" cy="347472"/>
          </a:xfrm>
          <a:prstGeom prst="rect">
            <a:avLst/>
          </a:prstGeom>
          <a:noFill/>
          <a:ln/>
        </p:spPr>
        <p:txBody>
          <a:bodyPr wrap="square" lIns="0" tIns="0" rIns="0" bIns="0" rtlCol="0" anchor="ctr"/>
          <a:lstStyle/>
          <a:p>
            <a:pPr marL="0" indent="0">
              <a:buNone/>
            </a:pPr>
            <a:r>
              <a:rPr lang="en-US" sz="1600" dirty="0">
                <a:solidFill>
                  <a:srgbClr val="5A5A5A"/>
                </a:solidFill>
                <a:latin typeface="Aptos" pitchFamily="34" charset="0"/>
                <a:ea typeface="Aptos" pitchFamily="34" charset="-122"/>
                <a:cs typeface="Aptos" pitchFamily="34" charset="-120"/>
              </a:rPr>
              <a:t>The coding now supports better theoretical questions.</a:t>
            </a:r>
            <a:endParaRPr lang="en-US" sz="1600" dirty="0"/>
          </a:p>
        </p:txBody>
      </p:sp>
      <p:sp>
        <p:nvSpPr>
          <p:cNvPr id="7" name="Shape 5"/>
          <p:cNvSpPr/>
          <p:nvPr/>
        </p:nvSpPr>
        <p:spPr>
          <a:xfrm>
            <a:off x="731520" y="1828800"/>
            <a:ext cx="4937760" cy="960120"/>
          </a:xfrm>
          <a:prstGeom prst="roundRect">
            <a:avLst>
              <a:gd name="adj" fmla="val 7619"/>
            </a:avLst>
          </a:prstGeom>
          <a:solidFill>
            <a:srgbClr val="F4F7FA"/>
          </a:solidFill>
          <a:ln w="12700">
            <a:solidFill>
              <a:srgbClr val="D4DAE0"/>
            </a:solidFill>
            <a:prstDash val="solid"/>
          </a:ln>
        </p:spPr>
      </p:sp>
      <p:sp>
        <p:nvSpPr>
          <p:cNvPr id="8" name="Text 6"/>
          <p:cNvSpPr/>
          <p:nvPr/>
        </p:nvSpPr>
        <p:spPr>
          <a:xfrm>
            <a:off x="868680" y="1956816"/>
            <a:ext cx="4663440" cy="292608"/>
          </a:xfrm>
          <a:prstGeom prst="rect">
            <a:avLst/>
          </a:prstGeom>
          <a:noFill/>
          <a:ln/>
        </p:spPr>
        <p:txBody>
          <a:bodyPr wrap="square" lIns="0" tIns="0" rIns="0" bIns="0" rtlCol="0" anchor="ctr">
            <a:normAutofit lnSpcReduction="10000"/>
          </a:bodyPr>
          <a:lstStyle/>
          <a:p>
            <a:pPr marL="0" indent="0">
              <a:buNone/>
            </a:pPr>
            <a:r>
              <a:rPr lang="en-US" sz="2000" b="1" dirty="0">
                <a:solidFill>
                  <a:srgbClr val="17365D"/>
                </a:solidFill>
                <a:latin typeface="Aptos Display" pitchFamily="34" charset="0"/>
                <a:ea typeface="Aptos Display" pitchFamily="34" charset="-122"/>
                <a:cs typeface="Aptos Display" pitchFamily="34" charset="-120"/>
              </a:rPr>
              <a:t>Structural importance</a:t>
            </a:r>
            <a:endParaRPr lang="en-US" sz="2000" dirty="0"/>
          </a:p>
        </p:txBody>
      </p:sp>
      <p:sp>
        <p:nvSpPr>
          <p:cNvPr id="9" name="Text 7"/>
          <p:cNvSpPr/>
          <p:nvPr/>
        </p:nvSpPr>
        <p:spPr>
          <a:xfrm>
            <a:off x="868680" y="2304288"/>
            <a:ext cx="4663440" cy="393192"/>
          </a:xfrm>
          <a:prstGeom prst="rect">
            <a:avLst/>
          </a:prstGeom>
          <a:noFill/>
          <a:ln/>
        </p:spPr>
        <p:txBody>
          <a:bodyPr wrap="square" lIns="381" tIns="381" rIns="381" bIns="381" rtlCol="0" anchor="ctr">
            <a:normAutofit/>
          </a:bodyPr>
          <a:lstStyle/>
          <a:p>
            <a:pPr marL="0" indent="0">
              <a:buNone/>
            </a:pPr>
            <a:r>
              <a:rPr lang="en-US" sz="1700" dirty="0">
                <a:solidFill>
                  <a:srgbClr val="222222"/>
                </a:solidFill>
                <a:latin typeface="Aptos" pitchFamily="34" charset="0"/>
                <a:ea typeface="Aptos" pitchFamily="34" charset="-122"/>
                <a:cs typeface="Aptos" pitchFamily="34" charset="-120"/>
              </a:rPr>
              <a:t>not only frequency</a:t>
            </a:r>
            <a:endParaRPr lang="en-US" sz="1700" dirty="0"/>
          </a:p>
        </p:txBody>
      </p:sp>
      <p:sp>
        <p:nvSpPr>
          <p:cNvPr id="10" name="Shape 8"/>
          <p:cNvSpPr/>
          <p:nvPr/>
        </p:nvSpPr>
        <p:spPr>
          <a:xfrm>
            <a:off x="6217920" y="1828800"/>
            <a:ext cx="4937760" cy="960120"/>
          </a:xfrm>
          <a:prstGeom prst="roundRect">
            <a:avLst>
              <a:gd name="adj" fmla="val 7619"/>
            </a:avLst>
          </a:prstGeom>
          <a:solidFill>
            <a:srgbClr val="DDEFD9"/>
          </a:solidFill>
          <a:ln w="12700">
            <a:solidFill>
              <a:srgbClr val="D4DAE0"/>
            </a:solidFill>
            <a:prstDash val="solid"/>
          </a:ln>
        </p:spPr>
      </p:sp>
      <p:sp>
        <p:nvSpPr>
          <p:cNvPr id="11" name="Text 9"/>
          <p:cNvSpPr/>
          <p:nvPr/>
        </p:nvSpPr>
        <p:spPr>
          <a:xfrm>
            <a:off x="6355080" y="1956816"/>
            <a:ext cx="4663440" cy="292608"/>
          </a:xfrm>
          <a:prstGeom prst="rect">
            <a:avLst/>
          </a:prstGeom>
          <a:noFill/>
          <a:ln/>
        </p:spPr>
        <p:txBody>
          <a:bodyPr wrap="square" lIns="0" tIns="0" rIns="0" bIns="0" rtlCol="0" anchor="ctr">
            <a:normAutofit lnSpcReduction="10000"/>
          </a:bodyPr>
          <a:lstStyle/>
          <a:p>
            <a:pPr marL="0" indent="0">
              <a:buNone/>
            </a:pPr>
            <a:r>
              <a:rPr lang="en-US" sz="2000" b="1" dirty="0">
                <a:solidFill>
                  <a:srgbClr val="17365D"/>
                </a:solidFill>
                <a:latin typeface="Aptos Display" pitchFamily="34" charset="0"/>
                <a:ea typeface="Aptos Display" pitchFamily="34" charset="-122"/>
                <a:cs typeface="Aptos Display" pitchFamily="34" charset="-120"/>
              </a:rPr>
              <a:t>Governed governors</a:t>
            </a:r>
            <a:endParaRPr lang="en-US" sz="2000" dirty="0"/>
          </a:p>
        </p:txBody>
      </p:sp>
      <p:sp>
        <p:nvSpPr>
          <p:cNvPr id="12" name="Text 10"/>
          <p:cNvSpPr/>
          <p:nvPr/>
        </p:nvSpPr>
        <p:spPr>
          <a:xfrm>
            <a:off x="6355080" y="2304288"/>
            <a:ext cx="4663440" cy="393192"/>
          </a:xfrm>
          <a:prstGeom prst="rect">
            <a:avLst/>
          </a:prstGeom>
          <a:noFill/>
          <a:ln/>
        </p:spPr>
        <p:txBody>
          <a:bodyPr wrap="square" lIns="381" tIns="381" rIns="381" bIns="381" rtlCol="0" anchor="ctr">
            <a:normAutofit/>
          </a:bodyPr>
          <a:lstStyle/>
          <a:p>
            <a:pPr marL="0" indent="0">
              <a:buNone/>
            </a:pPr>
            <a:r>
              <a:rPr lang="en-US" sz="1700" dirty="0">
                <a:solidFill>
                  <a:srgbClr val="222222"/>
                </a:solidFill>
                <a:latin typeface="Aptos" pitchFamily="34" charset="0"/>
                <a:ea typeface="Aptos" pitchFamily="34" charset="-122"/>
                <a:cs typeface="Aptos" pitchFamily="34" charset="-120"/>
              </a:rPr>
              <a:t>who regulates the intermediary?</a:t>
            </a:r>
            <a:endParaRPr lang="en-US" sz="1700" dirty="0"/>
          </a:p>
        </p:txBody>
      </p:sp>
      <p:sp>
        <p:nvSpPr>
          <p:cNvPr id="13" name="Shape 11"/>
          <p:cNvSpPr/>
          <p:nvPr/>
        </p:nvSpPr>
        <p:spPr>
          <a:xfrm>
            <a:off x="731520" y="3154680"/>
            <a:ext cx="4937760" cy="960120"/>
          </a:xfrm>
          <a:prstGeom prst="roundRect">
            <a:avLst>
              <a:gd name="adj" fmla="val 7619"/>
            </a:avLst>
          </a:prstGeom>
          <a:solidFill>
            <a:srgbClr val="F4F7FA"/>
          </a:solidFill>
          <a:ln w="12700">
            <a:solidFill>
              <a:srgbClr val="D4DAE0"/>
            </a:solidFill>
            <a:prstDash val="solid"/>
          </a:ln>
        </p:spPr>
      </p:sp>
      <p:sp>
        <p:nvSpPr>
          <p:cNvPr id="14" name="Text 12"/>
          <p:cNvSpPr/>
          <p:nvPr/>
        </p:nvSpPr>
        <p:spPr>
          <a:xfrm>
            <a:off x="868680" y="3282696"/>
            <a:ext cx="4663440" cy="292608"/>
          </a:xfrm>
          <a:prstGeom prst="rect">
            <a:avLst/>
          </a:prstGeom>
          <a:noFill/>
          <a:ln/>
        </p:spPr>
        <p:txBody>
          <a:bodyPr wrap="square" lIns="0" tIns="0" rIns="0" bIns="0" rtlCol="0" anchor="ctr">
            <a:normAutofit lnSpcReduction="10000"/>
          </a:bodyPr>
          <a:lstStyle/>
          <a:p>
            <a:pPr marL="0" indent="0">
              <a:buNone/>
            </a:pPr>
            <a:r>
              <a:rPr lang="en-US" sz="2000" b="1" dirty="0">
                <a:solidFill>
                  <a:srgbClr val="17365D"/>
                </a:solidFill>
                <a:latin typeface="Aptos Display" pitchFamily="34" charset="0"/>
                <a:ea typeface="Aptos Display" pitchFamily="34" charset="-122"/>
                <a:cs typeface="Aptos Display" pitchFamily="34" charset="-120"/>
              </a:rPr>
              <a:t>Hierarchy + intermediation</a:t>
            </a:r>
            <a:endParaRPr lang="en-US" sz="2000" dirty="0"/>
          </a:p>
        </p:txBody>
      </p:sp>
      <p:sp>
        <p:nvSpPr>
          <p:cNvPr id="15" name="Text 13"/>
          <p:cNvSpPr/>
          <p:nvPr/>
        </p:nvSpPr>
        <p:spPr>
          <a:xfrm>
            <a:off x="868680" y="3630168"/>
            <a:ext cx="4663440" cy="393192"/>
          </a:xfrm>
          <a:prstGeom prst="rect">
            <a:avLst/>
          </a:prstGeom>
          <a:noFill/>
          <a:ln/>
        </p:spPr>
        <p:txBody>
          <a:bodyPr wrap="square" lIns="381" tIns="381" rIns="381" bIns="381" rtlCol="0" anchor="ctr">
            <a:normAutofit/>
          </a:bodyPr>
          <a:lstStyle/>
          <a:p>
            <a:pPr marL="0" indent="0">
              <a:buNone/>
            </a:pPr>
            <a:r>
              <a:rPr lang="en-US" sz="1700" dirty="0">
                <a:solidFill>
                  <a:srgbClr val="222222"/>
                </a:solidFill>
                <a:latin typeface="Aptos" pitchFamily="34" charset="0"/>
                <a:ea typeface="Aptos" pitchFamily="34" charset="-122"/>
                <a:cs typeface="Aptos" pitchFamily="34" charset="-120"/>
              </a:rPr>
              <a:t>substitution or embedding?</a:t>
            </a:r>
            <a:endParaRPr lang="en-US" sz="1700" dirty="0"/>
          </a:p>
        </p:txBody>
      </p:sp>
      <p:sp>
        <p:nvSpPr>
          <p:cNvPr id="16" name="Shape 14"/>
          <p:cNvSpPr/>
          <p:nvPr/>
        </p:nvSpPr>
        <p:spPr>
          <a:xfrm>
            <a:off x="6217920" y="3154680"/>
            <a:ext cx="4937760" cy="960120"/>
          </a:xfrm>
          <a:prstGeom prst="roundRect">
            <a:avLst>
              <a:gd name="adj" fmla="val 7619"/>
            </a:avLst>
          </a:prstGeom>
          <a:solidFill>
            <a:srgbClr val="DDEFD9"/>
          </a:solidFill>
          <a:ln w="12700">
            <a:solidFill>
              <a:srgbClr val="D4DAE0"/>
            </a:solidFill>
            <a:prstDash val="solid"/>
          </a:ln>
        </p:spPr>
      </p:sp>
      <p:sp>
        <p:nvSpPr>
          <p:cNvPr id="17" name="Text 15"/>
          <p:cNvSpPr/>
          <p:nvPr/>
        </p:nvSpPr>
        <p:spPr>
          <a:xfrm>
            <a:off x="6355080" y="3282696"/>
            <a:ext cx="4663440" cy="292608"/>
          </a:xfrm>
          <a:prstGeom prst="rect">
            <a:avLst/>
          </a:prstGeom>
          <a:noFill/>
          <a:ln/>
        </p:spPr>
        <p:txBody>
          <a:bodyPr wrap="square" lIns="0" tIns="0" rIns="0" bIns="0" rtlCol="0" anchor="ctr">
            <a:normAutofit lnSpcReduction="10000"/>
          </a:bodyPr>
          <a:lstStyle/>
          <a:p>
            <a:pPr marL="0" indent="0">
              <a:buNone/>
            </a:pPr>
            <a:r>
              <a:rPr lang="en-US" sz="2000" b="1" dirty="0">
                <a:solidFill>
                  <a:srgbClr val="17365D"/>
                </a:solidFill>
                <a:latin typeface="Aptos Display" pitchFamily="34" charset="0"/>
                <a:ea typeface="Aptos Display" pitchFamily="34" charset="-122"/>
                <a:cs typeface="Aptos Display" pitchFamily="34" charset="-120"/>
              </a:rPr>
              <a:t>Variation across sub-regimes</a:t>
            </a:r>
            <a:endParaRPr lang="en-US" sz="2000" dirty="0"/>
          </a:p>
        </p:txBody>
      </p:sp>
      <p:sp>
        <p:nvSpPr>
          <p:cNvPr id="18" name="Text 16"/>
          <p:cNvSpPr/>
          <p:nvPr/>
        </p:nvSpPr>
        <p:spPr>
          <a:xfrm>
            <a:off x="6355080" y="3630168"/>
            <a:ext cx="4663440" cy="393192"/>
          </a:xfrm>
          <a:prstGeom prst="rect">
            <a:avLst/>
          </a:prstGeom>
          <a:noFill/>
          <a:ln/>
        </p:spPr>
        <p:txBody>
          <a:bodyPr wrap="square" lIns="381" tIns="381" rIns="381" bIns="381" rtlCol="0" anchor="ctr">
            <a:normAutofit/>
          </a:bodyPr>
          <a:lstStyle/>
          <a:p>
            <a:pPr marL="0" indent="0">
              <a:buNone/>
            </a:pPr>
            <a:r>
              <a:rPr lang="en-US" sz="1700" dirty="0">
                <a:solidFill>
                  <a:srgbClr val="222222"/>
                </a:solidFill>
                <a:latin typeface="Aptos" pitchFamily="34" charset="0"/>
                <a:ea typeface="Aptos" pitchFamily="34" charset="-122"/>
                <a:cs typeface="Aptos" pitchFamily="34" charset="-120"/>
              </a:rPr>
              <a:t>why here, not there?</a:t>
            </a:r>
            <a:endParaRPr lang="en-US" sz="1700" dirty="0"/>
          </a:p>
        </p:txBody>
      </p:sp>
      <p:sp>
        <p:nvSpPr>
          <p:cNvPr id="19" name="Text 17"/>
          <p:cNvSpPr/>
          <p:nvPr/>
        </p:nvSpPr>
        <p:spPr>
          <a:xfrm>
            <a:off x="868680" y="5074920"/>
            <a:ext cx="10515600" cy="713232"/>
          </a:xfrm>
          <a:prstGeom prst="rect">
            <a:avLst/>
          </a:prstGeom>
          <a:noFill/>
          <a:ln/>
        </p:spPr>
        <p:txBody>
          <a:bodyPr wrap="square" lIns="254" tIns="254" rIns="254" bIns="254" rtlCol="0" anchor="ctr">
            <a:normAutofit/>
          </a:bodyPr>
          <a:lstStyle/>
          <a:p>
            <a:pPr marL="0" indent="0" algn="ctr">
              <a:buNone/>
            </a:pPr>
            <a:r>
              <a:rPr lang="en-US" sz="2300" b="1" dirty="0">
                <a:solidFill>
                  <a:srgbClr val="17365D"/>
                </a:solidFill>
              </a:rPr>
              <a:t>The project can move from “who are intermediaries?” to “what architecture does intermediation create?”</a:t>
            </a:r>
            <a:endParaRPr lang="en-US" sz="2300" dirty="0"/>
          </a:p>
        </p:txBody>
      </p:sp>
      <p:sp>
        <p:nvSpPr>
          <p:cNvPr id="20" name="Text 18"/>
          <p:cNvSpPr/>
          <p:nvPr/>
        </p:nvSpPr>
        <p:spPr>
          <a:xfrm>
            <a:off x="502920" y="6492240"/>
            <a:ext cx="11201400" cy="228600"/>
          </a:xfrm>
          <a:prstGeom prst="rect">
            <a:avLst/>
          </a:prstGeom>
          <a:noFill/>
          <a:ln/>
        </p:spPr>
        <p:txBody>
          <a:bodyPr wrap="square" lIns="0" tIns="0" rIns="0" bIns="0" rtlCol="0" anchor="ctr">
            <a:normAutofit/>
          </a:bodyPr>
          <a:lstStyle/>
          <a:p>
            <a:pPr marL="0" indent="0">
              <a:buNone/>
            </a:pPr>
            <a:r>
              <a:rPr lang="en-US" sz="850" dirty="0">
                <a:solidFill>
                  <a:srgbClr val="777777"/>
                </a:solidFill>
                <a:latin typeface="Aptos" pitchFamily="34" charset="0"/>
                <a:ea typeface="Aptos" pitchFamily="34" charset="-122"/>
                <a:cs typeface="Aptos" pitchFamily="34" charset="-120"/>
              </a:rPr>
              <a:t>Source: October architectural-inference note and R3 dataset architecture.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01168"/>
            <a:ext cx="4389120" cy="256032"/>
          </a:xfrm>
          <a:prstGeom prst="rect">
            <a:avLst/>
          </a:prstGeom>
          <a:noFill/>
          <a:ln/>
        </p:spPr>
        <p:txBody>
          <a:bodyPr wrap="square" lIns="0" tIns="0" rIns="0" bIns="0" rtlCol="0" anchor="ctr"/>
          <a:lstStyle/>
          <a:p>
            <a:pPr marL="0" indent="0">
              <a:buNone/>
            </a:pPr>
            <a:r>
              <a:rPr lang="en-US" sz="1050" dirty="0">
                <a:solidFill>
                  <a:srgbClr val="5A5A5A"/>
                </a:solidFill>
                <a:latin typeface="Aptos" pitchFamily="34" charset="0"/>
                <a:ea typeface="Aptos" pitchFamily="34" charset="-122"/>
                <a:cs typeface="Aptos" pitchFamily="34" charset="-120"/>
              </a:rPr>
              <a:t>Law as Governance Group</a:t>
            </a:r>
            <a:endParaRPr lang="en-US" sz="1050" dirty="0"/>
          </a:p>
        </p:txBody>
      </p:sp>
      <p:sp>
        <p:nvSpPr>
          <p:cNvPr id="3" name="Text 1"/>
          <p:cNvSpPr/>
          <p:nvPr/>
        </p:nvSpPr>
        <p:spPr>
          <a:xfrm>
            <a:off x="8229600" y="201168"/>
            <a:ext cx="3429000" cy="256032"/>
          </a:xfrm>
          <a:prstGeom prst="rect">
            <a:avLst/>
          </a:prstGeom>
          <a:noFill/>
          <a:ln/>
        </p:spPr>
        <p:txBody>
          <a:bodyPr wrap="square" lIns="0" tIns="0" rIns="0" bIns="0" rtlCol="0" anchor="ctr"/>
          <a:lstStyle/>
          <a:p>
            <a:pPr marL="0" indent="0" algn="r">
              <a:buNone/>
            </a:pPr>
            <a:r>
              <a:rPr lang="en-US" sz="1050" dirty="0">
                <a:solidFill>
                  <a:srgbClr val="5A5A5A"/>
                </a:solidFill>
                <a:latin typeface="Aptos" pitchFamily="34" charset="0"/>
                <a:ea typeface="Aptos" pitchFamily="34" charset="-122"/>
                <a:cs typeface="Aptos" pitchFamily="34" charset="-120"/>
              </a:rPr>
              <a:t>Igor — cumulative work</a:t>
            </a:r>
            <a:endParaRPr lang="en-US" sz="1050" dirty="0"/>
          </a:p>
        </p:txBody>
      </p:sp>
      <p:sp>
        <p:nvSpPr>
          <p:cNvPr id="4" name="Shape 2"/>
          <p:cNvSpPr/>
          <p:nvPr/>
        </p:nvSpPr>
        <p:spPr>
          <a:xfrm>
            <a:off x="502920" y="530352"/>
            <a:ext cx="11201400" cy="0"/>
          </a:xfrm>
          <a:prstGeom prst="line">
            <a:avLst/>
          </a:prstGeom>
          <a:noFill/>
          <a:ln w="12700">
            <a:solidFill>
              <a:srgbClr val="D4DAE0"/>
            </a:solidFill>
            <a:prstDash val="solid"/>
          </a:ln>
        </p:spPr>
      </p:sp>
      <p:sp>
        <p:nvSpPr>
          <p:cNvPr id="5" name="Text 3"/>
          <p:cNvSpPr/>
          <p:nvPr/>
        </p:nvSpPr>
        <p:spPr>
          <a:xfrm>
            <a:off x="502920" y="786384"/>
            <a:ext cx="8778240" cy="438912"/>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R1–R7 as a research pipeline</a:t>
            </a:r>
            <a:endParaRPr lang="en-US" sz="2600" dirty="0"/>
          </a:p>
        </p:txBody>
      </p:sp>
      <p:sp>
        <p:nvSpPr>
          <p:cNvPr id="6" name="Text 4"/>
          <p:cNvSpPr/>
          <p:nvPr/>
        </p:nvSpPr>
        <p:spPr>
          <a:xfrm>
            <a:off x="521208" y="1261872"/>
            <a:ext cx="10607040" cy="347472"/>
          </a:xfrm>
          <a:prstGeom prst="rect">
            <a:avLst/>
          </a:prstGeom>
          <a:noFill/>
          <a:ln/>
        </p:spPr>
        <p:txBody>
          <a:bodyPr wrap="square" lIns="0" tIns="0" rIns="0" bIns="0" rtlCol="0" anchor="ctr"/>
          <a:lstStyle/>
          <a:p>
            <a:pPr marL="0" indent="0">
              <a:buNone/>
            </a:pPr>
            <a:r>
              <a:rPr lang="en-US" sz="1600" dirty="0">
                <a:solidFill>
                  <a:srgbClr val="5A5A5A"/>
                </a:solidFill>
                <a:latin typeface="Aptos" pitchFamily="34" charset="0"/>
                <a:ea typeface="Aptos" pitchFamily="34" charset="-122"/>
                <a:cs typeface="Aptos" pitchFamily="34" charset="-120"/>
              </a:rPr>
              <a:t>Each round solves a different problem rather than repeating the same task.</a:t>
            </a:r>
            <a:endParaRPr lang="en-US" sz="1600" dirty="0"/>
          </a:p>
        </p:txBody>
      </p:sp>
      <p:sp>
        <p:nvSpPr>
          <p:cNvPr id="7" name="Shape 5"/>
          <p:cNvSpPr/>
          <p:nvPr/>
        </p:nvSpPr>
        <p:spPr>
          <a:xfrm>
            <a:off x="685800" y="1719072"/>
            <a:ext cx="1005840" cy="402336"/>
          </a:xfrm>
          <a:prstGeom prst="roundRect">
            <a:avLst>
              <a:gd name="adj" fmla="val 11364"/>
            </a:avLst>
          </a:prstGeom>
          <a:solidFill>
            <a:srgbClr val="D9EAF7"/>
          </a:solidFill>
          <a:ln w="12700">
            <a:solidFill>
              <a:srgbClr val="C8D1DA"/>
            </a:solidFill>
            <a:prstDash val="solid"/>
          </a:ln>
        </p:spPr>
      </p:sp>
      <p:sp>
        <p:nvSpPr>
          <p:cNvPr id="8" name="Text 6"/>
          <p:cNvSpPr/>
          <p:nvPr/>
        </p:nvSpPr>
        <p:spPr>
          <a:xfrm>
            <a:off x="685800" y="1810512"/>
            <a:ext cx="1005840" cy="146304"/>
          </a:xfrm>
          <a:prstGeom prst="rect">
            <a:avLst/>
          </a:prstGeom>
          <a:noFill/>
          <a:ln/>
        </p:spPr>
        <p:txBody>
          <a:bodyPr wrap="square" lIns="0" tIns="0" rIns="0" bIns="0" rtlCol="0" anchor="ctr"/>
          <a:lstStyle/>
          <a:p>
            <a:pPr marL="0" indent="0" algn="ctr">
              <a:buNone/>
            </a:pPr>
            <a:r>
              <a:rPr lang="en-US" sz="1600" b="1" dirty="0">
                <a:solidFill>
                  <a:srgbClr val="17365D"/>
                </a:solidFill>
              </a:rPr>
              <a:t>R1</a:t>
            </a:r>
            <a:endParaRPr lang="en-US" sz="1600" dirty="0"/>
          </a:p>
        </p:txBody>
      </p:sp>
      <p:sp>
        <p:nvSpPr>
          <p:cNvPr id="9" name="Text 7"/>
          <p:cNvSpPr/>
          <p:nvPr/>
        </p:nvSpPr>
        <p:spPr>
          <a:xfrm>
            <a:off x="1874520" y="1755648"/>
            <a:ext cx="3931920" cy="256032"/>
          </a:xfrm>
          <a:prstGeom prst="rect">
            <a:avLst/>
          </a:prstGeom>
          <a:noFill/>
          <a:ln/>
        </p:spPr>
        <p:txBody>
          <a:bodyPr wrap="square" lIns="0" tIns="0" rIns="0" bIns="0" rtlCol="0" anchor="ctr">
            <a:normAutofit/>
          </a:bodyPr>
          <a:lstStyle/>
          <a:p>
            <a:pPr marL="0" indent="0">
              <a:buNone/>
            </a:pPr>
            <a:r>
              <a:rPr lang="en-US" sz="1600" b="1" dirty="0">
                <a:solidFill>
                  <a:srgbClr val="17365D"/>
                </a:solidFill>
              </a:rPr>
              <a:t>Define legal universe</a:t>
            </a:r>
            <a:endParaRPr lang="en-US" sz="1600" dirty="0"/>
          </a:p>
        </p:txBody>
      </p:sp>
      <p:sp>
        <p:nvSpPr>
          <p:cNvPr id="10" name="Text 8"/>
          <p:cNvSpPr/>
          <p:nvPr/>
        </p:nvSpPr>
        <p:spPr>
          <a:xfrm>
            <a:off x="6217920" y="1755648"/>
            <a:ext cx="4846320" cy="256032"/>
          </a:xfrm>
          <a:prstGeom prst="rect">
            <a:avLst/>
          </a:prstGeom>
          <a:noFill/>
          <a:ln/>
        </p:spPr>
        <p:txBody>
          <a:bodyPr wrap="square" lIns="0" tIns="0" rIns="0" bIns="0" rtlCol="0" anchor="ctr">
            <a:normAutofit/>
          </a:bodyPr>
          <a:lstStyle/>
          <a:p>
            <a:pPr marL="0" indent="0">
              <a:buNone/>
            </a:pPr>
            <a:r>
              <a:rPr lang="en-US" sz="1520" dirty="0">
                <a:solidFill>
                  <a:srgbClr val="222222"/>
                </a:solidFill>
              </a:rPr>
              <a:t>Avoid biased case selection</a:t>
            </a:r>
            <a:endParaRPr lang="en-US" sz="1520" dirty="0"/>
          </a:p>
        </p:txBody>
      </p:sp>
      <p:sp>
        <p:nvSpPr>
          <p:cNvPr id="11" name="Shape 9"/>
          <p:cNvSpPr/>
          <p:nvPr/>
        </p:nvSpPr>
        <p:spPr>
          <a:xfrm>
            <a:off x="685800" y="2304288"/>
            <a:ext cx="1005840" cy="402336"/>
          </a:xfrm>
          <a:prstGeom prst="roundRect">
            <a:avLst>
              <a:gd name="adj" fmla="val 11364"/>
            </a:avLst>
          </a:prstGeom>
          <a:solidFill>
            <a:srgbClr val="D9EAF7"/>
          </a:solidFill>
          <a:ln w="12700">
            <a:solidFill>
              <a:srgbClr val="C8D1DA"/>
            </a:solidFill>
            <a:prstDash val="solid"/>
          </a:ln>
        </p:spPr>
      </p:sp>
      <p:sp>
        <p:nvSpPr>
          <p:cNvPr id="12" name="Text 10"/>
          <p:cNvSpPr/>
          <p:nvPr/>
        </p:nvSpPr>
        <p:spPr>
          <a:xfrm>
            <a:off x="685800" y="2395728"/>
            <a:ext cx="1005840" cy="146304"/>
          </a:xfrm>
          <a:prstGeom prst="rect">
            <a:avLst/>
          </a:prstGeom>
          <a:noFill/>
          <a:ln/>
        </p:spPr>
        <p:txBody>
          <a:bodyPr wrap="square" lIns="0" tIns="0" rIns="0" bIns="0" rtlCol="0" anchor="ctr"/>
          <a:lstStyle/>
          <a:p>
            <a:pPr marL="0" indent="0" algn="ctr">
              <a:buNone/>
            </a:pPr>
            <a:r>
              <a:rPr lang="en-US" sz="1600" b="1" dirty="0">
                <a:solidFill>
                  <a:srgbClr val="17365D"/>
                </a:solidFill>
              </a:rPr>
              <a:t>R2</a:t>
            </a:r>
            <a:endParaRPr lang="en-US" sz="1600" dirty="0"/>
          </a:p>
        </p:txBody>
      </p:sp>
      <p:sp>
        <p:nvSpPr>
          <p:cNvPr id="13" name="Text 11"/>
          <p:cNvSpPr/>
          <p:nvPr/>
        </p:nvSpPr>
        <p:spPr>
          <a:xfrm>
            <a:off x="1874520" y="2340864"/>
            <a:ext cx="3931920" cy="256032"/>
          </a:xfrm>
          <a:prstGeom prst="rect">
            <a:avLst/>
          </a:prstGeom>
          <a:noFill/>
          <a:ln/>
        </p:spPr>
        <p:txBody>
          <a:bodyPr wrap="square" lIns="0" tIns="0" rIns="0" bIns="0" rtlCol="0" anchor="ctr">
            <a:normAutofit/>
          </a:bodyPr>
          <a:lstStyle/>
          <a:p>
            <a:pPr marL="0" indent="0">
              <a:buNone/>
            </a:pPr>
            <a:r>
              <a:rPr lang="en-US" sz="1600" b="1" dirty="0">
                <a:solidFill>
                  <a:srgbClr val="17365D"/>
                </a:solidFill>
              </a:rPr>
              <a:t>Calibrate relational rules</a:t>
            </a:r>
            <a:endParaRPr lang="en-US" sz="1600" dirty="0"/>
          </a:p>
        </p:txBody>
      </p:sp>
      <p:sp>
        <p:nvSpPr>
          <p:cNvPr id="14" name="Text 12"/>
          <p:cNvSpPr/>
          <p:nvPr/>
        </p:nvSpPr>
        <p:spPr>
          <a:xfrm>
            <a:off x="6217920" y="2340864"/>
            <a:ext cx="4846320" cy="256032"/>
          </a:xfrm>
          <a:prstGeom prst="rect">
            <a:avLst/>
          </a:prstGeom>
          <a:noFill/>
          <a:ln/>
        </p:spPr>
        <p:txBody>
          <a:bodyPr wrap="square" lIns="0" tIns="0" rIns="0" bIns="0" rtlCol="0" anchor="ctr">
            <a:normAutofit/>
          </a:bodyPr>
          <a:lstStyle/>
          <a:p>
            <a:pPr marL="0" indent="0">
              <a:buNone/>
            </a:pPr>
            <a:r>
              <a:rPr lang="en-US" sz="1520" dirty="0">
                <a:solidFill>
                  <a:srgbClr val="222222"/>
                </a:solidFill>
              </a:rPr>
              <a:t>Avoid actor-first classification</a:t>
            </a:r>
            <a:endParaRPr lang="en-US" sz="1520" dirty="0"/>
          </a:p>
        </p:txBody>
      </p:sp>
      <p:sp>
        <p:nvSpPr>
          <p:cNvPr id="15" name="Shape 13"/>
          <p:cNvSpPr/>
          <p:nvPr/>
        </p:nvSpPr>
        <p:spPr>
          <a:xfrm>
            <a:off x="685800" y="2889504"/>
            <a:ext cx="1005840" cy="402336"/>
          </a:xfrm>
          <a:prstGeom prst="roundRect">
            <a:avLst>
              <a:gd name="adj" fmla="val 11364"/>
            </a:avLst>
          </a:prstGeom>
          <a:solidFill>
            <a:srgbClr val="D9EAF7"/>
          </a:solidFill>
          <a:ln w="12700">
            <a:solidFill>
              <a:srgbClr val="C8D1DA"/>
            </a:solidFill>
            <a:prstDash val="solid"/>
          </a:ln>
        </p:spPr>
      </p:sp>
      <p:sp>
        <p:nvSpPr>
          <p:cNvPr id="16" name="Text 14"/>
          <p:cNvSpPr/>
          <p:nvPr/>
        </p:nvSpPr>
        <p:spPr>
          <a:xfrm>
            <a:off x="685800" y="2980944"/>
            <a:ext cx="1005840" cy="146304"/>
          </a:xfrm>
          <a:prstGeom prst="rect">
            <a:avLst/>
          </a:prstGeom>
          <a:noFill/>
          <a:ln/>
        </p:spPr>
        <p:txBody>
          <a:bodyPr wrap="square" lIns="0" tIns="0" rIns="0" bIns="0" rtlCol="0" anchor="ctr"/>
          <a:lstStyle/>
          <a:p>
            <a:pPr marL="0" indent="0" algn="ctr">
              <a:buNone/>
            </a:pPr>
            <a:r>
              <a:rPr lang="en-US" sz="1600" b="1" dirty="0">
                <a:solidFill>
                  <a:srgbClr val="17365D"/>
                </a:solidFill>
              </a:rPr>
              <a:t>R3</a:t>
            </a:r>
            <a:endParaRPr lang="en-US" sz="1600" dirty="0"/>
          </a:p>
        </p:txBody>
      </p:sp>
      <p:sp>
        <p:nvSpPr>
          <p:cNvPr id="17" name="Text 15"/>
          <p:cNvSpPr/>
          <p:nvPr/>
        </p:nvSpPr>
        <p:spPr>
          <a:xfrm>
            <a:off x="1874520" y="2926080"/>
            <a:ext cx="3931920" cy="256032"/>
          </a:xfrm>
          <a:prstGeom prst="rect">
            <a:avLst/>
          </a:prstGeom>
          <a:noFill/>
          <a:ln/>
        </p:spPr>
        <p:txBody>
          <a:bodyPr wrap="square" lIns="0" tIns="0" rIns="0" bIns="0" rtlCol="0" anchor="ctr">
            <a:normAutofit/>
          </a:bodyPr>
          <a:lstStyle/>
          <a:p>
            <a:pPr marL="0" indent="0">
              <a:buNone/>
            </a:pPr>
            <a:r>
              <a:rPr lang="en-US" sz="1600" b="1" dirty="0">
                <a:solidFill>
                  <a:srgbClr val="17365D"/>
                </a:solidFill>
              </a:rPr>
              <a:t>Build architecture dataset</a:t>
            </a:r>
            <a:endParaRPr lang="en-US" sz="1600" dirty="0"/>
          </a:p>
        </p:txBody>
      </p:sp>
      <p:sp>
        <p:nvSpPr>
          <p:cNvPr id="18" name="Text 16"/>
          <p:cNvSpPr/>
          <p:nvPr/>
        </p:nvSpPr>
        <p:spPr>
          <a:xfrm>
            <a:off x="6217920" y="2926080"/>
            <a:ext cx="4846320" cy="256032"/>
          </a:xfrm>
          <a:prstGeom prst="rect">
            <a:avLst/>
          </a:prstGeom>
          <a:noFill/>
          <a:ln/>
        </p:spPr>
        <p:txBody>
          <a:bodyPr wrap="square" lIns="0" tIns="0" rIns="0" bIns="0" rtlCol="0" anchor="ctr">
            <a:normAutofit/>
          </a:bodyPr>
          <a:lstStyle/>
          <a:p>
            <a:pPr marL="0" indent="0">
              <a:buNone/>
            </a:pPr>
            <a:r>
              <a:rPr lang="en-US" sz="1520" dirty="0">
                <a:solidFill>
                  <a:srgbClr val="222222"/>
                </a:solidFill>
              </a:rPr>
              <a:t>Avoid flat spreadsheet logic</a:t>
            </a:r>
            <a:endParaRPr lang="en-US" sz="1520" dirty="0"/>
          </a:p>
        </p:txBody>
      </p:sp>
      <p:sp>
        <p:nvSpPr>
          <p:cNvPr id="19" name="Shape 17"/>
          <p:cNvSpPr/>
          <p:nvPr/>
        </p:nvSpPr>
        <p:spPr>
          <a:xfrm>
            <a:off x="685800" y="3474720"/>
            <a:ext cx="1005840" cy="402336"/>
          </a:xfrm>
          <a:prstGeom prst="roundRect">
            <a:avLst>
              <a:gd name="adj" fmla="val 11364"/>
            </a:avLst>
          </a:prstGeom>
          <a:solidFill>
            <a:srgbClr val="D9EAF7"/>
          </a:solidFill>
          <a:ln w="12700">
            <a:solidFill>
              <a:srgbClr val="C8D1DA"/>
            </a:solidFill>
            <a:prstDash val="solid"/>
          </a:ln>
        </p:spPr>
      </p:sp>
      <p:sp>
        <p:nvSpPr>
          <p:cNvPr id="20" name="Text 18"/>
          <p:cNvSpPr/>
          <p:nvPr/>
        </p:nvSpPr>
        <p:spPr>
          <a:xfrm>
            <a:off x="685800" y="3566160"/>
            <a:ext cx="1005840" cy="146304"/>
          </a:xfrm>
          <a:prstGeom prst="rect">
            <a:avLst/>
          </a:prstGeom>
          <a:noFill/>
          <a:ln/>
        </p:spPr>
        <p:txBody>
          <a:bodyPr wrap="square" lIns="0" tIns="0" rIns="0" bIns="0" rtlCol="0" anchor="ctr"/>
          <a:lstStyle/>
          <a:p>
            <a:pPr marL="0" indent="0" algn="ctr">
              <a:buNone/>
            </a:pPr>
            <a:r>
              <a:rPr lang="en-US" sz="1600" b="1" dirty="0">
                <a:solidFill>
                  <a:srgbClr val="17365D"/>
                </a:solidFill>
              </a:rPr>
              <a:t>R4</a:t>
            </a:r>
            <a:endParaRPr lang="en-US" sz="1600" dirty="0"/>
          </a:p>
        </p:txBody>
      </p:sp>
      <p:sp>
        <p:nvSpPr>
          <p:cNvPr id="21" name="Text 19"/>
          <p:cNvSpPr/>
          <p:nvPr/>
        </p:nvSpPr>
        <p:spPr>
          <a:xfrm>
            <a:off x="1874520" y="3511296"/>
            <a:ext cx="3931920" cy="256032"/>
          </a:xfrm>
          <a:prstGeom prst="rect">
            <a:avLst/>
          </a:prstGeom>
          <a:noFill/>
          <a:ln/>
        </p:spPr>
        <p:txBody>
          <a:bodyPr wrap="square" lIns="0" tIns="0" rIns="0" bIns="0" rtlCol="0" anchor="ctr">
            <a:normAutofit/>
          </a:bodyPr>
          <a:lstStyle/>
          <a:p>
            <a:pPr marL="0" indent="0">
              <a:buNone/>
            </a:pPr>
            <a:r>
              <a:rPr lang="en-US" sz="1600" b="1" dirty="0">
                <a:solidFill>
                  <a:srgbClr val="17365D"/>
                </a:solidFill>
              </a:rPr>
              <a:t>Validate portability</a:t>
            </a:r>
            <a:endParaRPr lang="en-US" sz="1600" dirty="0"/>
          </a:p>
        </p:txBody>
      </p:sp>
      <p:sp>
        <p:nvSpPr>
          <p:cNvPr id="22" name="Text 20"/>
          <p:cNvSpPr/>
          <p:nvPr/>
        </p:nvSpPr>
        <p:spPr>
          <a:xfrm>
            <a:off x="6217920" y="3511296"/>
            <a:ext cx="4846320" cy="256032"/>
          </a:xfrm>
          <a:prstGeom prst="rect">
            <a:avLst/>
          </a:prstGeom>
          <a:noFill/>
          <a:ln/>
        </p:spPr>
        <p:txBody>
          <a:bodyPr wrap="square" lIns="0" tIns="0" rIns="0" bIns="0" rtlCol="0" anchor="ctr">
            <a:normAutofit/>
          </a:bodyPr>
          <a:lstStyle/>
          <a:p>
            <a:pPr marL="0" indent="0">
              <a:buNone/>
            </a:pPr>
            <a:r>
              <a:rPr lang="en-US" sz="1520" dirty="0">
                <a:solidFill>
                  <a:srgbClr val="222222"/>
                </a:solidFill>
              </a:rPr>
              <a:t>Avoid bloated variables</a:t>
            </a:r>
            <a:endParaRPr lang="en-US" sz="1520" dirty="0"/>
          </a:p>
        </p:txBody>
      </p:sp>
      <p:sp>
        <p:nvSpPr>
          <p:cNvPr id="23" name="Shape 21"/>
          <p:cNvSpPr/>
          <p:nvPr/>
        </p:nvSpPr>
        <p:spPr>
          <a:xfrm>
            <a:off x="685800" y="4059936"/>
            <a:ext cx="1005840" cy="402336"/>
          </a:xfrm>
          <a:prstGeom prst="roundRect">
            <a:avLst>
              <a:gd name="adj" fmla="val 11364"/>
            </a:avLst>
          </a:prstGeom>
          <a:solidFill>
            <a:srgbClr val="F7E5B7"/>
          </a:solidFill>
          <a:ln w="12700">
            <a:solidFill>
              <a:srgbClr val="C8D1DA"/>
            </a:solidFill>
            <a:prstDash val="solid"/>
          </a:ln>
        </p:spPr>
      </p:sp>
      <p:sp>
        <p:nvSpPr>
          <p:cNvPr id="24" name="Text 22"/>
          <p:cNvSpPr/>
          <p:nvPr/>
        </p:nvSpPr>
        <p:spPr>
          <a:xfrm>
            <a:off x="685800" y="4151376"/>
            <a:ext cx="1005840" cy="146304"/>
          </a:xfrm>
          <a:prstGeom prst="rect">
            <a:avLst/>
          </a:prstGeom>
          <a:noFill/>
          <a:ln/>
        </p:spPr>
        <p:txBody>
          <a:bodyPr wrap="square" lIns="0" tIns="0" rIns="0" bIns="0" rtlCol="0" anchor="ctr"/>
          <a:lstStyle/>
          <a:p>
            <a:pPr marL="0" indent="0" algn="ctr">
              <a:buNone/>
            </a:pPr>
            <a:r>
              <a:rPr lang="en-US" sz="1600" b="1" dirty="0">
                <a:solidFill>
                  <a:srgbClr val="17365D"/>
                </a:solidFill>
              </a:rPr>
              <a:t>R5</a:t>
            </a:r>
            <a:endParaRPr lang="en-US" sz="1600" dirty="0"/>
          </a:p>
        </p:txBody>
      </p:sp>
      <p:sp>
        <p:nvSpPr>
          <p:cNvPr id="25" name="Text 23"/>
          <p:cNvSpPr/>
          <p:nvPr/>
        </p:nvSpPr>
        <p:spPr>
          <a:xfrm>
            <a:off x="1874520" y="4096512"/>
            <a:ext cx="3931920" cy="256032"/>
          </a:xfrm>
          <a:prstGeom prst="rect">
            <a:avLst/>
          </a:prstGeom>
          <a:noFill/>
          <a:ln/>
        </p:spPr>
        <p:txBody>
          <a:bodyPr wrap="square" lIns="0" tIns="0" rIns="0" bIns="0" rtlCol="0" anchor="ctr">
            <a:normAutofit/>
          </a:bodyPr>
          <a:lstStyle/>
          <a:p>
            <a:pPr marL="0" indent="0">
              <a:buNone/>
            </a:pPr>
            <a:r>
              <a:rPr lang="en-US" sz="1600" b="1" dirty="0">
                <a:solidFill>
                  <a:srgbClr val="17365D"/>
                </a:solidFill>
              </a:rPr>
              <a:t>Compare methods</a:t>
            </a:r>
            <a:endParaRPr lang="en-US" sz="1600" dirty="0"/>
          </a:p>
        </p:txBody>
      </p:sp>
      <p:sp>
        <p:nvSpPr>
          <p:cNvPr id="26" name="Text 24"/>
          <p:cNvSpPr/>
          <p:nvPr/>
        </p:nvSpPr>
        <p:spPr>
          <a:xfrm>
            <a:off x="6217920" y="4096512"/>
            <a:ext cx="4846320" cy="256032"/>
          </a:xfrm>
          <a:prstGeom prst="rect">
            <a:avLst/>
          </a:prstGeom>
          <a:noFill/>
          <a:ln/>
        </p:spPr>
        <p:txBody>
          <a:bodyPr wrap="square" lIns="0" tIns="0" rIns="0" bIns="0" rtlCol="0" anchor="ctr">
            <a:normAutofit/>
          </a:bodyPr>
          <a:lstStyle/>
          <a:p>
            <a:pPr marL="0" indent="0">
              <a:buNone/>
            </a:pPr>
            <a:r>
              <a:rPr lang="en-US" sz="1520" dirty="0">
                <a:solidFill>
                  <a:srgbClr val="222222"/>
                </a:solidFill>
              </a:rPr>
              <a:t>Avoid untested procedural claims</a:t>
            </a:r>
            <a:endParaRPr lang="en-US" sz="1520" dirty="0"/>
          </a:p>
        </p:txBody>
      </p:sp>
      <p:sp>
        <p:nvSpPr>
          <p:cNvPr id="27" name="Shape 25"/>
          <p:cNvSpPr/>
          <p:nvPr/>
        </p:nvSpPr>
        <p:spPr>
          <a:xfrm>
            <a:off x="685800" y="4645152"/>
            <a:ext cx="1005840" cy="402336"/>
          </a:xfrm>
          <a:prstGeom prst="roundRect">
            <a:avLst>
              <a:gd name="adj" fmla="val 11364"/>
            </a:avLst>
          </a:prstGeom>
          <a:solidFill>
            <a:srgbClr val="F7E5B7"/>
          </a:solidFill>
          <a:ln w="12700">
            <a:solidFill>
              <a:srgbClr val="C8D1DA"/>
            </a:solidFill>
            <a:prstDash val="solid"/>
          </a:ln>
        </p:spPr>
      </p:sp>
      <p:sp>
        <p:nvSpPr>
          <p:cNvPr id="28" name="Text 26"/>
          <p:cNvSpPr/>
          <p:nvPr/>
        </p:nvSpPr>
        <p:spPr>
          <a:xfrm>
            <a:off x="685800" y="4736592"/>
            <a:ext cx="1005840" cy="146304"/>
          </a:xfrm>
          <a:prstGeom prst="rect">
            <a:avLst/>
          </a:prstGeom>
          <a:noFill/>
          <a:ln/>
        </p:spPr>
        <p:txBody>
          <a:bodyPr wrap="square" lIns="0" tIns="0" rIns="0" bIns="0" rtlCol="0" anchor="ctr"/>
          <a:lstStyle/>
          <a:p>
            <a:pPr marL="0" indent="0" algn="ctr">
              <a:buNone/>
            </a:pPr>
            <a:r>
              <a:rPr lang="en-US" sz="1600" b="1" dirty="0">
                <a:solidFill>
                  <a:srgbClr val="17365D"/>
                </a:solidFill>
              </a:rPr>
              <a:t>R6</a:t>
            </a:r>
            <a:endParaRPr lang="en-US" sz="1600" dirty="0"/>
          </a:p>
        </p:txBody>
      </p:sp>
      <p:sp>
        <p:nvSpPr>
          <p:cNvPr id="29" name="Text 27"/>
          <p:cNvSpPr/>
          <p:nvPr/>
        </p:nvSpPr>
        <p:spPr>
          <a:xfrm>
            <a:off x="1874520" y="4681728"/>
            <a:ext cx="3931920" cy="256032"/>
          </a:xfrm>
          <a:prstGeom prst="rect">
            <a:avLst/>
          </a:prstGeom>
          <a:noFill/>
          <a:ln/>
        </p:spPr>
        <p:txBody>
          <a:bodyPr wrap="square" lIns="0" tIns="0" rIns="0" bIns="0" rtlCol="0" anchor="ctr">
            <a:normAutofit/>
          </a:bodyPr>
          <a:lstStyle/>
          <a:p>
            <a:pPr marL="0" indent="0">
              <a:buNone/>
            </a:pPr>
            <a:r>
              <a:rPr lang="en-US" sz="1600" b="1" dirty="0">
                <a:solidFill>
                  <a:srgbClr val="17365D"/>
                </a:solidFill>
              </a:rPr>
              <a:t>Protect inference</a:t>
            </a:r>
            <a:endParaRPr lang="en-US" sz="1600" dirty="0"/>
          </a:p>
        </p:txBody>
      </p:sp>
      <p:sp>
        <p:nvSpPr>
          <p:cNvPr id="30" name="Text 28"/>
          <p:cNvSpPr/>
          <p:nvPr/>
        </p:nvSpPr>
        <p:spPr>
          <a:xfrm>
            <a:off x="6217920" y="4681728"/>
            <a:ext cx="4846320" cy="256032"/>
          </a:xfrm>
          <a:prstGeom prst="rect">
            <a:avLst/>
          </a:prstGeom>
          <a:noFill/>
          <a:ln/>
        </p:spPr>
        <p:txBody>
          <a:bodyPr wrap="square" lIns="0" tIns="0" rIns="0" bIns="0" rtlCol="0" anchor="ctr">
            <a:normAutofit/>
          </a:bodyPr>
          <a:lstStyle/>
          <a:p>
            <a:pPr marL="0" indent="0">
              <a:buNone/>
            </a:pPr>
            <a:r>
              <a:rPr lang="en-US" sz="1520" dirty="0">
                <a:solidFill>
                  <a:srgbClr val="222222"/>
                </a:solidFill>
              </a:rPr>
              <a:t>Avoid architecture-by-default</a:t>
            </a:r>
            <a:endParaRPr lang="en-US" sz="1520" dirty="0"/>
          </a:p>
        </p:txBody>
      </p:sp>
      <p:sp>
        <p:nvSpPr>
          <p:cNvPr id="31" name="Shape 29"/>
          <p:cNvSpPr/>
          <p:nvPr/>
        </p:nvSpPr>
        <p:spPr>
          <a:xfrm>
            <a:off x="685800" y="5230368"/>
            <a:ext cx="1005840" cy="402336"/>
          </a:xfrm>
          <a:prstGeom prst="roundRect">
            <a:avLst>
              <a:gd name="adj" fmla="val 11364"/>
            </a:avLst>
          </a:prstGeom>
          <a:solidFill>
            <a:srgbClr val="DDEFD9"/>
          </a:solidFill>
          <a:ln w="12700">
            <a:solidFill>
              <a:srgbClr val="C8D1DA"/>
            </a:solidFill>
            <a:prstDash val="solid"/>
          </a:ln>
        </p:spPr>
      </p:sp>
      <p:sp>
        <p:nvSpPr>
          <p:cNvPr id="32" name="Text 30"/>
          <p:cNvSpPr/>
          <p:nvPr/>
        </p:nvSpPr>
        <p:spPr>
          <a:xfrm>
            <a:off x="685800" y="5321808"/>
            <a:ext cx="1005840" cy="146304"/>
          </a:xfrm>
          <a:prstGeom prst="rect">
            <a:avLst/>
          </a:prstGeom>
          <a:noFill/>
          <a:ln/>
        </p:spPr>
        <p:txBody>
          <a:bodyPr wrap="square" lIns="0" tIns="0" rIns="0" bIns="0" rtlCol="0" anchor="ctr"/>
          <a:lstStyle/>
          <a:p>
            <a:pPr marL="0" indent="0" algn="ctr">
              <a:buNone/>
            </a:pPr>
            <a:r>
              <a:rPr lang="en-US" sz="1600" b="1" dirty="0">
                <a:solidFill>
                  <a:srgbClr val="17365D"/>
                </a:solidFill>
              </a:rPr>
              <a:t>R7</a:t>
            </a:r>
            <a:endParaRPr lang="en-US" sz="1600" dirty="0"/>
          </a:p>
        </p:txBody>
      </p:sp>
      <p:sp>
        <p:nvSpPr>
          <p:cNvPr id="33" name="Text 31"/>
          <p:cNvSpPr/>
          <p:nvPr/>
        </p:nvSpPr>
        <p:spPr>
          <a:xfrm>
            <a:off x="1874520" y="5266944"/>
            <a:ext cx="3931920" cy="256032"/>
          </a:xfrm>
          <a:prstGeom prst="rect">
            <a:avLst/>
          </a:prstGeom>
          <a:noFill/>
          <a:ln/>
        </p:spPr>
        <p:txBody>
          <a:bodyPr wrap="square" lIns="0" tIns="0" rIns="0" bIns="0" rtlCol="0" anchor="ctr">
            <a:normAutofit/>
          </a:bodyPr>
          <a:lstStyle/>
          <a:p>
            <a:pPr marL="0" indent="0">
              <a:buNone/>
            </a:pPr>
            <a:r>
              <a:rPr lang="en-US" sz="1600" b="1" dirty="0">
                <a:solidFill>
                  <a:srgbClr val="17365D"/>
                </a:solidFill>
              </a:rPr>
              <a:t>Turn to substance</a:t>
            </a:r>
            <a:endParaRPr lang="en-US" sz="1600" dirty="0"/>
          </a:p>
        </p:txBody>
      </p:sp>
      <p:sp>
        <p:nvSpPr>
          <p:cNvPr id="34" name="Text 32"/>
          <p:cNvSpPr/>
          <p:nvPr/>
        </p:nvSpPr>
        <p:spPr>
          <a:xfrm>
            <a:off x="6217920" y="5266944"/>
            <a:ext cx="4846320" cy="256032"/>
          </a:xfrm>
          <a:prstGeom prst="rect">
            <a:avLst/>
          </a:prstGeom>
          <a:noFill/>
          <a:ln/>
        </p:spPr>
        <p:txBody>
          <a:bodyPr wrap="square" lIns="0" tIns="0" rIns="0" bIns="0" rtlCol="0" anchor="ctr">
            <a:normAutofit/>
          </a:bodyPr>
          <a:lstStyle/>
          <a:p>
            <a:pPr marL="0" indent="0">
              <a:buNone/>
            </a:pPr>
            <a:r>
              <a:rPr lang="en-US" sz="1520" dirty="0">
                <a:solidFill>
                  <a:srgbClr val="222222"/>
                </a:solidFill>
              </a:rPr>
              <a:t>Build theory of intermediation</a:t>
            </a:r>
            <a:endParaRPr lang="en-US" sz="1520" dirty="0"/>
          </a:p>
        </p:txBody>
      </p:sp>
      <p:sp>
        <p:nvSpPr>
          <p:cNvPr id="35" name="Text 33"/>
          <p:cNvSpPr/>
          <p:nvPr/>
        </p:nvSpPr>
        <p:spPr>
          <a:xfrm>
            <a:off x="502920" y="6492240"/>
            <a:ext cx="11201400" cy="228600"/>
          </a:xfrm>
          <a:prstGeom prst="rect">
            <a:avLst/>
          </a:prstGeom>
          <a:noFill/>
          <a:ln/>
        </p:spPr>
        <p:txBody>
          <a:bodyPr wrap="square" lIns="0" tIns="0" rIns="0" bIns="0" rtlCol="0" anchor="ctr">
            <a:normAutofit/>
          </a:bodyPr>
          <a:lstStyle/>
          <a:p>
            <a:pPr marL="0" indent="0">
              <a:buNone/>
            </a:pPr>
            <a:r>
              <a:rPr lang="en-US" sz="850" dirty="0">
                <a:solidFill>
                  <a:srgbClr val="777777"/>
                </a:solidFill>
                <a:latin typeface="Aptos" pitchFamily="34" charset="0"/>
                <a:ea typeface="Aptos" pitchFamily="34" charset="-122"/>
                <a:cs typeface="Aptos" pitchFamily="34" charset="-120"/>
              </a:rPr>
              <a:t>Synthesis of R1–R7 contributions.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01168"/>
            <a:ext cx="4389120" cy="256032"/>
          </a:xfrm>
          <a:prstGeom prst="rect">
            <a:avLst/>
          </a:prstGeom>
          <a:noFill/>
          <a:ln/>
        </p:spPr>
        <p:txBody>
          <a:bodyPr wrap="square" lIns="0" tIns="0" rIns="0" bIns="0" rtlCol="0" anchor="ctr"/>
          <a:lstStyle/>
          <a:p>
            <a:pPr marL="0" indent="0">
              <a:buNone/>
            </a:pPr>
            <a:r>
              <a:rPr lang="en-US" sz="1050" dirty="0">
                <a:solidFill>
                  <a:srgbClr val="5A5A5A"/>
                </a:solidFill>
                <a:latin typeface="Aptos" pitchFamily="34" charset="0"/>
                <a:ea typeface="Aptos" pitchFamily="34" charset="-122"/>
                <a:cs typeface="Aptos" pitchFamily="34" charset="-120"/>
              </a:rPr>
              <a:t>Law as Governance Group</a:t>
            </a:r>
            <a:endParaRPr lang="en-US" sz="1050" dirty="0"/>
          </a:p>
        </p:txBody>
      </p:sp>
      <p:sp>
        <p:nvSpPr>
          <p:cNvPr id="3" name="Text 1"/>
          <p:cNvSpPr/>
          <p:nvPr/>
        </p:nvSpPr>
        <p:spPr>
          <a:xfrm>
            <a:off x="8229600" y="201168"/>
            <a:ext cx="3429000" cy="256032"/>
          </a:xfrm>
          <a:prstGeom prst="rect">
            <a:avLst/>
          </a:prstGeom>
          <a:noFill/>
          <a:ln/>
        </p:spPr>
        <p:txBody>
          <a:bodyPr wrap="square" lIns="0" tIns="0" rIns="0" bIns="0" rtlCol="0" anchor="ctr"/>
          <a:lstStyle/>
          <a:p>
            <a:pPr marL="0" indent="0" algn="r">
              <a:buNone/>
            </a:pPr>
            <a:r>
              <a:rPr lang="en-US" sz="1050" dirty="0">
                <a:solidFill>
                  <a:srgbClr val="5A5A5A"/>
                </a:solidFill>
                <a:latin typeface="Aptos" pitchFamily="34" charset="0"/>
                <a:ea typeface="Aptos" pitchFamily="34" charset="-122"/>
                <a:cs typeface="Aptos" pitchFamily="34" charset="-120"/>
              </a:rPr>
              <a:t>Igor — cumulative work</a:t>
            </a:r>
            <a:endParaRPr lang="en-US" sz="1050" dirty="0"/>
          </a:p>
        </p:txBody>
      </p:sp>
      <p:sp>
        <p:nvSpPr>
          <p:cNvPr id="4" name="Shape 2"/>
          <p:cNvSpPr/>
          <p:nvPr/>
        </p:nvSpPr>
        <p:spPr>
          <a:xfrm>
            <a:off x="502920" y="530352"/>
            <a:ext cx="11201400" cy="0"/>
          </a:xfrm>
          <a:prstGeom prst="line">
            <a:avLst/>
          </a:prstGeom>
          <a:noFill/>
          <a:ln w="12700">
            <a:solidFill>
              <a:srgbClr val="D4DAE0"/>
            </a:solidFill>
            <a:prstDash val="solid"/>
          </a:ln>
        </p:spPr>
      </p:sp>
      <p:sp>
        <p:nvSpPr>
          <p:cNvPr id="5" name="Text 3"/>
          <p:cNvSpPr/>
          <p:nvPr/>
        </p:nvSpPr>
        <p:spPr>
          <a:xfrm>
            <a:off x="502920" y="786384"/>
            <a:ext cx="8778240" cy="438912"/>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Igor’s variable architecture</a:t>
            </a:r>
            <a:endParaRPr lang="en-US" sz="2600" dirty="0"/>
          </a:p>
        </p:txBody>
      </p:sp>
      <p:sp>
        <p:nvSpPr>
          <p:cNvPr id="6" name="Text 4"/>
          <p:cNvSpPr/>
          <p:nvPr/>
        </p:nvSpPr>
        <p:spPr>
          <a:xfrm>
            <a:off x="521208" y="1261872"/>
            <a:ext cx="10607040" cy="347472"/>
          </a:xfrm>
          <a:prstGeom prst="rect">
            <a:avLst/>
          </a:prstGeom>
          <a:noFill/>
          <a:ln/>
        </p:spPr>
        <p:txBody>
          <a:bodyPr wrap="square" lIns="0" tIns="0" rIns="0" bIns="0" rtlCol="0" anchor="ctr"/>
          <a:lstStyle/>
          <a:p>
            <a:pPr marL="0" indent="0">
              <a:buNone/>
            </a:pPr>
            <a:r>
              <a:rPr lang="en-US" sz="1600" dirty="0">
                <a:solidFill>
                  <a:srgbClr val="5A5A5A"/>
                </a:solidFill>
                <a:latin typeface="Aptos" pitchFamily="34" charset="0"/>
                <a:ea typeface="Aptos" pitchFamily="34" charset="-122"/>
                <a:cs typeface="Aptos" pitchFamily="34" charset="-120"/>
              </a:rPr>
              <a:t>Prioritized fields attach to the correct analytical level, not one flat table.</a:t>
            </a:r>
            <a:endParaRPr lang="en-US" sz="1600" dirty="0"/>
          </a:p>
        </p:txBody>
      </p:sp>
      <p:sp>
        <p:nvSpPr>
          <p:cNvPr id="7" name="Shape 5"/>
          <p:cNvSpPr/>
          <p:nvPr/>
        </p:nvSpPr>
        <p:spPr>
          <a:xfrm>
            <a:off x="548640" y="1691640"/>
            <a:ext cx="3383280" cy="841248"/>
          </a:xfrm>
          <a:prstGeom prst="roundRect">
            <a:avLst>
              <a:gd name="adj" fmla="val 8696"/>
            </a:avLst>
          </a:prstGeom>
          <a:solidFill>
            <a:srgbClr val="F4F7FA"/>
          </a:solidFill>
          <a:ln w="12700">
            <a:solidFill>
              <a:srgbClr val="D4DAE0"/>
            </a:solidFill>
            <a:prstDash val="solid"/>
          </a:ln>
        </p:spPr>
      </p:sp>
      <p:sp>
        <p:nvSpPr>
          <p:cNvPr id="8" name="Text 6"/>
          <p:cNvSpPr/>
          <p:nvPr/>
        </p:nvSpPr>
        <p:spPr>
          <a:xfrm>
            <a:off x="685800" y="1819656"/>
            <a:ext cx="3108960" cy="292608"/>
          </a:xfrm>
          <a:prstGeom prst="rect">
            <a:avLst/>
          </a:prstGeom>
          <a:noFill/>
          <a:ln/>
        </p:spPr>
        <p:txBody>
          <a:bodyPr wrap="square" lIns="0" tIns="0" rIns="0" bIns="0" rtlCol="0" anchor="ctr">
            <a:normAutofit/>
          </a:bodyPr>
          <a:lstStyle/>
          <a:p>
            <a:pPr marL="0" indent="0">
              <a:buNone/>
            </a:pPr>
            <a:r>
              <a:rPr lang="en-US" sz="1550" b="1" dirty="0">
                <a:solidFill>
                  <a:srgbClr val="17365D"/>
                </a:solidFill>
                <a:latin typeface="Aptos Display" pitchFamily="34" charset="0"/>
                <a:ea typeface="Aptos Display" pitchFamily="34" charset="-122"/>
                <a:cs typeface="Aptos Display" pitchFamily="34" charset="-120"/>
              </a:rPr>
              <a:t>INSTRUMENT</a:t>
            </a:r>
            <a:endParaRPr lang="en-US" sz="1550" dirty="0"/>
          </a:p>
        </p:txBody>
      </p:sp>
      <p:sp>
        <p:nvSpPr>
          <p:cNvPr id="9" name="Text 7"/>
          <p:cNvSpPr/>
          <p:nvPr/>
        </p:nvSpPr>
        <p:spPr>
          <a:xfrm>
            <a:off x="685800" y="2167128"/>
            <a:ext cx="3108960" cy="274320"/>
          </a:xfrm>
          <a:prstGeom prst="rect">
            <a:avLst/>
          </a:prstGeom>
          <a:noFill/>
          <a:ln/>
        </p:spPr>
        <p:txBody>
          <a:bodyPr wrap="square" lIns="381" tIns="381" rIns="381" bIns="381" rtlCol="0" anchor="ctr">
            <a:normAutofit lnSpcReduction="10000"/>
          </a:bodyPr>
          <a:lstStyle/>
          <a:p>
            <a:pPr marL="0" indent="0">
              <a:buNone/>
            </a:pPr>
            <a:r>
              <a:rPr lang="en-US" sz="1800" dirty="0">
                <a:solidFill>
                  <a:srgbClr val="222222"/>
                </a:solidFill>
                <a:latin typeface="Aptos" pitchFamily="34" charset="0"/>
                <a:ea typeface="Aptos" pitchFamily="34" charset="-122"/>
                <a:cs typeface="Aptos" pitchFamily="34" charset="-120"/>
              </a:rPr>
              <a:t>14 fields</a:t>
            </a:r>
            <a:endParaRPr lang="en-US" sz="1800" dirty="0"/>
          </a:p>
        </p:txBody>
      </p:sp>
      <p:sp>
        <p:nvSpPr>
          <p:cNvPr id="10" name="Shape 8"/>
          <p:cNvSpPr/>
          <p:nvPr/>
        </p:nvSpPr>
        <p:spPr>
          <a:xfrm>
            <a:off x="4389120" y="1691640"/>
            <a:ext cx="3383280" cy="841248"/>
          </a:xfrm>
          <a:prstGeom prst="roundRect">
            <a:avLst>
              <a:gd name="adj" fmla="val 8696"/>
            </a:avLst>
          </a:prstGeom>
          <a:solidFill>
            <a:srgbClr val="F4F7FA"/>
          </a:solidFill>
          <a:ln w="12700">
            <a:solidFill>
              <a:srgbClr val="D4DAE0"/>
            </a:solidFill>
            <a:prstDash val="solid"/>
          </a:ln>
        </p:spPr>
      </p:sp>
      <p:sp>
        <p:nvSpPr>
          <p:cNvPr id="11" name="Text 9"/>
          <p:cNvSpPr/>
          <p:nvPr/>
        </p:nvSpPr>
        <p:spPr>
          <a:xfrm>
            <a:off x="4526280" y="1819656"/>
            <a:ext cx="3108960" cy="292608"/>
          </a:xfrm>
          <a:prstGeom prst="rect">
            <a:avLst/>
          </a:prstGeom>
          <a:noFill/>
          <a:ln/>
        </p:spPr>
        <p:txBody>
          <a:bodyPr wrap="square" lIns="0" tIns="0" rIns="0" bIns="0" rtlCol="0" anchor="ctr">
            <a:normAutofit/>
          </a:bodyPr>
          <a:lstStyle/>
          <a:p>
            <a:pPr marL="0" indent="0">
              <a:buNone/>
            </a:pPr>
            <a:r>
              <a:rPr lang="en-US" sz="1550" b="1" dirty="0">
                <a:solidFill>
                  <a:srgbClr val="17365D"/>
                </a:solidFill>
                <a:latin typeface="Aptos Display" pitchFamily="34" charset="0"/>
                <a:ea typeface="Aptos Display" pitchFamily="34" charset="-122"/>
                <a:cs typeface="Aptos Display" pitchFamily="34" charset="-120"/>
              </a:rPr>
              <a:t>ACTOR</a:t>
            </a:r>
            <a:endParaRPr lang="en-US" sz="1550" dirty="0"/>
          </a:p>
        </p:txBody>
      </p:sp>
      <p:sp>
        <p:nvSpPr>
          <p:cNvPr id="12" name="Text 10"/>
          <p:cNvSpPr/>
          <p:nvPr/>
        </p:nvSpPr>
        <p:spPr>
          <a:xfrm>
            <a:off x="4526280" y="2167128"/>
            <a:ext cx="3108960" cy="274320"/>
          </a:xfrm>
          <a:prstGeom prst="rect">
            <a:avLst/>
          </a:prstGeom>
          <a:noFill/>
          <a:ln/>
        </p:spPr>
        <p:txBody>
          <a:bodyPr wrap="square" lIns="381" tIns="381" rIns="381" bIns="381" rtlCol="0" anchor="ctr">
            <a:normAutofit lnSpcReduction="10000"/>
          </a:bodyPr>
          <a:lstStyle/>
          <a:p>
            <a:pPr marL="0" indent="0">
              <a:buNone/>
            </a:pPr>
            <a:r>
              <a:rPr lang="en-US" sz="1800" dirty="0">
                <a:solidFill>
                  <a:srgbClr val="222222"/>
                </a:solidFill>
                <a:latin typeface="Aptos" pitchFamily="34" charset="0"/>
                <a:ea typeface="Aptos" pitchFamily="34" charset="-122"/>
                <a:cs typeface="Aptos" pitchFamily="34" charset="-120"/>
              </a:rPr>
              <a:t>8 fields</a:t>
            </a:r>
            <a:endParaRPr lang="en-US" sz="1800" dirty="0"/>
          </a:p>
        </p:txBody>
      </p:sp>
      <p:sp>
        <p:nvSpPr>
          <p:cNvPr id="13" name="Shape 11"/>
          <p:cNvSpPr/>
          <p:nvPr/>
        </p:nvSpPr>
        <p:spPr>
          <a:xfrm>
            <a:off x="8229600" y="1691640"/>
            <a:ext cx="3383280" cy="841248"/>
          </a:xfrm>
          <a:prstGeom prst="roundRect">
            <a:avLst>
              <a:gd name="adj" fmla="val 8696"/>
            </a:avLst>
          </a:prstGeom>
          <a:solidFill>
            <a:srgbClr val="F4F7FA"/>
          </a:solidFill>
          <a:ln w="12700">
            <a:solidFill>
              <a:srgbClr val="D4DAE0"/>
            </a:solidFill>
            <a:prstDash val="solid"/>
          </a:ln>
        </p:spPr>
      </p:sp>
      <p:sp>
        <p:nvSpPr>
          <p:cNvPr id="14" name="Text 12"/>
          <p:cNvSpPr/>
          <p:nvPr/>
        </p:nvSpPr>
        <p:spPr>
          <a:xfrm>
            <a:off x="8366760" y="1819656"/>
            <a:ext cx="3108960" cy="292608"/>
          </a:xfrm>
          <a:prstGeom prst="rect">
            <a:avLst/>
          </a:prstGeom>
          <a:noFill/>
          <a:ln/>
        </p:spPr>
        <p:txBody>
          <a:bodyPr wrap="square" lIns="0" tIns="0" rIns="0" bIns="0" rtlCol="0" anchor="ctr">
            <a:normAutofit/>
          </a:bodyPr>
          <a:lstStyle/>
          <a:p>
            <a:pPr marL="0" indent="0">
              <a:buNone/>
            </a:pPr>
            <a:r>
              <a:rPr lang="en-US" sz="1550" b="1" dirty="0">
                <a:solidFill>
                  <a:srgbClr val="17365D"/>
                </a:solidFill>
                <a:latin typeface="Aptos Display" pitchFamily="34" charset="0"/>
                <a:ea typeface="Aptos Display" pitchFamily="34" charset="-122"/>
                <a:cs typeface="Aptos Display" pitchFamily="34" charset="-120"/>
              </a:rPr>
              <a:t>LAW × INTERMEDIARY</a:t>
            </a:r>
            <a:endParaRPr lang="en-US" sz="1550" dirty="0"/>
          </a:p>
        </p:txBody>
      </p:sp>
      <p:sp>
        <p:nvSpPr>
          <p:cNvPr id="15" name="Text 13"/>
          <p:cNvSpPr/>
          <p:nvPr/>
        </p:nvSpPr>
        <p:spPr>
          <a:xfrm>
            <a:off x="8366760" y="2167128"/>
            <a:ext cx="3108960" cy="274320"/>
          </a:xfrm>
          <a:prstGeom prst="rect">
            <a:avLst/>
          </a:prstGeom>
          <a:noFill/>
          <a:ln/>
        </p:spPr>
        <p:txBody>
          <a:bodyPr wrap="square" lIns="381" tIns="381" rIns="381" bIns="381" rtlCol="0" anchor="ctr">
            <a:normAutofit lnSpcReduction="10000"/>
          </a:bodyPr>
          <a:lstStyle/>
          <a:p>
            <a:pPr marL="0" indent="0">
              <a:buNone/>
            </a:pPr>
            <a:r>
              <a:rPr lang="en-US" sz="1800" dirty="0">
                <a:solidFill>
                  <a:srgbClr val="222222"/>
                </a:solidFill>
                <a:latin typeface="Aptos" pitchFamily="34" charset="0"/>
                <a:ea typeface="Aptos" pitchFamily="34" charset="-122"/>
                <a:cs typeface="Aptos" pitchFamily="34" charset="-120"/>
              </a:rPr>
              <a:t>17 fields</a:t>
            </a:r>
            <a:endParaRPr lang="en-US" sz="1800" dirty="0"/>
          </a:p>
        </p:txBody>
      </p:sp>
      <p:sp>
        <p:nvSpPr>
          <p:cNvPr id="16" name="Shape 14"/>
          <p:cNvSpPr/>
          <p:nvPr/>
        </p:nvSpPr>
        <p:spPr>
          <a:xfrm>
            <a:off x="548640" y="2862072"/>
            <a:ext cx="3383280" cy="841248"/>
          </a:xfrm>
          <a:prstGeom prst="roundRect">
            <a:avLst>
              <a:gd name="adj" fmla="val 8696"/>
            </a:avLst>
          </a:prstGeom>
          <a:solidFill>
            <a:srgbClr val="F7E5B7"/>
          </a:solidFill>
          <a:ln w="12700">
            <a:solidFill>
              <a:srgbClr val="D4DAE0"/>
            </a:solidFill>
            <a:prstDash val="solid"/>
          </a:ln>
        </p:spPr>
      </p:sp>
      <p:sp>
        <p:nvSpPr>
          <p:cNvPr id="17" name="Text 15"/>
          <p:cNvSpPr/>
          <p:nvPr/>
        </p:nvSpPr>
        <p:spPr>
          <a:xfrm>
            <a:off x="685800" y="2990088"/>
            <a:ext cx="3108960" cy="292608"/>
          </a:xfrm>
          <a:prstGeom prst="rect">
            <a:avLst/>
          </a:prstGeom>
          <a:noFill/>
          <a:ln/>
        </p:spPr>
        <p:txBody>
          <a:bodyPr wrap="square" lIns="0" tIns="0" rIns="0" bIns="0" rtlCol="0" anchor="ctr">
            <a:normAutofit/>
          </a:bodyPr>
          <a:lstStyle/>
          <a:p>
            <a:pPr marL="0" indent="0">
              <a:buNone/>
            </a:pPr>
            <a:r>
              <a:rPr lang="en-US" sz="1550" b="1" dirty="0">
                <a:solidFill>
                  <a:srgbClr val="17365D"/>
                </a:solidFill>
                <a:latin typeface="Aptos Display" pitchFamily="34" charset="0"/>
                <a:ea typeface="Aptos Display" pitchFamily="34" charset="-122"/>
                <a:cs typeface="Aptos Display" pitchFamily="34" charset="-120"/>
              </a:rPr>
              <a:t>REGULATORY RELATION</a:t>
            </a:r>
            <a:endParaRPr lang="en-US" sz="1550" dirty="0"/>
          </a:p>
        </p:txBody>
      </p:sp>
      <p:sp>
        <p:nvSpPr>
          <p:cNvPr id="18" name="Text 16"/>
          <p:cNvSpPr/>
          <p:nvPr/>
        </p:nvSpPr>
        <p:spPr>
          <a:xfrm>
            <a:off x="685800" y="3337560"/>
            <a:ext cx="3108960" cy="274320"/>
          </a:xfrm>
          <a:prstGeom prst="rect">
            <a:avLst/>
          </a:prstGeom>
          <a:noFill/>
          <a:ln/>
        </p:spPr>
        <p:txBody>
          <a:bodyPr wrap="square" lIns="381" tIns="381" rIns="381" bIns="381" rtlCol="0" anchor="ctr">
            <a:normAutofit lnSpcReduction="10000"/>
          </a:bodyPr>
          <a:lstStyle/>
          <a:p>
            <a:pPr marL="0" indent="0">
              <a:buNone/>
            </a:pPr>
            <a:r>
              <a:rPr lang="en-US" sz="1800" dirty="0">
                <a:solidFill>
                  <a:srgbClr val="222222"/>
                </a:solidFill>
                <a:latin typeface="Aptos" pitchFamily="34" charset="0"/>
                <a:ea typeface="Aptos" pitchFamily="34" charset="-122"/>
                <a:cs typeface="Aptos" pitchFamily="34" charset="-120"/>
              </a:rPr>
              <a:t>13 fields</a:t>
            </a:r>
            <a:endParaRPr lang="en-US" sz="1800" dirty="0"/>
          </a:p>
        </p:txBody>
      </p:sp>
      <p:sp>
        <p:nvSpPr>
          <p:cNvPr id="19" name="Shape 17"/>
          <p:cNvSpPr/>
          <p:nvPr/>
        </p:nvSpPr>
        <p:spPr>
          <a:xfrm>
            <a:off x="4389120" y="2862072"/>
            <a:ext cx="3383280" cy="841248"/>
          </a:xfrm>
          <a:prstGeom prst="roundRect">
            <a:avLst>
              <a:gd name="adj" fmla="val 8696"/>
            </a:avLst>
          </a:prstGeom>
          <a:solidFill>
            <a:srgbClr val="F7E5B7"/>
          </a:solidFill>
          <a:ln w="12700">
            <a:solidFill>
              <a:srgbClr val="D4DAE0"/>
            </a:solidFill>
            <a:prstDash val="solid"/>
          </a:ln>
        </p:spPr>
      </p:sp>
      <p:sp>
        <p:nvSpPr>
          <p:cNvPr id="20" name="Text 18"/>
          <p:cNvSpPr/>
          <p:nvPr/>
        </p:nvSpPr>
        <p:spPr>
          <a:xfrm>
            <a:off x="4526280" y="2990088"/>
            <a:ext cx="3108960" cy="292608"/>
          </a:xfrm>
          <a:prstGeom prst="rect">
            <a:avLst/>
          </a:prstGeom>
          <a:noFill/>
          <a:ln/>
        </p:spPr>
        <p:txBody>
          <a:bodyPr wrap="square" lIns="0" tIns="0" rIns="0" bIns="0" rtlCol="0" anchor="ctr">
            <a:normAutofit/>
          </a:bodyPr>
          <a:lstStyle/>
          <a:p>
            <a:pPr marL="0" indent="0">
              <a:buNone/>
            </a:pPr>
            <a:r>
              <a:rPr lang="en-US" sz="1550" b="1" dirty="0">
                <a:solidFill>
                  <a:srgbClr val="17365D"/>
                </a:solidFill>
                <a:latin typeface="Aptos Display" pitchFamily="34" charset="0"/>
                <a:ea typeface="Aptos Display" pitchFamily="34" charset="-122"/>
                <a:cs typeface="Aptos Display" pitchFamily="34" charset="-120"/>
              </a:rPr>
              <a:t>MECHANISM EVENT</a:t>
            </a:r>
            <a:endParaRPr lang="en-US" sz="1550" dirty="0"/>
          </a:p>
        </p:txBody>
      </p:sp>
      <p:sp>
        <p:nvSpPr>
          <p:cNvPr id="21" name="Text 19"/>
          <p:cNvSpPr/>
          <p:nvPr/>
        </p:nvSpPr>
        <p:spPr>
          <a:xfrm>
            <a:off x="4526280" y="3337560"/>
            <a:ext cx="3108960" cy="274320"/>
          </a:xfrm>
          <a:prstGeom prst="rect">
            <a:avLst/>
          </a:prstGeom>
          <a:noFill/>
          <a:ln/>
        </p:spPr>
        <p:txBody>
          <a:bodyPr wrap="square" lIns="381" tIns="381" rIns="381" bIns="381" rtlCol="0" anchor="ctr">
            <a:normAutofit lnSpcReduction="10000"/>
          </a:bodyPr>
          <a:lstStyle/>
          <a:p>
            <a:pPr marL="0" indent="0">
              <a:buNone/>
            </a:pPr>
            <a:r>
              <a:rPr lang="en-US" sz="1800" dirty="0">
                <a:solidFill>
                  <a:srgbClr val="222222"/>
                </a:solidFill>
                <a:latin typeface="Aptos" pitchFamily="34" charset="0"/>
                <a:ea typeface="Aptos" pitchFamily="34" charset="-122"/>
                <a:cs typeface="Aptos" pitchFamily="34" charset="-120"/>
              </a:rPr>
              <a:t>11 fields</a:t>
            </a:r>
            <a:endParaRPr lang="en-US" sz="1800" dirty="0"/>
          </a:p>
        </p:txBody>
      </p:sp>
      <p:sp>
        <p:nvSpPr>
          <p:cNvPr id="22" name="Shape 20"/>
          <p:cNvSpPr/>
          <p:nvPr/>
        </p:nvSpPr>
        <p:spPr>
          <a:xfrm>
            <a:off x="8229600" y="2862072"/>
            <a:ext cx="3383280" cy="841248"/>
          </a:xfrm>
          <a:prstGeom prst="roundRect">
            <a:avLst>
              <a:gd name="adj" fmla="val 8696"/>
            </a:avLst>
          </a:prstGeom>
          <a:solidFill>
            <a:srgbClr val="F7E5B7"/>
          </a:solidFill>
          <a:ln w="12700">
            <a:solidFill>
              <a:srgbClr val="D4DAE0"/>
            </a:solidFill>
            <a:prstDash val="solid"/>
          </a:ln>
        </p:spPr>
      </p:sp>
      <p:sp>
        <p:nvSpPr>
          <p:cNvPr id="23" name="Text 21"/>
          <p:cNvSpPr/>
          <p:nvPr/>
        </p:nvSpPr>
        <p:spPr>
          <a:xfrm>
            <a:off x="8366760" y="2990088"/>
            <a:ext cx="3108960" cy="292608"/>
          </a:xfrm>
          <a:prstGeom prst="rect">
            <a:avLst/>
          </a:prstGeom>
          <a:noFill/>
          <a:ln/>
        </p:spPr>
        <p:txBody>
          <a:bodyPr wrap="square" lIns="0" tIns="0" rIns="0" bIns="0" rtlCol="0" anchor="ctr">
            <a:normAutofit/>
          </a:bodyPr>
          <a:lstStyle/>
          <a:p>
            <a:pPr marL="0" indent="0">
              <a:buNone/>
            </a:pPr>
            <a:r>
              <a:rPr lang="en-US" sz="1550" b="1" dirty="0">
                <a:solidFill>
                  <a:srgbClr val="17365D"/>
                </a:solidFill>
                <a:latin typeface="Aptos Display" pitchFamily="34" charset="0"/>
                <a:ea typeface="Aptos Display" pitchFamily="34" charset="-122"/>
                <a:cs typeface="Aptos Display" pitchFamily="34" charset="-120"/>
              </a:rPr>
              <a:t>CONFIGURATION</a:t>
            </a:r>
            <a:endParaRPr lang="en-US" sz="1550" dirty="0"/>
          </a:p>
        </p:txBody>
      </p:sp>
      <p:sp>
        <p:nvSpPr>
          <p:cNvPr id="24" name="Text 22"/>
          <p:cNvSpPr/>
          <p:nvPr/>
        </p:nvSpPr>
        <p:spPr>
          <a:xfrm>
            <a:off x="8366760" y="3337560"/>
            <a:ext cx="3108960" cy="274320"/>
          </a:xfrm>
          <a:prstGeom prst="rect">
            <a:avLst/>
          </a:prstGeom>
          <a:noFill/>
          <a:ln/>
        </p:spPr>
        <p:txBody>
          <a:bodyPr wrap="square" lIns="381" tIns="381" rIns="381" bIns="381" rtlCol="0" anchor="ctr">
            <a:normAutofit lnSpcReduction="10000"/>
          </a:bodyPr>
          <a:lstStyle/>
          <a:p>
            <a:pPr marL="0" indent="0">
              <a:buNone/>
            </a:pPr>
            <a:r>
              <a:rPr lang="en-US" sz="1800" dirty="0">
                <a:solidFill>
                  <a:srgbClr val="222222"/>
                </a:solidFill>
                <a:latin typeface="Aptos" pitchFamily="34" charset="0"/>
                <a:ea typeface="Aptos" pitchFamily="34" charset="-122"/>
                <a:cs typeface="Aptos" pitchFamily="34" charset="-120"/>
              </a:rPr>
              <a:t>4 fields</a:t>
            </a:r>
            <a:endParaRPr lang="en-US" sz="1800" dirty="0"/>
          </a:p>
        </p:txBody>
      </p:sp>
      <p:sp>
        <p:nvSpPr>
          <p:cNvPr id="25" name="Shape 23"/>
          <p:cNvSpPr/>
          <p:nvPr/>
        </p:nvSpPr>
        <p:spPr>
          <a:xfrm>
            <a:off x="548640" y="4032504"/>
            <a:ext cx="3383280" cy="841248"/>
          </a:xfrm>
          <a:prstGeom prst="roundRect">
            <a:avLst>
              <a:gd name="adj" fmla="val 8696"/>
            </a:avLst>
          </a:prstGeom>
          <a:solidFill>
            <a:srgbClr val="DDEFD9"/>
          </a:solidFill>
          <a:ln w="12700">
            <a:solidFill>
              <a:srgbClr val="D4DAE0"/>
            </a:solidFill>
            <a:prstDash val="solid"/>
          </a:ln>
        </p:spPr>
      </p:sp>
      <p:sp>
        <p:nvSpPr>
          <p:cNvPr id="26" name="Text 24"/>
          <p:cNvSpPr/>
          <p:nvPr/>
        </p:nvSpPr>
        <p:spPr>
          <a:xfrm>
            <a:off x="685800" y="4160520"/>
            <a:ext cx="3108960" cy="292608"/>
          </a:xfrm>
          <a:prstGeom prst="rect">
            <a:avLst/>
          </a:prstGeom>
          <a:noFill/>
          <a:ln/>
        </p:spPr>
        <p:txBody>
          <a:bodyPr wrap="square" lIns="0" tIns="0" rIns="0" bIns="0" rtlCol="0" anchor="ctr">
            <a:normAutofit/>
          </a:bodyPr>
          <a:lstStyle/>
          <a:p>
            <a:pPr marL="0" indent="0">
              <a:buNone/>
            </a:pPr>
            <a:r>
              <a:rPr lang="en-US" sz="1550" b="1" dirty="0">
                <a:solidFill>
                  <a:srgbClr val="17365D"/>
                </a:solidFill>
                <a:latin typeface="Aptos Display" pitchFamily="34" charset="0"/>
                <a:ea typeface="Aptos Display" pitchFamily="34" charset="-122"/>
                <a:cs typeface="Aptos Display" pitchFamily="34" charset="-120"/>
              </a:rPr>
              <a:t>MECHANISM EDGE</a:t>
            </a:r>
            <a:endParaRPr lang="en-US" sz="1550" dirty="0"/>
          </a:p>
        </p:txBody>
      </p:sp>
      <p:sp>
        <p:nvSpPr>
          <p:cNvPr id="27" name="Text 25"/>
          <p:cNvSpPr/>
          <p:nvPr/>
        </p:nvSpPr>
        <p:spPr>
          <a:xfrm>
            <a:off x="685800" y="4507992"/>
            <a:ext cx="3108960" cy="274320"/>
          </a:xfrm>
          <a:prstGeom prst="rect">
            <a:avLst/>
          </a:prstGeom>
          <a:noFill/>
          <a:ln/>
        </p:spPr>
        <p:txBody>
          <a:bodyPr wrap="square" lIns="381" tIns="381" rIns="381" bIns="381" rtlCol="0" anchor="ctr">
            <a:normAutofit lnSpcReduction="10000"/>
          </a:bodyPr>
          <a:lstStyle/>
          <a:p>
            <a:pPr marL="0" indent="0">
              <a:buNone/>
            </a:pPr>
            <a:r>
              <a:rPr lang="en-US" sz="1800" dirty="0">
                <a:solidFill>
                  <a:srgbClr val="222222"/>
                </a:solidFill>
                <a:latin typeface="Aptos" pitchFamily="34" charset="0"/>
                <a:ea typeface="Aptos" pitchFamily="34" charset="-122"/>
                <a:cs typeface="Aptos" pitchFamily="34" charset="-120"/>
              </a:rPr>
              <a:t>6 fields</a:t>
            </a:r>
            <a:endParaRPr lang="en-US" sz="1800" dirty="0"/>
          </a:p>
        </p:txBody>
      </p:sp>
      <p:sp>
        <p:nvSpPr>
          <p:cNvPr id="28" name="Shape 26"/>
          <p:cNvSpPr/>
          <p:nvPr/>
        </p:nvSpPr>
        <p:spPr>
          <a:xfrm>
            <a:off x="4389120" y="4032504"/>
            <a:ext cx="3383280" cy="841248"/>
          </a:xfrm>
          <a:prstGeom prst="roundRect">
            <a:avLst>
              <a:gd name="adj" fmla="val 8696"/>
            </a:avLst>
          </a:prstGeom>
          <a:solidFill>
            <a:srgbClr val="DDEFD9"/>
          </a:solidFill>
          <a:ln w="12700">
            <a:solidFill>
              <a:srgbClr val="D4DAE0"/>
            </a:solidFill>
            <a:prstDash val="solid"/>
          </a:ln>
        </p:spPr>
      </p:sp>
      <p:sp>
        <p:nvSpPr>
          <p:cNvPr id="29" name="Text 27"/>
          <p:cNvSpPr/>
          <p:nvPr/>
        </p:nvSpPr>
        <p:spPr>
          <a:xfrm>
            <a:off x="4526280" y="4160520"/>
            <a:ext cx="3108960" cy="292608"/>
          </a:xfrm>
          <a:prstGeom prst="rect">
            <a:avLst/>
          </a:prstGeom>
          <a:noFill/>
          <a:ln/>
        </p:spPr>
        <p:txBody>
          <a:bodyPr wrap="square" lIns="0" tIns="0" rIns="0" bIns="0" rtlCol="0" anchor="ctr">
            <a:normAutofit/>
          </a:bodyPr>
          <a:lstStyle/>
          <a:p>
            <a:pPr marL="0" indent="0">
              <a:buNone/>
            </a:pPr>
            <a:r>
              <a:rPr lang="en-US" sz="1550" b="1" dirty="0">
                <a:solidFill>
                  <a:srgbClr val="17365D"/>
                </a:solidFill>
                <a:latin typeface="Aptos Display" pitchFamily="34" charset="0"/>
                <a:ea typeface="Aptos Display" pitchFamily="34" charset="-122"/>
                <a:cs typeface="Aptos Display" pitchFamily="34" charset="-120"/>
              </a:rPr>
              <a:t>LEGAL EVIDENCE</a:t>
            </a:r>
            <a:endParaRPr lang="en-US" sz="1550" dirty="0"/>
          </a:p>
        </p:txBody>
      </p:sp>
      <p:sp>
        <p:nvSpPr>
          <p:cNvPr id="30" name="Text 28"/>
          <p:cNvSpPr/>
          <p:nvPr/>
        </p:nvSpPr>
        <p:spPr>
          <a:xfrm>
            <a:off x="4526280" y="4507992"/>
            <a:ext cx="3108960" cy="274320"/>
          </a:xfrm>
          <a:prstGeom prst="rect">
            <a:avLst/>
          </a:prstGeom>
          <a:noFill/>
          <a:ln/>
        </p:spPr>
        <p:txBody>
          <a:bodyPr wrap="square" lIns="381" tIns="381" rIns="381" bIns="381" rtlCol="0" anchor="ctr">
            <a:normAutofit lnSpcReduction="10000"/>
          </a:bodyPr>
          <a:lstStyle/>
          <a:p>
            <a:pPr marL="0" indent="0">
              <a:buNone/>
            </a:pPr>
            <a:r>
              <a:rPr lang="en-US" sz="1800" dirty="0">
                <a:solidFill>
                  <a:srgbClr val="222222"/>
                </a:solidFill>
                <a:latin typeface="Aptos" pitchFamily="34" charset="0"/>
                <a:ea typeface="Aptos" pitchFamily="34" charset="-122"/>
                <a:cs typeface="Aptos" pitchFamily="34" charset="-120"/>
              </a:rPr>
              <a:t>10 fields</a:t>
            </a:r>
            <a:endParaRPr lang="en-US" sz="1800" dirty="0"/>
          </a:p>
        </p:txBody>
      </p:sp>
      <p:sp>
        <p:nvSpPr>
          <p:cNvPr id="31" name="Shape 29"/>
          <p:cNvSpPr/>
          <p:nvPr/>
        </p:nvSpPr>
        <p:spPr>
          <a:xfrm>
            <a:off x="8229600" y="4032504"/>
            <a:ext cx="3383280" cy="841248"/>
          </a:xfrm>
          <a:prstGeom prst="roundRect">
            <a:avLst>
              <a:gd name="adj" fmla="val 8696"/>
            </a:avLst>
          </a:prstGeom>
          <a:solidFill>
            <a:srgbClr val="DDEFD9"/>
          </a:solidFill>
          <a:ln w="12700">
            <a:solidFill>
              <a:srgbClr val="D4DAE0"/>
            </a:solidFill>
            <a:prstDash val="solid"/>
          </a:ln>
        </p:spPr>
      </p:sp>
      <p:sp>
        <p:nvSpPr>
          <p:cNvPr id="32" name="Text 30"/>
          <p:cNvSpPr/>
          <p:nvPr/>
        </p:nvSpPr>
        <p:spPr>
          <a:xfrm>
            <a:off x="8366760" y="4160520"/>
            <a:ext cx="3108960" cy="292608"/>
          </a:xfrm>
          <a:prstGeom prst="rect">
            <a:avLst/>
          </a:prstGeom>
          <a:noFill/>
          <a:ln/>
        </p:spPr>
        <p:txBody>
          <a:bodyPr wrap="square" lIns="0" tIns="0" rIns="0" bIns="0" rtlCol="0" anchor="ctr">
            <a:normAutofit/>
          </a:bodyPr>
          <a:lstStyle/>
          <a:p>
            <a:pPr marL="0" indent="0">
              <a:buNone/>
            </a:pPr>
            <a:r>
              <a:rPr lang="en-US" sz="1550" b="1" dirty="0">
                <a:solidFill>
                  <a:srgbClr val="17365D"/>
                </a:solidFill>
                <a:latin typeface="Aptos Display" pitchFamily="34" charset="0"/>
                <a:ea typeface="Aptos Display" pitchFamily="34" charset="-122"/>
                <a:cs typeface="Aptos Display" pitchFamily="34" charset="-120"/>
              </a:rPr>
              <a:t>DECISION PROVENANCE</a:t>
            </a:r>
            <a:endParaRPr lang="en-US" sz="1550" dirty="0"/>
          </a:p>
        </p:txBody>
      </p:sp>
      <p:sp>
        <p:nvSpPr>
          <p:cNvPr id="33" name="Text 31"/>
          <p:cNvSpPr/>
          <p:nvPr/>
        </p:nvSpPr>
        <p:spPr>
          <a:xfrm>
            <a:off x="8366760" y="4507992"/>
            <a:ext cx="3108960" cy="274320"/>
          </a:xfrm>
          <a:prstGeom prst="rect">
            <a:avLst/>
          </a:prstGeom>
          <a:noFill/>
          <a:ln/>
        </p:spPr>
        <p:txBody>
          <a:bodyPr wrap="square" lIns="381" tIns="381" rIns="381" bIns="381" rtlCol="0" anchor="ctr">
            <a:normAutofit lnSpcReduction="10000"/>
          </a:bodyPr>
          <a:lstStyle/>
          <a:p>
            <a:pPr marL="0" indent="0">
              <a:buNone/>
            </a:pPr>
            <a:r>
              <a:rPr lang="en-US" sz="1800" dirty="0">
                <a:solidFill>
                  <a:srgbClr val="222222"/>
                </a:solidFill>
                <a:latin typeface="Aptos" pitchFamily="34" charset="0"/>
                <a:ea typeface="Aptos" pitchFamily="34" charset="-122"/>
                <a:cs typeface="Aptos" pitchFamily="34" charset="-120"/>
              </a:rPr>
              <a:t>11 fields</a:t>
            </a:r>
            <a:endParaRPr lang="en-US" sz="1800" dirty="0"/>
          </a:p>
        </p:txBody>
      </p:sp>
      <p:sp>
        <p:nvSpPr>
          <p:cNvPr id="34" name="Text 32"/>
          <p:cNvSpPr/>
          <p:nvPr/>
        </p:nvSpPr>
        <p:spPr>
          <a:xfrm>
            <a:off x="868680" y="5486400"/>
            <a:ext cx="10515600" cy="548640"/>
          </a:xfrm>
          <a:prstGeom prst="rect">
            <a:avLst/>
          </a:prstGeom>
          <a:noFill/>
          <a:ln/>
        </p:spPr>
        <p:txBody>
          <a:bodyPr wrap="square" lIns="254" tIns="254" rIns="254" bIns="254" rtlCol="0" anchor="ctr">
            <a:normAutofit lnSpcReduction="10000"/>
          </a:bodyPr>
          <a:lstStyle/>
          <a:p>
            <a:pPr marL="0" indent="0" algn="ctr">
              <a:buNone/>
            </a:pPr>
            <a:r>
              <a:rPr lang="en-US" sz="1900" b="1" dirty="0">
                <a:solidFill>
                  <a:srgbClr val="17365D"/>
                </a:solidFill>
              </a:rPr>
              <a:t>Design choice: variables belong to the level where the concept exists — law, actor, intermediary, relation, mechanism, evidence or decision.</a:t>
            </a:r>
            <a:endParaRPr lang="en-US" sz="1900" dirty="0"/>
          </a:p>
        </p:txBody>
      </p:sp>
      <p:sp>
        <p:nvSpPr>
          <p:cNvPr id="35" name="Text 33"/>
          <p:cNvSpPr/>
          <p:nvPr/>
        </p:nvSpPr>
        <p:spPr>
          <a:xfrm>
            <a:off x="502920" y="6492240"/>
            <a:ext cx="11201400" cy="228600"/>
          </a:xfrm>
          <a:prstGeom prst="rect">
            <a:avLst/>
          </a:prstGeom>
          <a:noFill/>
          <a:ln/>
        </p:spPr>
        <p:txBody>
          <a:bodyPr wrap="square" lIns="0" tIns="0" rIns="0" bIns="0" rtlCol="0" anchor="ctr">
            <a:normAutofit/>
          </a:bodyPr>
          <a:lstStyle/>
          <a:p>
            <a:pPr marL="0" indent="0">
              <a:buNone/>
            </a:pPr>
            <a:r>
              <a:rPr lang="en-US" sz="850" dirty="0">
                <a:solidFill>
                  <a:srgbClr val="777777"/>
                </a:solidFill>
                <a:latin typeface="Aptos" pitchFamily="34" charset="0"/>
                <a:ea typeface="Aptos" pitchFamily="34" charset="-122"/>
                <a:cs typeface="Aptos" pitchFamily="34" charset="-120"/>
              </a:rPr>
              <a:t>Source: R3 case-study dataset, DATA_DICTIONARY and R3 technical note.</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01168"/>
            <a:ext cx="4389120" cy="256032"/>
          </a:xfrm>
          <a:prstGeom prst="rect">
            <a:avLst/>
          </a:prstGeom>
          <a:noFill/>
          <a:ln/>
        </p:spPr>
        <p:txBody>
          <a:bodyPr wrap="square" lIns="0" tIns="0" rIns="0" bIns="0" rtlCol="0" anchor="ctr"/>
          <a:lstStyle/>
          <a:p>
            <a:pPr marL="0" indent="0">
              <a:buNone/>
            </a:pPr>
            <a:r>
              <a:rPr lang="en-US" sz="1050" dirty="0">
                <a:solidFill>
                  <a:srgbClr val="5A5A5A"/>
                </a:solidFill>
                <a:latin typeface="Aptos" pitchFamily="34" charset="0"/>
                <a:ea typeface="Aptos" pitchFamily="34" charset="-122"/>
                <a:cs typeface="Aptos" pitchFamily="34" charset="-120"/>
              </a:rPr>
              <a:t>Law as Governance Group</a:t>
            </a:r>
            <a:endParaRPr lang="en-US" sz="1050" dirty="0"/>
          </a:p>
        </p:txBody>
      </p:sp>
      <p:sp>
        <p:nvSpPr>
          <p:cNvPr id="3" name="Text 1"/>
          <p:cNvSpPr/>
          <p:nvPr/>
        </p:nvSpPr>
        <p:spPr>
          <a:xfrm>
            <a:off x="8229600" y="201168"/>
            <a:ext cx="3429000" cy="256032"/>
          </a:xfrm>
          <a:prstGeom prst="rect">
            <a:avLst/>
          </a:prstGeom>
          <a:noFill/>
          <a:ln/>
        </p:spPr>
        <p:txBody>
          <a:bodyPr wrap="square" lIns="0" tIns="0" rIns="0" bIns="0" rtlCol="0" anchor="ctr"/>
          <a:lstStyle/>
          <a:p>
            <a:pPr marL="0" indent="0" algn="r">
              <a:buNone/>
            </a:pPr>
            <a:r>
              <a:rPr lang="en-US" sz="1050" dirty="0">
                <a:solidFill>
                  <a:srgbClr val="5A5A5A"/>
                </a:solidFill>
                <a:latin typeface="Aptos" pitchFamily="34" charset="0"/>
                <a:ea typeface="Aptos" pitchFamily="34" charset="-122"/>
                <a:cs typeface="Aptos" pitchFamily="34" charset="-120"/>
              </a:rPr>
              <a:t>Igor — cumulative work</a:t>
            </a:r>
            <a:endParaRPr lang="en-US" sz="1050" dirty="0"/>
          </a:p>
        </p:txBody>
      </p:sp>
      <p:sp>
        <p:nvSpPr>
          <p:cNvPr id="4" name="Shape 2"/>
          <p:cNvSpPr/>
          <p:nvPr/>
        </p:nvSpPr>
        <p:spPr>
          <a:xfrm>
            <a:off x="502920" y="530352"/>
            <a:ext cx="11201400" cy="0"/>
          </a:xfrm>
          <a:prstGeom prst="line">
            <a:avLst/>
          </a:prstGeom>
          <a:noFill/>
          <a:ln w="12700">
            <a:solidFill>
              <a:srgbClr val="D4DAE0"/>
            </a:solidFill>
            <a:prstDash val="solid"/>
          </a:ln>
        </p:spPr>
      </p:sp>
      <p:sp>
        <p:nvSpPr>
          <p:cNvPr id="5" name="Text 3"/>
          <p:cNvSpPr/>
          <p:nvPr/>
        </p:nvSpPr>
        <p:spPr>
          <a:xfrm>
            <a:off x="502920" y="786384"/>
            <a:ext cx="8778240" cy="438912"/>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Full variable list I</a:t>
            </a:r>
            <a:endParaRPr lang="en-US" sz="2600" dirty="0"/>
          </a:p>
        </p:txBody>
      </p:sp>
      <p:sp>
        <p:nvSpPr>
          <p:cNvPr id="6" name="Text 4"/>
          <p:cNvSpPr/>
          <p:nvPr/>
        </p:nvSpPr>
        <p:spPr>
          <a:xfrm>
            <a:off x="521208" y="1261872"/>
            <a:ext cx="10607040" cy="347472"/>
          </a:xfrm>
          <a:prstGeom prst="rect">
            <a:avLst/>
          </a:prstGeom>
          <a:noFill/>
          <a:ln/>
        </p:spPr>
        <p:txBody>
          <a:bodyPr wrap="square" lIns="0" tIns="0" rIns="0" bIns="0" rtlCol="0" anchor="ctr"/>
          <a:lstStyle/>
          <a:p>
            <a:pPr marL="0" indent="0">
              <a:buNone/>
            </a:pPr>
            <a:r>
              <a:rPr lang="en-US" sz="1600" dirty="0">
                <a:solidFill>
                  <a:srgbClr val="5A5A5A"/>
                </a:solidFill>
                <a:latin typeface="Aptos" pitchFamily="34" charset="0"/>
                <a:ea typeface="Aptos" pitchFamily="34" charset="-122"/>
                <a:cs typeface="Aptos" pitchFamily="34" charset="-120"/>
              </a:rPr>
              <a:t>Full variable list, split for readability.</a:t>
            </a:r>
            <a:endParaRPr lang="en-US" sz="1600" dirty="0"/>
          </a:p>
        </p:txBody>
      </p:sp>
      <p:sp>
        <p:nvSpPr>
          <p:cNvPr id="7" name="Shape 5"/>
          <p:cNvSpPr/>
          <p:nvPr/>
        </p:nvSpPr>
        <p:spPr>
          <a:xfrm>
            <a:off x="685800" y="1737360"/>
            <a:ext cx="5257800" cy="4434840"/>
          </a:xfrm>
          <a:prstGeom prst="roundRect">
            <a:avLst>
              <a:gd name="adj" fmla="val 1237"/>
            </a:avLst>
          </a:prstGeom>
          <a:solidFill>
            <a:srgbClr val="F4F7FA"/>
          </a:solidFill>
          <a:ln w="12700">
            <a:solidFill>
              <a:srgbClr val="D4DAE0"/>
            </a:solidFill>
            <a:prstDash val="solid"/>
          </a:ln>
        </p:spPr>
      </p:sp>
      <p:sp>
        <p:nvSpPr>
          <p:cNvPr id="8" name="Text 6"/>
          <p:cNvSpPr/>
          <p:nvPr/>
        </p:nvSpPr>
        <p:spPr>
          <a:xfrm>
            <a:off x="813816" y="1847088"/>
            <a:ext cx="5001768" cy="256032"/>
          </a:xfrm>
          <a:prstGeom prst="rect">
            <a:avLst/>
          </a:prstGeom>
          <a:noFill/>
          <a:ln/>
        </p:spPr>
        <p:txBody>
          <a:bodyPr wrap="square" lIns="0" tIns="0" rIns="0" bIns="0" rtlCol="0" anchor="ctr">
            <a:normAutofit/>
          </a:bodyPr>
          <a:lstStyle/>
          <a:p>
            <a:pPr marL="0" indent="0">
              <a:buNone/>
            </a:pPr>
            <a:r>
              <a:rPr lang="en-US" sz="1550" b="1" dirty="0">
                <a:solidFill>
                  <a:srgbClr val="17365D"/>
                </a:solidFill>
              </a:rPr>
              <a:t>INSTRUMENT</a:t>
            </a:r>
            <a:endParaRPr lang="en-US" sz="1550" dirty="0"/>
          </a:p>
        </p:txBody>
      </p:sp>
      <p:sp>
        <p:nvSpPr>
          <p:cNvPr id="9" name="Text 7"/>
          <p:cNvSpPr/>
          <p:nvPr/>
        </p:nvSpPr>
        <p:spPr>
          <a:xfrm>
            <a:off x="841248" y="2221992"/>
            <a:ext cx="4946904" cy="3794760"/>
          </a:xfrm>
          <a:prstGeom prst="rect">
            <a:avLst/>
          </a:prstGeom>
          <a:noFill/>
          <a:ln/>
        </p:spPr>
        <p:txBody>
          <a:bodyPr wrap="square" lIns="127" tIns="127" rIns="127" bIns="127" rtlCol="0" anchor="ctr">
            <a:normAutofit/>
          </a:bodyPr>
          <a:lstStyle/>
          <a:p>
            <a:pPr marL="0" indent="0">
              <a:buNone/>
            </a:pPr>
            <a:r>
              <a:rPr lang="en-US" sz="1340" dirty="0">
                <a:solidFill>
                  <a:srgbClr val="222222"/>
                </a:solidFill>
              </a:rPr>
              <a:t>instrument_id</a:t>
            </a:r>
            <a:endParaRPr lang="en-US" sz="1340" dirty="0"/>
          </a:p>
          <a:p>
            <a:pPr marL="0" indent="0">
              <a:buNone/>
            </a:pPr>
            <a:r>
              <a:rPr lang="en-US" sz="1340" dirty="0">
                <a:solidFill>
                  <a:srgbClr val="222222"/>
                </a:solidFill>
              </a:rPr>
              <a:t>celex_id</a:t>
            </a:r>
            <a:endParaRPr lang="en-US" sz="1340" dirty="0"/>
          </a:p>
          <a:p>
            <a:pPr marL="0" indent="0">
              <a:buNone/>
            </a:pPr>
            <a:r>
              <a:rPr lang="en-US" sz="1340" dirty="0">
                <a:solidFill>
                  <a:srgbClr val="222222"/>
                </a:solidFill>
              </a:rPr>
              <a:t>official_title</a:t>
            </a:r>
            <a:endParaRPr lang="en-US" sz="1340" dirty="0"/>
          </a:p>
          <a:p>
            <a:pPr marL="0" indent="0">
              <a:buNone/>
            </a:pPr>
            <a:r>
              <a:rPr lang="en-US" sz="1340" dirty="0">
                <a:solidFill>
                  <a:srgbClr val="222222"/>
                </a:solidFill>
              </a:rPr>
              <a:t>instrument_type</a:t>
            </a:r>
            <a:endParaRPr lang="en-US" sz="1340" dirty="0"/>
          </a:p>
          <a:p>
            <a:pPr marL="0" indent="0">
              <a:buNone/>
            </a:pPr>
            <a:r>
              <a:rPr lang="en-US" sz="1340" dirty="0">
                <a:solidFill>
                  <a:srgbClr val="222222"/>
                </a:solidFill>
              </a:rPr>
              <a:t>date</a:t>
            </a:r>
            <a:endParaRPr lang="en-US" sz="1340" dirty="0"/>
          </a:p>
          <a:p>
            <a:pPr marL="0" indent="0">
              <a:buNone/>
            </a:pPr>
            <a:r>
              <a:rPr lang="en-US" sz="1340" dirty="0">
                <a:solidFill>
                  <a:srgbClr val="222222"/>
                </a:solidFill>
              </a:rPr>
              <a:t>regulatory_objective</a:t>
            </a:r>
            <a:endParaRPr lang="en-US" sz="1340" dirty="0"/>
          </a:p>
          <a:p>
            <a:pPr marL="0" indent="0">
              <a:buNone/>
            </a:pPr>
            <a:r>
              <a:rPr lang="en-US" sz="1340" dirty="0">
                <a:solidFill>
                  <a:srgbClr val="222222"/>
                </a:solidFill>
              </a:rPr>
              <a:t>regulatory_object</a:t>
            </a:r>
            <a:endParaRPr lang="en-US" sz="1340" dirty="0"/>
          </a:p>
          <a:p>
            <a:pPr marL="0" indent="0">
              <a:buNone/>
            </a:pPr>
            <a:r>
              <a:rPr lang="en-US" sz="1340" dirty="0">
                <a:solidFill>
                  <a:srgbClr val="222222"/>
                </a:solidFill>
              </a:rPr>
              <a:t>principal_target_classes</a:t>
            </a:r>
            <a:endParaRPr lang="en-US" sz="1340" dirty="0"/>
          </a:p>
          <a:p>
            <a:pPr marL="0" indent="0">
              <a:buNone/>
            </a:pPr>
            <a:r>
              <a:rPr lang="en-US" sz="1340" dirty="0">
                <a:solidFill>
                  <a:srgbClr val="222222"/>
                </a:solidFill>
              </a:rPr>
              <a:t>principal_regulatory_authorities</a:t>
            </a:r>
            <a:endParaRPr lang="en-US" sz="1340" dirty="0"/>
          </a:p>
          <a:p>
            <a:pPr marL="0" indent="0">
              <a:buNone/>
            </a:pPr>
            <a:r>
              <a:rPr lang="en-US" sz="1340" dirty="0">
                <a:solidFill>
                  <a:srgbClr val="222222"/>
                </a:solidFill>
              </a:rPr>
              <a:t>scope</a:t>
            </a:r>
            <a:endParaRPr lang="en-US" sz="1340" dirty="0"/>
          </a:p>
          <a:p>
            <a:pPr marL="0" indent="0">
              <a:buNone/>
            </a:pPr>
            <a:r>
              <a:rPr lang="en-US" sz="1340" dirty="0">
                <a:solidFill>
                  <a:srgbClr val="222222"/>
                </a:solidFill>
              </a:rPr>
              <a:t>obligation_clusters</a:t>
            </a:r>
            <a:endParaRPr lang="en-US" sz="1340" dirty="0"/>
          </a:p>
          <a:p>
            <a:pPr marL="0" indent="0">
              <a:buNone/>
            </a:pPr>
            <a:r>
              <a:rPr lang="en-US" sz="1340" dirty="0">
                <a:solidFill>
                  <a:srgbClr val="222222"/>
                </a:solidFill>
              </a:rPr>
              <a:t>governance_components</a:t>
            </a:r>
            <a:endParaRPr lang="en-US" sz="1340" dirty="0"/>
          </a:p>
          <a:p>
            <a:pPr marL="0" indent="0">
              <a:buNone/>
            </a:pPr>
            <a:r>
              <a:rPr lang="en-US" sz="1340" dirty="0">
                <a:solidFill>
                  <a:srgbClr val="222222"/>
                </a:solidFill>
              </a:rPr>
              <a:t>structural_logic</a:t>
            </a:r>
            <a:endParaRPr lang="en-US" sz="1340" dirty="0"/>
          </a:p>
          <a:p>
            <a:pPr marL="0" indent="0">
              <a:buNone/>
            </a:pPr>
            <a:r>
              <a:rPr lang="en-US" sz="1340" dirty="0">
                <a:solidFill>
                  <a:srgbClr val="222222"/>
                </a:solidFill>
              </a:rPr>
              <a:t>declared_orientation</a:t>
            </a:r>
            <a:endParaRPr lang="en-US" sz="1340" dirty="0"/>
          </a:p>
        </p:txBody>
      </p:sp>
      <p:sp>
        <p:nvSpPr>
          <p:cNvPr id="10" name="Shape 8"/>
          <p:cNvSpPr/>
          <p:nvPr/>
        </p:nvSpPr>
        <p:spPr>
          <a:xfrm>
            <a:off x="6675120" y="1737360"/>
            <a:ext cx="5257800" cy="4434840"/>
          </a:xfrm>
          <a:prstGeom prst="roundRect">
            <a:avLst>
              <a:gd name="adj" fmla="val 1237"/>
            </a:avLst>
          </a:prstGeom>
          <a:solidFill>
            <a:srgbClr val="F4F7FA"/>
          </a:solidFill>
          <a:ln w="12700">
            <a:solidFill>
              <a:srgbClr val="D4DAE0"/>
            </a:solidFill>
            <a:prstDash val="solid"/>
          </a:ln>
        </p:spPr>
      </p:sp>
      <p:sp>
        <p:nvSpPr>
          <p:cNvPr id="11" name="Text 9"/>
          <p:cNvSpPr/>
          <p:nvPr/>
        </p:nvSpPr>
        <p:spPr>
          <a:xfrm>
            <a:off x="6803136" y="1847088"/>
            <a:ext cx="5001768" cy="256032"/>
          </a:xfrm>
          <a:prstGeom prst="rect">
            <a:avLst/>
          </a:prstGeom>
          <a:noFill/>
          <a:ln/>
        </p:spPr>
        <p:txBody>
          <a:bodyPr wrap="square" lIns="0" tIns="0" rIns="0" bIns="0" rtlCol="0" anchor="ctr">
            <a:normAutofit/>
          </a:bodyPr>
          <a:lstStyle/>
          <a:p>
            <a:pPr marL="0" indent="0">
              <a:buNone/>
            </a:pPr>
            <a:r>
              <a:rPr lang="en-US" sz="1550" b="1" dirty="0">
                <a:solidFill>
                  <a:srgbClr val="17365D"/>
                </a:solidFill>
              </a:rPr>
              <a:t>ACTOR</a:t>
            </a:r>
            <a:endParaRPr lang="en-US" sz="1550" dirty="0"/>
          </a:p>
        </p:txBody>
      </p:sp>
      <p:sp>
        <p:nvSpPr>
          <p:cNvPr id="12" name="Text 10"/>
          <p:cNvSpPr/>
          <p:nvPr/>
        </p:nvSpPr>
        <p:spPr>
          <a:xfrm>
            <a:off x="6830568" y="2221992"/>
            <a:ext cx="4946904" cy="3794760"/>
          </a:xfrm>
          <a:prstGeom prst="rect">
            <a:avLst/>
          </a:prstGeom>
          <a:noFill/>
          <a:ln/>
        </p:spPr>
        <p:txBody>
          <a:bodyPr wrap="square" lIns="127" tIns="127" rIns="127" bIns="127" rtlCol="0" anchor="ctr">
            <a:normAutofit/>
          </a:bodyPr>
          <a:lstStyle/>
          <a:p>
            <a:pPr marL="0" indent="0">
              <a:buNone/>
            </a:pPr>
            <a:r>
              <a:rPr lang="en-US" sz="1500" dirty="0">
                <a:solidFill>
                  <a:srgbClr val="222222"/>
                </a:solidFill>
              </a:rPr>
              <a:t>actor_id</a:t>
            </a:r>
            <a:endParaRPr lang="en-US" sz="1500" dirty="0"/>
          </a:p>
          <a:p>
            <a:pPr marL="0" indent="0">
              <a:buNone/>
            </a:pPr>
            <a:r>
              <a:rPr lang="en-US" sz="1500" dirty="0">
                <a:solidFill>
                  <a:srgbClr val="222222"/>
                </a:solidFill>
              </a:rPr>
              <a:t>instrument_id</a:t>
            </a:r>
            <a:endParaRPr lang="en-US" sz="1500" dirty="0"/>
          </a:p>
          <a:p>
            <a:pPr marL="0" indent="0">
              <a:buNone/>
            </a:pPr>
            <a:r>
              <a:rPr lang="en-US" sz="1500" dirty="0">
                <a:solidFill>
                  <a:srgbClr val="222222"/>
                </a:solidFill>
              </a:rPr>
              <a:t>canonical_name</a:t>
            </a:r>
            <a:endParaRPr lang="en-US" sz="1500" dirty="0"/>
          </a:p>
          <a:p>
            <a:pPr marL="0" indent="0">
              <a:buNone/>
            </a:pPr>
            <a:r>
              <a:rPr lang="en-US" sz="1500" dirty="0">
                <a:solidFill>
                  <a:srgbClr val="222222"/>
                </a:solidFill>
              </a:rPr>
              <a:t>cross_law_actor_key</a:t>
            </a:r>
            <a:endParaRPr lang="en-US" sz="1500" dirty="0"/>
          </a:p>
          <a:p>
            <a:pPr marL="0" indent="0">
              <a:buNone/>
            </a:pPr>
            <a:r>
              <a:rPr lang="en-US" sz="1500" dirty="0">
                <a:solidFill>
                  <a:srgbClr val="222222"/>
                </a:solidFill>
              </a:rPr>
              <a:t>actor_type</a:t>
            </a:r>
            <a:endParaRPr lang="en-US" sz="1500" dirty="0"/>
          </a:p>
          <a:p>
            <a:pPr marL="0" indent="0">
              <a:buNone/>
            </a:pPr>
            <a:r>
              <a:rPr lang="en-US" sz="1500" dirty="0">
                <a:solidFill>
                  <a:srgbClr val="222222"/>
                </a:solidFill>
              </a:rPr>
              <a:t>institutional_level</a:t>
            </a:r>
            <a:endParaRPr lang="en-US" sz="1500" dirty="0"/>
          </a:p>
          <a:p>
            <a:pPr marL="0" indent="0">
              <a:buNone/>
            </a:pPr>
            <a:r>
              <a:rPr lang="en-US" sz="1500" dirty="0">
                <a:solidFill>
                  <a:srgbClr val="222222"/>
                </a:solidFill>
              </a:rPr>
              <a:t>public_private_hybrid</a:t>
            </a:r>
            <a:endParaRPr lang="en-US" sz="1500" dirty="0"/>
          </a:p>
          <a:p>
            <a:pPr marL="0" indent="0">
              <a:buNone/>
            </a:pPr>
            <a:r>
              <a:rPr lang="en-US" sz="1500" dirty="0">
                <a:solidFill>
                  <a:srgbClr val="222222"/>
                </a:solidFill>
              </a:rPr>
              <a:t>formal_legal_status</a:t>
            </a:r>
            <a:endParaRPr lang="en-US" sz="1500" dirty="0"/>
          </a:p>
        </p:txBody>
      </p:sp>
      <p:sp>
        <p:nvSpPr>
          <p:cNvPr id="13" name="Text 11"/>
          <p:cNvSpPr/>
          <p:nvPr/>
        </p:nvSpPr>
        <p:spPr>
          <a:xfrm>
            <a:off x="502920" y="6492240"/>
            <a:ext cx="11201400" cy="228600"/>
          </a:xfrm>
          <a:prstGeom prst="rect">
            <a:avLst/>
          </a:prstGeom>
          <a:noFill/>
          <a:ln/>
        </p:spPr>
        <p:txBody>
          <a:bodyPr wrap="square" lIns="0" tIns="0" rIns="0" bIns="0" rtlCol="0" anchor="ctr">
            <a:normAutofit/>
          </a:bodyPr>
          <a:lstStyle/>
          <a:p>
            <a:pPr marL="0" indent="0">
              <a:buNone/>
            </a:pPr>
            <a:r>
              <a:rPr lang="en-US" sz="850" dirty="0">
                <a:solidFill>
                  <a:srgbClr val="777777"/>
                </a:solidFill>
                <a:latin typeface="Aptos" pitchFamily="34" charset="0"/>
                <a:ea typeface="Aptos" pitchFamily="34" charset="-122"/>
                <a:cs typeface="Aptos" pitchFamily="34" charset="-120"/>
              </a:rPr>
              <a:t>Source: R3 case-study dataset, DATA_DICTIONARY.</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01168"/>
            <a:ext cx="4389120" cy="256032"/>
          </a:xfrm>
          <a:prstGeom prst="rect">
            <a:avLst/>
          </a:prstGeom>
          <a:noFill/>
          <a:ln/>
        </p:spPr>
        <p:txBody>
          <a:bodyPr wrap="square" lIns="0" tIns="0" rIns="0" bIns="0" rtlCol="0" anchor="ctr"/>
          <a:lstStyle/>
          <a:p>
            <a:pPr marL="0" indent="0">
              <a:buNone/>
            </a:pPr>
            <a:r>
              <a:rPr lang="en-US" sz="1050" dirty="0">
                <a:solidFill>
                  <a:srgbClr val="5A5A5A"/>
                </a:solidFill>
                <a:latin typeface="Aptos" pitchFamily="34" charset="0"/>
                <a:ea typeface="Aptos" pitchFamily="34" charset="-122"/>
                <a:cs typeface="Aptos" pitchFamily="34" charset="-120"/>
              </a:rPr>
              <a:t>Law as Governance Group</a:t>
            </a:r>
            <a:endParaRPr lang="en-US" sz="1050" dirty="0"/>
          </a:p>
        </p:txBody>
      </p:sp>
      <p:sp>
        <p:nvSpPr>
          <p:cNvPr id="3" name="Text 1"/>
          <p:cNvSpPr/>
          <p:nvPr/>
        </p:nvSpPr>
        <p:spPr>
          <a:xfrm>
            <a:off x="8229600" y="201168"/>
            <a:ext cx="3429000" cy="256032"/>
          </a:xfrm>
          <a:prstGeom prst="rect">
            <a:avLst/>
          </a:prstGeom>
          <a:noFill/>
          <a:ln/>
        </p:spPr>
        <p:txBody>
          <a:bodyPr wrap="square" lIns="0" tIns="0" rIns="0" bIns="0" rtlCol="0" anchor="ctr"/>
          <a:lstStyle/>
          <a:p>
            <a:pPr marL="0" indent="0" algn="r">
              <a:buNone/>
            </a:pPr>
            <a:r>
              <a:rPr lang="en-US" sz="1050" dirty="0">
                <a:solidFill>
                  <a:srgbClr val="5A5A5A"/>
                </a:solidFill>
                <a:latin typeface="Aptos" pitchFamily="34" charset="0"/>
                <a:ea typeface="Aptos" pitchFamily="34" charset="-122"/>
                <a:cs typeface="Aptos" pitchFamily="34" charset="-120"/>
              </a:rPr>
              <a:t>Igor — cumulative work</a:t>
            </a:r>
            <a:endParaRPr lang="en-US" sz="1050" dirty="0"/>
          </a:p>
        </p:txBody>
      </p:sp>
      <p:sp>
        <p:nvSpPr>
          <p:cNvPr id="4" name="Shape 2"/>
          <p:cNvSpPr/>
          <p:nvPr/>
        </p:nvSpPr>
        <p:spPr>
          <a:xfrm>
            <a:off x="502920" y="530352"/>
            <a:ext cx="11201400" cy="0"/>
          </a:xfrm>
          <a:prstGeom prst="line">
            <a:avLst/>
          </a:prstGeom>
          <a:noFill/>
          <a:ln w="12700">
            <a:solidFill>
              <a:srgbClr val="D4DAE0"/>
            </a:solidFill>
            <a:prstDash val="solid"/>
          </a:ln>
        </p:spPr>
      </p:sp>
      <p:sp>
        <p:nvSpPr>
          <p:cNvPr id="5" name="Text 3"/>
          <p:cNvSpPr/>
          <p:nvPr/>
        </p:nvSpPr>
        <p:spPr>
          <a:xfrm>
            <a:off x="502920" y="786384"/>
            <a:ext cx="8778240" cy="438912"/>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Full variable list II</a:t>
            </a:r>
            <a:endParaRPr lang="en-US" sz="2600" dirty="0"/>
          </a:p>
        </p:txBody>
      </p:sp>
      <p:sp>
        <p:nvSpPr>
          <p:cNvPr id="6" name="Text 4"/>
          <p:cNvSpPr/>
          <p:nvPr/>
        </p:nvSpPr>
        <p:spPr>
          <a:xfrm>
            <a:off x="521208" y="1261872"/>
            <a:ext cx="10607040" cy="347472"/>
          </a:xfrm>
          <a:prstGeom prst="rect">
            <a:avLst/>
          </a:prstGeom>
          <a:noFill/>
          <a:ln/>
        </p:spPr>
        <p:txBody>
          <a:bodyPr wrap="square" lIns="0" tIns="0" rIns="0" bIns="0" rtlCol="0" anchor="ctr"/>
          <a:lstStyle/>
          <a:p>
            <a:pPr marL="0" indent="0">
              <a:buNone/>
            </a:pPr>
            <a:r>
              <a:rPr lang="en-US" sz="1600" dirty="0">
                <a:solidFill>
                  <a:srgbClr val="5A5A5A"/>
                </a:solidFill>
                <a:latin typeface="Aptos" pitchFamily="34" charset="0"/>
                <a:ea typeface="Aptos" pitchFamily="34" charset="-122"/>
                <a:cs typeface="Aptos" pitchFamily="34" charset="-120"/>
              </a:rPr>
              <a:t>Full variable list, split for readability.</a:t>
            </a:r>
            <a:endParaRPr lang="en-US" sz="1600" dirty="0"/>
          </a:p>
        </p:txBody>
      </p:sp>
      <p:sp>
        <p:nvSpPr>
          <p:cNvPr id="7" name="Shape 5"/>
          <p:cNvSpPr/>
          <p:nvPr/>
        </p:nvSpPr>
        <p:spPr>
          <a:xfrm>
            <a:off x="685800" y="1737360"/>
            <a:ext cx="5257800" cy="4434840"/>
          </a:xfrm>
          <a:prstGeom prst="roundRect">
            <a:avLst>
              <a:gd name="adj" fmla="val 1237"/>
            </a:avLst>
          </a:prstGeom>
          <a:solidFill>
            <a:srgbClr val="F4F7FA"/>
          </a:solidFill>
          <a:ln w="12700">
            <a:solidFill>
              <a:srgbClr val="D4DAE0"/>
            </a:solidFill>
            <a:prstDash val="solid"/>
          </a:ln>
        </p:spPr>
      </p:sp>
      <p:sp>
        <p:nvSpPr>
          <p:cNvPr id="8" name="Text 6"/>
          <p:cNvSpPr/>
          <p:nvPr/>
        </p:nvSpPr>
        <p:spPr>
          <a:xfrm>
            <a:off x="813816" y="1847088"/>
            <a:ext cx="5001768" cy="256032"/>
          </a:xfrm>
          <a:prstGeom prst="rect">
            <a:avLst/>
          </a:prstGeom>
          <a:noFill/>
          <a:ln/>
        </p:spPr>
        <p:txBody>
          <a:bodyPr wrap="square" lIns="0" tIns="0" rIns="0" bIns="0" rtlCol="0" anchor="ctr">
            <a:normAutofit/>
          </a:bodyPr>
          <a:lstStyle/>
          <a:p>
            <a:pPr marL="0" indent="0">
              <a:buNone/>
            </a:pPr>
            <a:r>
              <a:rPr lang="en-US" sz="1550" b="1" dirty="0">
                <a:solidFill>
                  <a:srgbClr val="17365D"/>
                </a:solidFill>
              </a:rPr>
              <a:t>LAW × INTERMEDIARY</a:t>
            </a:r>
            <a:endParaRPr lang="en-US" sz="1550" dirty="0"/>
          </a:p>
        </p:txBody>
      </p:sp>
      <p:sp>
        <p:nvSpPr>
          <p:cNvPr id="9" name="Text 7"/>
          <p:cNvSpPr/>
          <p:nvPr/>
        </p:nvSpPr>
        <p:spPr>
          <a:xfrm>
            <a:off x="841248" y="2221992"/>
            <a:ext cx="4946904" cy="3794760"/>
          </a:xfrm>
          <a:prstGeom prst="rect">
            <a:avLst/>
          </a:prstGeom>
          <a:noFill/>
          <a:ln/>
        </p:spPr>
        <p:txBody>
          <a:bodyPr wrap="square" lIns="127" tIns="127" rIns="127" bIns="127" rtlCol="0" anchor="ctr">
            <a:normAutofit/>
          </a:bodyPr>
          <a:lstStyle/>
          <a:p>
            <a:pPr marL="0" indent="0">
              <a:buNone/>
            </a:pPr>
            <a:r>
              <a:rPr lang="en-US" sz="1320" dirty="0">
                <a:solidFill>
                  <a:srgbClr val="222222"/>
                </a:solidFill>
              </a:rPr>
              <a:t>law_intermediary_id</a:t>
            </a:r>
            <a:endParaRPr lang="en-US" sz="1320" dirty="0"/>
          </a:p>
          <a:p>
            <a:pPr marL="0" indent="0">
              <a:buNone/>
            </a:pPr>
            <a:r>
              <a:rPr lang="en-US" sz="1320" dirty="0">
                <a:solidFill>
                  <a:srgbClr val="222222"/>
                </a:solidFill>
              </a:rPr>
              <a:t>instrument_id</a:t>
            </a:r>
            <a:endParaRPr lang="en-US" sz="1320" dirty="0"/>
          </a:p>
          <a:p>
            <a:pPr marL="0" indent="0">
              <a:buNone/>
            </a:pPr>
            <a:r>
              <a:rPr lang="en-US" sz="1320" dirty="0">
                <a:solidFill>
                  <a:srgbClr val="222222"/>
                </a:solidFill>
              </a:rPr>
              <a:t>intermediary_actor_id</a:t>
            </a:r>
            <a:endParaRPr lang="en-US" sz="1320" dirty="0"/>
          </a:p>
          <a:p>
            <a:pPr marL="0" indent="0">
              <a:buNone/>
            </a:pPr>
            <a:r>
              <a:rPr lang="en-US" sz="1320" dirty="0">
                <a:solidFill>
                  <a:srgbClr val="222222"/>
                </a:solidFill>
              </a:rPr>
              <a:t>intermediary_name</a:t>
            </a:r>
            <a:endParaRPr lang="en-US" sz="1320" dirty="0"/>
          </a:p>
          <a:p>
            <a:pPr marL="0" indent="0">
              <a:buNone/>
            </a:pPr>
            <a:r>
              <a:rPr lang="en-US" sz="1320" dirty="0">
                <a:solidFill>
                  <a:srgbClr val="222222"/>
                </a:solidFill>
              </a:rPr>
              <a:t>actor_type</a:t>
            </a:r>
            <a:endParaRPr lang="en-US" sz="1320" dirty="0"/>
          </a:p>
          <a:p>
            <a:pPr marL="0" indent="0">
              <a:buNone/>
            </a:pPr>
            <a:r>
              <a:rPr lang="en-US" sz="1320" dirty="0">
                <a:solidFill>
                  <a:srgbClr val="222222"/>
                </a:solidFill>
              </a:rPr>
              <a:t>institutionalization_type</a:t>
            </a:r>
            <a:endParaRPr lang="en-US" sz="1320" dirty="0"/>
          </a:p>
          <a:p>
            <a:pPr marL="0" indent="0">
              <a:buNone/>
            </a:pPr>
            <a:r>
              <a:rPr lang="en-US" sz="1320" dirty="0">
                <a:solidFill>
                  <a:srgbClr val="222222"/>
                </a:solidFill>
              </a:rPr>
              <a:t>participation_status</a:t>
            </a:r>
            <a:endParaRPr lang="en-US" sz="1320" dirty="0"/>
          </a:p>
          <a:p>
            <a:pPr marL="0" indent="0">
              <a:buNone/>
            </a:pPr>
            <a:r>
              <a:rPr lang="en-US" sz="1320" dirty="0">
                <a:solidFill>
                  <a:srgbClr val="222222"/>
                </a:solidFill>
              </a:rPr>
              <a:t>separation_from_target</a:t>
            </a:r>
            <a:endParaRPr lang="en-US" sz="1320" dirty="0"/>
          </a:p>
          <a:p>
            <a:pPr marL="0" indent="0">
              <a:buNone/>
            </a:pPr>
            <a:r>
              <a:rPr lang="en-US" sz="1320" dirty="0">
                <a:solidFill>
                  <a:srgbClr val="222222"/>
                </a:solidFill>
              </a:rPr>
              <a:t>independence_status</a:t>
            </a:r>
            <a:endParaRPr lang="en-US" sz="1320" dirty="0"/>
          </a:p>
          <a:p>
            <a:pPr marL="0" indent="0">
              <a:buNone/>
            </a:pPr>
            <a:r>
              <a:rPr lang="en-US" sz="1320" dirty="0">
                <a:solidFill>
                  <a:srgbClr val="222222"/>
                </a:solidFill>
              </a:rPr>
              <a:t>orientation</a:t>
            </a:r>
            <a:endParaRPr lang="en-US" sz="1320" dirty="0"/>
          </a:p>
          <a:p>
            <a:pPr marL="0" indent="0">
              <a:buNone/>
            </a:pPr>
            <a:r>
              <a:rPr lang="en-US" sz="1320" dirty="0">
                <a:solidFill>
                  <a:srgbClr val="222222"/>
                </a:solidFill>
              </a:rPr>
              <a:t>capacity_brought_description</a:t>
            </a:r>
            <a:endParaRPr lang="en-US" sz="1320" dirty="0"/>
          </a:p>
          <a:p>
            <a:pPr marL="0" indent="0">
              <a:buNone/>
            </a:pPr>
            <a:r>
              <a:rPr lang="en-US" sz="1320" dirty="0">
                <a:solidFill>
                  <a:srgbClr val="222222"/>
                </a:solidFill>
              </a:rPr>
              <a:t>output_types</a:t>
            </a:r>
            <a:endParaRPr lang="en-US" sz="1320" dirty="0"/>
          </a:p>
          <a:p>
            <a:pPr marL="0" indent="0">
              <a:buNone/>
            </a:pPr>
            <a:r>
              <a:rPr lang="en-US" sz="1320" dirty="0">
                <a:solidFill>
                  <a:srgbClr val="222222"/>
                </a:solidFill>
              </a:rPr>
              <a:t>output_legal_effect</a:t>
            </a:r>
            <a:endParaRPr lang="en-US" sz="1320" dirty="0"/>
          </a:p>
          <a:p>
            <a:pPr marL="0" indent="0">
              <a:buNone/>
            </a:pPr>
            <a:r>
              <a:rPr lang="en-US" sz="1320" dirty="0">
                <a:solidFill>
                  <a:srgbClr val="222222"/>
                </a:solidFill>
              </a:rPr>
              <a:t>accountability_status</a:t>
            </a:r>
            <a:endParaRPr lang="en-US" sz="1320" dirty="0"/>
          </a:p>
          <a:p>
            <a:pPr marL="0" indent="0">
              <a:buNone/>
            </a:pPr>
            <a:r>
              <a:rPr lang="en-US" sz="1320" dirty="0">
                <a:solidFill>
                  <a:srgbClr val="222222"/>
                </a:solidFill>
              </a:rPr>
              <a:t>accountable_to</a:t>
            </a:r>
            <a:endParaRPr lang="en-US" sz="1320" dirty="0"/>
          </a:p>
          <a:p>
            <a:pPr marL="0" indent="0">
              <a:buNone/>
            </a:pPr>
            <a:r>
              <a:rPr lang="en-US" sz="1320" dirty="0">
                <a:solidFill>
                  <a:srgbClr val="222222"/>
                </a:solidFill>
              </a:rPr>
              <a:t>accountability_procedure</a:t>
            </a:r>
            <a:endParaRPr lang="en-US" sz="1320" dirty="0"/>
          </a:p>
          <a:p>
            <a:pPr marL="0" indent="0">
              <a:buNone/>
            </a:pPr>
            <a:r>
              <a:rPr lang="en-US" sz="1320" dirty="0">
                <a:solidFill>
                  <a:srgbClr val="222222"/>
                </a:solidFill>
              </a:rPr>
              <a:t>sanctions_or_consequences</a:t>
            </a:r>
            <a:endParaRPr lang="en-US" sz="1320" dirty="0"/>
          </a:p>
        </p:txBody>
      </p:sp>
      <p:sp>
        <p:nvSpPr>
          <p:cNvPr id="10" name="Shape 8"/>
          <p:cNvSpPr/>
          <p:nvPr/>
        </p:nvSpPr>
        <p:spPr>
          <a:xfrm>
            <a:off x="6675120" y="1737360"/>
            <a:ext cx="5257800" cy="4434840"/>
          </a:xfrm>
          <a:prstGeom prst="roundRect">
            <a:avLst>
              <a:gd name="adj" fmla="val 1237"/>
            </a:avLst>
          </a:prstGeom>
          <a:solidFill>
            <a:srgbClr val="F4F7FA"/>
          </a:solidFill>
          <a:ln w="12700">
            <a:solidFill>
              <a:srgbClr val="D4DAE0"/>
            </a:solidFill>
            <a:prstDash val="solid"/>
          </a:ln>
        </p:spPr>
      </p:sp>
      <p:sp>
        <p:nvSpPr>
          <p:cNvPr id="11" name="Text 9"/>
          <p:cNvSpPr/>
          <p:nvPr/>
        </p:nvSpPr>
        <p:spPr>
          <a:xfrm>
            <a:off x="6803136" y="1847088"/>
            <a:ext cx="5001768" cy="256032"/>
          </a:xfrm>
          <a:prstGeom prst="rect">
            <a:avLst/>
          </a:prstGeom>
          <a:noFill/>
          <a:ln/>
        </p:spPr>
        <p:txBody>
          <a:bodyPr wrap="square" lIns="0" tIns="0" rIns="0" bIns="0" rtlCol="0" anchor="ctr">
            <a:normAutofit/>
          </a:bodyPr>
          <a:lstStyle/>
          <a:p>
            <a:pPr marL="0" indent="0">
              <a:buNone/>
            </a:pPr>
            <a:r>
              <a:rPr lang="en-US" sz="1550" b="1" dirty="0">
                <a:solidFill>
                  <a:srgbClr val="17365D"/>
                </a:solidFill>
              </a:rPr>
              <a:t>REGULATORY RELATION</a:t>
            </a:r>
            <a:endParaRPr lang="en-US" sz="1550" dirty="0"/>
          </a:p>
        </p:txBody>
      </p:sp>
      <p:sp>
        <p:nvSpPr>
          <p:cNvPr id="12" name="Text 10"/>
          <p:cNvSpPr/>
          <p:nvPr/>
        </p:nvSpPr>
        <p:spPr>
          <a:xfrm>
            <a:off x="6830568" y="2221992"/>
            <a:ext cx="4946904" cy="3794760"/>
          </a:xfrm>
          <a:prstGeom prst="rect">
            <a:avLst/>
          </a:prstGeom>
          <a:noFill/>
          <a:ln/>
        </p:spPr>
        <p:txBody>
          <a:bodyPr wrap="square" lIns="127" tIns="127" rIns="127" bIns="127" rtlCol="0" anchor="ctr">
            <a:normAutofit/>
          </a:bodyPr>
          <a:lstStyle/>
          <a:p>
            <a:pPr marL="0" indent="0">
              <a:buNone/>
            </a:pPr>
            <a:r>
              <a:rPr lang="en-US" sz="1400" dirty="0">
                <a:solidFill>
                  <a:srgbClr val="222222"/>
                </a:solidFill>
              </a:rPr>
              <a:t>relation_id</a:t>
            </a:r>
            <a:endParaRPr lang="en-US" sz="1400" dirty="0"/>
          </a:p>
          <a:p>
            <a:pPr marL="0" indent="0">
              <a:buNone/>
            </a:pPr>
            <a:r>
              <a:rPr lang="en-US" sz="1400" dirty="0">
                <a:solidFill>
                  <a:srgbClr val="222222"/>
                </a:solidFill>
              </a:rPr>
              <a:t>instrument_id</a:t>
            </a:r>
            <a:endParaRPr lang="en-US" sz="1400" dirty="0"/>
          </a:p>
          <a:p>
            <a:pPr marL="0" indent="0">
              <a:buNone/>
            </a:pPr>
            <a:r>
              <a:rPr lang="en-US" sz="1400" dirty="0">
                <a:solidFill>
                  <a:srgbClr val="222222"/>
                </a:solidFill>
              </a:rPr>
              <a:t>final_classification</a:t>
            </a:r>
            <a:endParaRPr lang="en-US" sz="1400" dirty="0"/>
          </a:p>
          <a:p>
            <a:pPr marL="0" indent="0">
              <a:buNone/>
            </a:pPr>
            <a:r>
              <a:rPr lang="en-US" sz="1400" dirty="0">
                <a:solidFill>
                  <a:srgbClr val="222222"/>
                </a:solidFill>
              </a:rPr>
              <a:t>law_intermediary_id</a:t>
            </a:r>
            <a:endParaRPr lang="en-US" sz="1400" dirty="0"/>
          </a:p>
          <a:p>
            <a:pPr marL="0" indent="0">
              <a:buNone/>
            </a:pPr>
            <a:r>
              <a:rPr lang="en-US" sz="1400" dirty="0">
                <a:solidFill>
                  <a:srgbClr val="222222"/>
                </a:solidFill>
              </a:rPr>
              <a:t>R_actor_id</a:t>
            </a:r>
            <a:endParaRPr lang="en-US" sz="1400" dirty="0"/>
          </a:p>
          <a:p>
            <a:pPr marL="0" indent="0">
              <a:buNone/>
            </a:pPr>
            <a:r>
              <a:rPr lang="en-US" sz="1400" dirty="0">
                <a:solidFill>
                  <a:srgbClr val="222222"/>
                </a:solidFill>
              </a:rPr>
              <a:t>I_actor_id</a:t>
            </a:r>
            <a:endParaRPr lang="en-US" sz="1400" dirty="0"/>
          </a:p>
          <a:p>
            <a:pPr marL="0" indent="0">
              <a:buNone/>
            </a:pPr>
            <a:r>
              <a:rPr lang="en-US" sz="1400" dirty="0">
                <a:solidFill>
                  <a:srgbClr val="222222"/>
                </a:solidFill>
              </a:rPr>
              <a:t>T_actor_id</a:t>
            </a:r>
            <a:endParaRPr lang="en-US" sz="1400" dirty="0"/>
          </a:p>
          <a:p>
            <a:pPr marL="0" indent="0">
              <a:buNone/>
            </a:pPr>
            <a:r>
              <a:rPr lang="en-US" sz="1400" dirty="0">
                <a:solidFill>
                  <a:srgbClr val="222222"/>
                </a:solidFill>
              </a:rPr>
              <a:t>regulatory_object</a:t>
            </a:r>
            <a:endParaRPr lang="en-US" sz="1400" dirty="0"/>
          </a:p>
          <a:p>
            <a:pPr marL="0" indent="0">
              <a:buNone/>
            </a:pPr>
            <a:r>
              <a:rPr lang="en-US" sz="1400" dirty="0">
                <a:solidFill>
                  <a:srgbClr val="222222"/>
                </a:solidFill>
              </a:rPr>
              <a:t>relation_purpose</a:t>
            </a:r>
            <a:endParaRPr lang="en-US" sz="1400" dirty="0"/>
          </a:p>
          <a:p>
            <a:pPr marL="0" indent="0">
              <a:buNone/>
            </a:pPr>
            <a:r>
              <a:rPr lang="en-US" sz="1400" dirty="0">
                <a:solidFill>
                  <a:srgbClr val="222222"/>
                </a:solidFill>
              </a:rPr>
              <a:t>mediated_object</a:t>
            </a:r>
            <a:endParaRPr lang="en-US" sz="1400" dirty="0"/>
          </a:p>
          <a:p>
            <a:pPr marL="0" indent="0">
              <a:buNone/>
            </a:pPr>
            <a:r>
              <a:rPr lang="en-US" sz="1400" dirty="0">
                <a:solidFill>
                  <a:srgbClr val="222222"/>
                </a:solidFill>
              </a:rPr>
              <a:t>third_actor_action</a:t>
            </a:r>
            <a:endParaRPr lang="en-US" sz="1400" dirty="0"/>
          </a:p>
          <a:p>
            <a:pPr marL="0" indent="0">
              <a:buNone/>
            </a:pPr>
            <a:r>
              <a:rPr lang="en-US" sz="1400" dirty="0">
                <a:solidFill>
                  <a:srgbClr val="222222"/>
                </a:solidFill>
              </a:rPr>
              <a:t>output</a:t>
            </a:r>
            <a:endParaRPr lang="en-US" sz="1400" dirty="0"/>
          </a:p>
          <a:p>
            <a:pPr marL="0" indent="0">
              <a:buNone/>
            </a:pPr>
            <a:r>
              <a:rPr lang="en-US" sz="1400" dirty="0">
                <a:solidFill>
                  <a:srgbClr val="222222"/>
                </a:solidFill>
              </a:rPr>
              <a:t>connection_to_RT_relation</a:t>
            </a:r>
            <a:endParaRPr lang="en-US" sz="1400" dirty="0"/>
          </a:p>
        </p:txBody>
      </p:sp>
      <p:sp>
        <p:nvSpPr>
          <p:cNvPr id="13" name="Text 11"/>
          <p:cNvSpPr/>
          <p:nvPr/>
        </p:nvSpPr>
        <p:spPr>
          <a:xfrm>
            <a:off x="502920" y="6492240"/>
            <a:ext cx="11201400" cy="228600"/>
          </a:xfrm>
          <a:prstGeom prst="rect">
            <a:avLst/>
          </a:prstGeom>
          <a:noFill/>
          <a:ln/>
        </p:spPr>
        <p:txBody>
          <a:bodyPr wrap="square" lIns="0" tIns="0" rIns="0" bIns="0" rtlCol="0" anchor="ctr">
            <a:normAutofit/>
          </a:bodyPr>
          <a:lstStyle/>
          <a:p>
            <a:pPr marL="0" indent="0">
              <a:buNone/>
            </a:pPr>
            <a:r>
              <a:rPr lang="en-US" sz="850" dirty="0">
                <a:solidFill>
                  <a:srgbClr val="777777"/>
                </a:solidFill>
                <a:latin typeface="Aptos" pitchFamily="34" charset="0"/>
                <a:ea typeface="Aptos" pitchFamily="34" charset="-122"/>
                <a:cs typeface="Aptos" pitchFamily="34" charset="-120"/>
              </a:rPr>
              <a:t>Source: R3 case-study dataset, DATA_DICTIONARY.</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01168"/>
            <a:ext cx="4389120" cy="256032"/>
          </a:xfrm>
          <a:prstGeom prst="rect">
            <a:avLst/>
          </a:prstGeom>
          <a:noFill/>
          <a:ln/>
        </p:spPr>
        <p:txBody>
          <a:bodyPr wrap="square" lIns="0" tIns="0" rIns="0" bIns="0" rtlCol="0" anchor="ctr"/>
          <a:lstStyle/>
          <a:p>
            <a:pPr marL="0" indent="0">
              <a:buNone/>
            </a:pPr>
            <a:r>
              <a:rPr lang="en-US" sz="1050" dirty="0">
                <a:solidFill>
                  <a:srgbClr val="5A5A5A"/>
                </a:solidFill>
                <a:latin typeface="Aptos" pitchFamily="34" charset="0"/>
                <a:ea typeface="Aptos" pitchFamily="34" charset="-122"/>
                <a:cs typeface="Aptos" pitchFamily="34" charset="-120"/>
              </a:rPr>
              <a:t>Law as Governance Group</a:t>
            </a:r>
            <a:endParaRPr lang="en-US" sz="1050" dirty="0"/>
          </a:p>
        </p:txBody>
      </p:sp>
      <p:sp>
        <p:nvSpPr>
          <p:cNvPr id="3" name="Text 1"/>
          <p:cNvSpPr/>
          <p:nvPr/>
        </p:nvSpPr>
        <p:spPr>
          <a:xfrm>
            <a:off x="8229600" y="201168"/>
            <a:ext cx="3429000" cy="256032"/>
          </a:xfrm>
          <a:prstGeom prst="rect">
            <a:avLst/>
          </a:prstGeom>
          <a:noFill/>
          <a:ln/>
        </p:spPr>
        <p:txBody>
          <a:bodyPr wrap="square" lIns="0" tIns="0" rIns="0" bIns="0" rtlCol="0" anchor="ctr"/>
          <a:lstStyle/>
          <a:p>
            <a:pPr marL="0" indent="0" algn="r">
              <a:buNone/>
            </a:pPr>
            <a:r>
              <a:rPr lang="en-US" sz="1050" dirty="0">
                <a:solidFill>
                  <a:srgbClr val="5A5A5A"/>
                </a:solidFill>
                <a:latin typeface="Aptos" pitchFamily="34" charset="0"/>
                <a:ea typeface="Aptos" pitchFamily="34" charset="-122"/>
                <a:cs typeface="Aptos" pitchFamily="34" charset="-120"/>
              </a:rPr>
              <a:t>Igor — cumulative work</a:t>
            </a:r>
            <a:endParaRPr lang="en-US" sz="1050" dirty="0"/>
          </a:p>
        </p:txBody>
      </p:sp>
      <p:sp>
        <p:nvSpPr>
          <p:cNvPr id="4" name="Shape 2"/>
          <p:cNvSpPr/>
          <p:nvPr/>
        </p:nvSpPr>
        <p:spPr>
          <a:xfrm>
            <a:off x="502920" y="530352"/>
            <a:ext cx="11201400" cy="0"/>
          </a:xfrm>
          <a:prstGeom prst="line">
            <a:avLst/>
          </a:prstGeom>
          <a:noFill/>
          <a:ln w="12700">
            <a:solidFill>
              <a:srgbClr val="D4DAE0"/>
            </a:solidFill>
            <a:prstDash val="solid"/>
          </a:ln>
        </p:spPr>
      </p:sp>
      <p:sp>
        <p:nvSpPr>
          <p:cNvPr id="5" name="Text 3"/>
          <p:cNvSpPr/>
          <p:nvPr/>
        </p:nvSpPr>
        <p:spPr>
          <a:xfrm>
            <a:off x="502920" y="786384"/>
            <a:ext cx="8778240" cy="438912"/>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Full variable list III</a:t>
            </a:r>
            <a:endParaRPr lang="en-US" sz="2600" dirty="0"/>
          </a:p>
        </p:txBody>
      </p:sp>
      <p:sp>
        <p:nvSpPr>
          <p:cNvPr id="6" name="Text 4"/>
          <p:cNvSpPr/>
          <p:nvPr/>
        </p:nvSpPr>
        <p:spPr>
          <a:xfrm>
            <a:off x="521208" y="1261872"/>
            <a:ext cx="10607040" cy="347472"/>
          </a:xfrm>
          <a:prstGeom prst="rect">
            <a:avLst/>
          </a:prstGeom>
          <a:noFill/>
          <a:ln/>
        </p:spPr>
        <p:txBody>
          <a:bodyPr wrap="square" lIns="0" tIns="0" rIns="0" bIns="0" rtlCol="0" anchor="ctr"/>
          <a:lstStyle/>
          <a:p>
            <a:pPr marL="0" indent="0">
              <a:buNone/>
            </a:pPr>
            <a:r>
              <a:rPr lang="en-US" sz="1600" dirty="0">
                <a:solidFill>
                  <a:srgbClr val="5A5A5A"/>
                </a:solidFill>
                <a:latin typeface="Aptos" pitchFamily="34" charset="0"/>
                <a:ea typeface="Aptos" pitchFamily="34" charset="-122"/>
                <a:cs typeface="Aptos" pitchFamily="34" charset="-120"/>
              </a:rPr>
              <a:t>Full variable list, split for readability.</a:t>
            </a:r>
            <a:endParaRPr lang="en-US" sz="1600" dirty="0"/>
          </a:p>
        </p:txBody>
      </p:sp>
      <p:sp>
        <p:nvSpPr>
          <p:cNvPr id="7" name="Shape 5"/>
          <p:cNvSpPr/>
          <p:nvPr/>
        </p:nvSpPr>
        <p:spPr>
          <a:xfrm>
            <a:off x="685800" y="1737360"/>
            <a:ext cx="3429000" cy="4434840"/>
          </a:xfrm>
          <a:prstGeom prst="roundRect">
            <a:avLst>
              <a:gd name="adj" fmla="val 1600"/>
            </a:avLst>
          </a:prstGeom>
          <a:solidFill>
            <a:srgbClr val="F4F7FA"/>
          </a:solidFill>
          <a:ln w="12700">
            <a:solidFill>
              <a:srgbClr val="D4DAE0"/>
            </a:solidFill>
            <a:prstDash val="solid"/>
          </a:ln>
        </p:spPr>
      </p:sp>
      <p:sp>
        <p:nvSpPr>
          <p:cNvPr id="8" name="Text 6"/>
          <p:cNvSpPr/>
          <p:nvPr/>
        </p:nvSpPr>
        <p:spPr>
          <a:xfrm>
            <a:off x="813816" y="1847088"/>
            <a:ext cx="3172968" cy="256032"/>
          </a:xfrm>
          <a:prstGeom prst="rect">
            <a:avLst/>
          </a:prstGeom>
          <a:noFill/>
          <a:ln/>
        </p:spPr>
        <p:txBody>
          <a:bodyPr wrap="square" lIns="0" tIns="0" rIns="0" bIns="0" rtlCol="0" anchor="ctr">
            <a:normAutofit/>
          </a:bodyPr>
          <a:lstStyle/>
          <a:p>
            <a:pPr marL="0" indent="0">
              <a:buNone/>
            </a:pPr>
            <a:r>
              <a:rPr lang="en-US" sz="1550" b="1" dirty="0">
                <a:solidFill>
                  <a:srgbClr val="17365D"/>
                </a:solidFill>
              </a:rPr>
              <a:t>MECHANISM EVENT</a:t>
            </a:r>
            <a:endParaRPr lang="en-US" sz="1550" dirty="0"/>
          </a:p>
        </p:txBody>
      </p:sp>
      <p:sp>
        <p:nvSpPr>
          <p:cNvPr id="9" name="Text 7"/>
          <p:cNvSpPr/>
          <p:nvPr/>
        </p:nvSpPr>
        <p:spPr>
          <a:xfrm>
            <a:off x="841248" y="2221992"/>
            <a:ext cx="3118104" cy="3794760"/>
          </a:xfrm>
          <a:prstGeom prst="rect">
            <a:avLst/>
          </a:prstGeom>
          <a:noFill/>
          <a:ln/>
        </p:spPr>
        <p:txBody>
          <a:bodyPr wrap="square" lIns="127" tIns="127" rIns="127" bIns="127" rtlCol="0" anchor="ctr">
            <a:normAutofit/>
          </a:bodyPr>
          <a:lstStyle/>
          <a:p>
            <a:pPr marL="0" indent="0">
              <a:buNone/>
            </a:pPr>
            <a:r>
              <a:rPr lang="en-US" sz="1420" dirty="0">
                <a:solidFill>
                  <a:srgbClr val="222222"/>
                </a:solidFill>
              </a:rPr>
              <a:t>mechanism_event_id</a:t>
            </a:r>
            <a:endParaRPr lang="en-US" sz="1420" dirty="0"/>
          </a:p>
          <a:p>
            <a:pPr marL="0" indent="0">
              <a:buNone/>
            </a:pPr>
            <a:r>
              <a:rPr lang="en-US" sz="1420" dirty="0">
                <a:solidFill>
                  <a:srgbClr val="222222"/>
                </a:solidFill>
              </a:rPr>
              <a:t>relation_id</a:t>
            </a:r>
            <a:endParaRPr lang="en-US" sz="1420" dirty="0"/>
          </a:p>
          <a:p>
            <a:pPr marL="0" indent="0">
              <a:buNone/>
            </a:pPr>
            <a:r>
              <a:rPr lang="en-US" sz="1420" dirty="0">
                <a:solidFill>
                  <a:srgbClr val="222222"/>
                </a:solidFill>
              </a:rPr>
              <a:t>law_intermediary_id</a:t>
            </a:r>
            <a:endParaRPr lang="en-US" sz="1420" dirty="0"/>
          </a:p>
          <a:p>
            <a:pPr marL="0" indent="0">
              <a:buNone/>
            </a:pPr>
            <a:r>
              <a:rPr lang="en-US" sz="1420" dirty="0">
                <a:solidFill>
                  <a:srgbClr val="222222"/>
                </a:solidFill>
              </a:rPr>
              <a:t>input</a:t>
            </a:r>
            <a:endParaRPr lang="en-US" sz="1420" dirty="0"/>
          </a:p>
          <a:p>
            <a:pPr marL="0" indent="0">
              <a:buNone/>
            </a:pPr>
            <a:r>
              <a:rPr lang="en-US" sz="1420" dirty="0">
                <a:solidFill>
                  <a:srgbClr val="222222"/>
                </a:solidFill>
              </a:rPr>
              <a:t>mediated_object</a:t>
            </a:r>
            <a:endParaRPr lang="en-US" sz="1420" dirty="0"/>
          </a:p>
          <a:p>
            <a:pPr marL="0" indent="0">
              <a:buNone/>
            </a:pPr>
            <a:r>
              <a:rPr lang="en-US" sz="1420" dirty="0">
                <a:solidFill>
                  <a:srgbClr val="222222"/>
                </a:solidFill>
              </a:rPr>
              <a:t>transformation</a:t>
            </a:r>
            <a:endParaRPr lang="en-US" sz="1420" dirty="0"/>
          </a:p>
          <a:p>
            <a:pPr marL="0" indent="0">
              <a:buNone/>
            </a:pPr>
            <a:r>
              <a:rPr lang="en-US" sz="1420" dirty="0">
                <a:solidFill>
                  <a:srgbClr val="222222"/>
                </a:solidFill>
              </a:rPr>
              <a:t>output</a:t>
            </a:r>
            <a:endParaRPr lang="en-US" sz="1420" dirty="0"/>
          </a:p>
          <a:p>
            <a:pPr marL="0" indent="0">
              <a:buNone/>
            </a:pPr>
            <a:r>
              <a:rPr lang="en-US" sz="1420" dirty="0">
                <a:solidFill>
                  <a:srgbClr val="222222"/>
                </a:solidFill>
              </a:rPr>
              <a:t>output_recipient</a:t>
            </a:r>
            <a:endParaRPr lang="en-US" sz="1420" dirty="0"/>
          </a:p>
          <a:p>
            <a:pPr marL="0" indent="0">
              <a:buNone/>
            </a:pPr>
            <a:r>
              <a:rPr lang="en-US" sz="1420" dirty="0">
                <a:solidFill>
                  <a:srgbClr val="222222"/>
                </a:solidFill>
              </a:rPr>
              <a:t>regulatory_connection</a:t>
            </a:r>
            <a:endParaRPr lang="en-US" sz="1420" dirty="0"/>
          </a:p>
          <a:p>
            <a:pPr marL="0" indent="0">
              <a:buNone/>
            </a:pPr>
            <a:r>
              <a:rPr lang="en-US" sz="1420" dirty="0">
                <a:solidFill>
                  <a:srgbClr val="222222"/>
                </a:solidFill>
              </a:rPr>
              <a:t>mechanism_code</a:t>
            </a:r>
            <a:endParaRPr lang="en-US" sz="1420" dirty="0"/>
          </a:p>
          <a:p>
            <a:pPr marL="0" indent="0">
              <a:buNone/>
            </a:pPr>
            <a:r>
              <a:rPr lang="en-US" sz="1420" dirty="0">
                <a:solidFill>
                  <a:srgbClr val="222222"/>
                </a:solidFill>
              </a:rPr>
              <a:t>mechanism_family</a:t>
            </a:r>
            <a:endParaRPr lang="en-US" sz="1420" dirty="0"/>
          </a:p>
        </p:txBody>
      </p:sp>
      <p:sp>
        <p:nvSpPr>
          <p:cNvPr id="10" name="Shape 8"/>
          <p:cNvSpPr/>
          <p:nvPr/>
        </p:nvSpPr>
        <p:spPr>
          <a:xfrm>
            <a:off x="4498848" y="1737360"/>
            <a:ext cx="3429000" cy="4434840"/>
          </a:xfrm>
          <a:prstGeom prst="roundRect">
            <a:avLst>
              <a:gd name="adj" fmla="val 1600"/>
            </a:avLst>
          </a:prstGeom>
          <a:solidFill>
            <a:srgbClr val="F4F7FA"/>
          </a:solidFill>
          <a:ln w="12700">
            <a:solidFill>
              <a:srgbClr val="D4DAE0"/>
            </a:solidFill>
            <a:prstDash val="solid"/>
          </a:ln>
        </p:spPr>
      </p:sp>
      <p:sp>
        <p:nvSpPr>
          <p:cNvPr id="11" name="Text 9"/>
          <p:cNvSpPr/>
          <p:nvPr/>
        </p:nvSpPr>
        <p:spPr>
          <a:xfrm>
            <a:off x="4626864" y="1847088"/>
            <a:ext cx="3172968" cy="256032"/>
          </a:xfrm>
          <a:prstGeom prst="rect">
            <a:avLst/>
          </a:prstGeom>
          <a:noFill/>
          <a:ln/>
        </p:spPr>
        <p:txBody>
          <a:bodyPr wrap="square" lIns="0" tIns="0" rIns="0" bIns="0" rtlCol="0" anchor="ctr">
            <a:normAutofit/>
          </a:bodyPr>
          <a:lstStyle/>
          <a:p>
            <a:pPr marL="0" indent="0">
              <a:buNone/>
            </a:pPr>
            <a:r>
              <a:rPr lang="en-US" sz="1550" b="1" dirty="0">
                <a:solidFill>
                  <a:srgbClr val="17365D"/>
                </a:solidFill>
              </a:rPr>
              <a:t>CONFIGURATION</a:t>
            </a:r>
            <a:endParaRPr lang="en-US" sz="1550" dirty="0"/>
          </a:p>
        </p:txBody>
      </p:sp>
      <p:sp>
        <p:nvSpPr>
          <p:cNvPr id="12" name="Text 10"/>
          <p:cNvSpPr/>
          <p:nvPr/>
        </p:nvSpPr>
        <p:spPr>
          <a:xfrm>
            <a:off x="4654296" y="2221992"/>
            <a:ext cx="3118104" cy="3794760"/>
          </a:xfrm>
          <a:prstGeom prst="rect">
            <a:avLst/>
          </a:prstGeom>
          <a:noFill/>
          <a:ln/>
        </p:spPr>
        <p:txBody>
          <a:bodyPr wrap="square" lIns="127" tIns="127" rIns="127" bIns="127" rtlCol="0" anchor="ctr">
            <a:normAutofit/>
          </a:bodyPr>
          <a:lstStyle/>
          <a:p>
            <a:pPr marL="0" indent="0">
              <a:buNone/>
            </a:pPr>
            <a:r>
              <a:rPr lang="en-US" sz="1550" dirty="0">
                <a:solidFill>
                  <a:srgbClr val="222222"/>
                </a:solidFill>
              </a:rPr>
              <a:t>configuration_id</a:t>
            </a:r>
            <a:endParaRPr lang="en-US" sz="1550" dirty="0"/>
          </a:p>
          <a:p>
            <a:pPr marL="0" indent="0">
              <a:buNone/>
            </a:pPr>
            <a:r>
              <a:rPr lang="en-US" sz="1550" dirty="0">
                <a:solidFill>
                  <a:srgbClr val="222222"/>
                </a:solidFill>
              </a:rPr>
              <a:t>relation_id</a:t>
            </a:r>
            <a:endParaRPr lang="en-US" sz="1550" dirty="0"/>
          </a:p>
          <a:p>
            <a:pPr marL="0" indent="0">
              <a:buNone/>
            </a:pPr>
            <a:r>
              <a:rPr lang="en-US" sz="1550" dirty="0">
                <a:solidFill>
                  <a:srgbClr val="222222"/>
                </a:solidFill>
              </a:rPr>
              <a:t>configuration_type</a:t>
            </a:r>
            <a:endParaRPr lang="en-US" sz="1550" dirty="0"/>
          </a:p>
          <a:p>
            <a:pPr marL="0" indent="0">
              <a:buNone/>
            </a:pPr>
            <a:r>
              <a:rPr lang="en-US" sz="1550" dirty="0">
                <a:solidFill>
                  <a:srgbClr val="222222"/>
                </a:solidFill>
              </a:rPr>
              <a:t>sequence_present</a:t>
            </a:r>
            <a:endParaRPr lang="en-US" sz="1550" dirty="0"/>
          </a:p>
        </p:txBody>
      </p:sp>
      <p:sp>
        <p:nvSpPr>
          <p:cNvPr id="13" name="Shape 11"/>
          <p:cNvSpPr/>
          <p:nvPr/>
        </p:nvSpPr>
        <p:spPr>
          <a:xfrm>
            <a:off x="8311896" y="1737360"/>
            <a:ext cx="3429000" cy="4434840"/>
          </a:xfrm>
          <a:prstGeom prst="roundRect">
            <a:avLst>
              <a:gd name="adj" fmla="val 1600"/>
            </a:avLst>
          </a:prstGeom>
          <a:solidFill>
            <a:srgbClr val="F4F7FA"/>
          </a:solidFill>
          <a:ln w="12700">
            <a:solidFill>
              <a:srgbClr val="D4DAE0"/>
            </a:solidFill>
            <a:prstDash val="solid"/>
          </a:ln>
        </p:spPr>
      </p:sp>
      <p:sp>
        <p:nvSpPr>
          <p:cNvPr id="14" name="Text 12"/>
          <p:cNvSpPr/>
          <p:nvPr/>
        </p:nvSpPr>
        <p:spPr>
          <a:xfrm>
            <a:off x="8439912" y="1847088"/>
            <a:ext cx="3172968" cy="256032"/>
          </a:xfrm>
          <a:prstGeom prst="rect">
            <a:avLst/>
          </a:prstGeom>
          <a:noFill/>
          <a:ln/>
        </p:spPr>
        <p:txBody>
          <a:bodyPr wrap="square" lIns="0" tIns="0" rIns="0" bIns="0" rtlCol="0" anchor="ctr">
            <a:normAutofit/>
          </a:bodyPr>
          <a:lstStyle/>
          <a:p>
            <a:pPr marL="0" indent="0">
              <a:buNone/>
            </a:pPr>
            <a:r>
              <a:rPr lang="en-US" sz="1550" b="1" dirty="0">
                <a:solidFill>
                  <a:srgbClr val="17365D"/>
                </a:solidFill>
              </a:rPr>
              <a:t>MECHANISM EDGE</a:t>
            </a:r>
            <a:endParaRPr lang="en-US" sz="1550" dirty="0"/>
          </a:p>
        </p:txBody>
      </p:sp>
      <p:sp>
        <p:nvSpPr>
          <p:cNvPr id="15" name="Text 13"/>
          <p:cNvSpPr/>
          <p:nvPr/>
        </p:nvSpPr>
        <p:spPr>
          <a:xfrm>
            <a:off x="8467344" y="2221992"/>
            <a:ext cx="3118104" cy="3794760"/>
          </a:xfrm>
          <a:prstGeom prst="rect">
            <a:avLst/>
          </a:prstGeom>
          <a:noFill/>
          <a:ln/>
        </p:spPr>
        <p:txBody>
          <a:bodyPr wrap="square" lIns="127" tIns="127" rIns="127" bIns="127" rtlCol="0" anchor="ctr">
            <a:normAutofit/>
          </a:bodyPr>
          <a:lstStyle/>
          <a:p>
            <a:pPr marL="0" indent="0">
              <a:buNone/>
            </a:pPr>
            <a:r>
              <a:rPr lang="en-US" sz="1520" dirty="0">
                <a:solidFill>
                  <a:srgbClr val="222222"/>
                </a:solidFill>
              </a:rPr>
              <a:t>edge_id</a:t>
            </a:r>
            <a:endParaRPr lang="en-US" sz="1520" dirty="0"/>
          </a:p>
          <a:p>
            <a:pPr marL="0" indent="0">
              <a:buNone/>
            </a:pPr>
            <a:r>
              <a:rPr lang="en-US" sz="1520" dirty="0">
                <a:solidFill>
                  <a:srgbClr val="222222"/>
                </a:solidFill>
              </a:rPr>
              <a:t>relation_id</a:t>
            </a:r>
            <a:endParaRPr lang="en-US" sz="1520" dirty="0"/>
          </a:p>
          <a:p>
            <a:pPr marL="0" indent="0">
              <a:buNone/>
            </a:pPr>
            <a:r>
              <a:rPr lang="en-US" sz="1520" dirty="0">
                <a:solidFill>
                  <a:srgbClr val="222222"/>
                </a:solidFill>
              </a:rPr>
              <a:t>from_event_id</a:t>
            </a:r>
            <a:endParaRPr lang="en-US" sz="1520" dirty="0"/>
          </a:p>
          <a:p>
            <a:pPr marL="0" indent="0">
              <a:buNone/>
            </a:pPr>
            <a:r>
              <a:rPr lang="en-US" sz="1520" dirty="0">
                <a:solidFill>
                  <a:srgbClr val="222222"/>
                </a:solidFill>
              </a:rPr>
              <a:t>to_event_id</a:t>
            </a:r>
            <a:endParaRPr lang="en-US" sz="1520" dirty="0"/>
          </a:p>
          <a:p>
            <a:pPr marL="0" indent="0">
              <a:buNone/>
            </a:pPr>
            <a:r>
              <a:rPr lang="en-US" sz="1520" dirty="0">
                <a:solidFill>
                  <a:srgbClr val="222222"/>
                </a:solidFill>
              </a:rPr>
              <a:t>transferred_object</a:t>
            </a:r>
            <a:endParaRPr lang="en-US" sz="1520" dirty="0"/>
          </a:p>
          <a:p>
            <a:pPr marL="0" indent="0">
              <a:buNone/>
            </a:pPr>
            <a:r>
              <a:rPr lang="en-US" sz="1520" dirty="0">
                <a:solidFill>
                  <a:srgbClr val="222222"/>
                </a:solidFill>
              </a:rPr>
              <a:t>dependency_description</a:t>
            </a:r>
            <a:endParaRPr lang="en-US" sz="1520" dirty="0"/>
          </a:p>
        </p:txBody>
      </p:sp>
      <p:sp>
        <p:nvSpPr>
          <p:cNvPr id="16" name="Text 14"/>
          <p:cNvSpPr/>
          <p:nvPr/>
        </p:nvSpPr>
        <p:spPr>
          <a:xfrm>
            <a:off x="502920" y="6492240"/>
            <a:ext cx="11201400" cy="228600"/>
          </a:xfrm>
          <a:prstGeom prst="rect">
            <a:avLst/>
          </a:prstGeom>
          <a:noFill/>
          <a:ln/>
        </p:spPr>
        <p:txBody>
          <a:bodyPr wrap="square" lIns="0" tIns="0" rIns="0" bIns="0" rtlCol="0" anchor="ctr">
            <a:normAutofit/>
          </a:bodyPr>
          <a:lstStyle/>
          <a:p>
            <a:pPr marL="0" indent="0">
              <a:buNone/>
            </a:pPr>
            <a:r>
              <a:rPr lang="en-US" sz="850" dirty="0">
                <a:solidFill>
                  <a:srgbClr val="777777"/>
                </a:solidFill>
                <a:latin typeface="Aptos" pitchFamily="34" charset="0"/>
                <a:ea typeface="Aptos" pitchFamily="34" charset="-122"/>
                <a:cs typeface="Aptos" pitchFamily="34" charset="-120"/>
              </a:rPr>
              <a:t>Source: R3 case-study dataset, DATA_DICTIONARY.</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01168"/>
            <a:ext cx="4389120" cy="256032"/>
          </a:xfrm>
          <a:prstGeom prst="rect">
            <a:avLst/>
          </a:prstGeom>
          <a:noFill/>
          <a:ln/>
        </p:spPr>
        <p:txBody>
          <a:bodyPr wrap="square" lIns="0" tIns="0" rIns="0" bIns="0" rtlCol="0" anchor="ctr"/>
          <a:lstStyle/>
          <a:p>
            <a:pPr marL="0" indent="0">
              <a:buNone/>
            </a:pPr>
            <a:r>
              <a:rPr lang="en-US" sz="1050" dirty="0">
                <a:solidFill>
                  <a:srgbClr val="5A5A5A"/>
                </a:solidFill>
                <a:latin typeface="Aptos" pitchFamily="34" charset="0"/>
                <a:ea typeface="Aptos" pitchFamily="34" charset="-122"/>
                <a:cs typeface="Aptos" pitchFamily="34" charset="-120"/>
              </a:rPr>
              <a:t>Law as Governance Group</a:t>
            </a:r>
            <a:endParaRPr lang="en-US" sz="1050" dirty="0"/>
          </a:p>
        </p:txBody>
      </p:sp>
      <p:sp>
        <p:nvSpPr>
          <p:cNvPr id="3" name="Text 1"/>
          <p:cNvSpPr/>
          <p:nvPr/>
        </p:nvSpPr>
        <p:spPr>
          <a:xfrm>
            <a:off x="8229600" y="201168"/>
            <a:ext cx="3429000" cy="256032"/>
          </a:xfrm>
          <a:prstGeom prst="rect">
            <a:avLst/>
          </a:prstGeom>
          <a:noFill/>
          <a:ln/>
        </p:spPr>
        <p:txBody>
          <a:bodyPr wrap="square" lIns="0" tIns="0" rIns="0" bIns="0" rtlCol="0" anchor="ctr"/>
          <a:lstStyle/>
          <a:p>
            <a:pPr marL="0" indent="0" algn="r">
              <a:buNone/>
            </a:pPr>
            <a:r>
              <a:rPr lang="en-US" sz="1050" dirty="0">
                <a:solidFill>
                  <a:srgbClr val="5A5A5A"/>
                </a:solidFill>
                <a:latin typeface="Aptos" pitchFamily="34" charset="0"/>
                <a:ea typeface="Aptos" pitchFamily="34" charset="-122"/>
                <a:cs typeface="Aptos" pitchFamily="34" charset="-120"/>
              </a:rPr>
              <a:t>Igor — cumulative work</a:t>
            </a:r>
            <a:endParaRPr lang="en-US" sz="1050" dirty="0"/>
          </a:p>
        </p:txBody>
      </p:sp>
      <p:sp>
        <p:nvSpPr>
          <p:cNvPr id="4" name="Shape 2"/>
          <p:cNvSpPr/>
          <p:nvPr/>
        </p:nvSpPr>
        <p:spPr>
          <a:xfrm>
            <a:off x="502920" y="530352"/>
            <a:ext cx="11201400" cy="0"/>
          </a:xfrm>
          <a:prstGeom prst="line">
            <a:avLst/>
          </a:prstGeom>
          <a:noFill/>
          <a:ln w="12700">
            <a:solidFill>
              <a:srgbClr val="D4DAE0"/>
            </a:solidFill>
            <a:prstDash val="solid"/>
          </a:ln>
        </p:spPr>
      </p:sp>
      <p:sp>
        <p:nvSpPr>
          <p:cNvPr id="5" name="Text 3"/>
          <p:cNvSpPr/>
          <p:nvPr/>
        </p:nvSpPr>
        <p:spPr>
          <a:xfrm>
            <a:off x="502920" y="786384"/>
            <a:ext cx="8778240" cy="438912"/>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Full variable list IV</a:t>
            </a:r>
            <a:endParaRPr lang="en-US" sz="2600" dirty="0"/>
          </a:p>
        </p:txBody>
      </p:sp>
      <p:sp>
        <p:nvSpPr>
          <p:cNvPr id="6" name="Text 4"/>
          <p:cNvSpPr/>
          <p:nvPr/>
        </p:nvSpPr>
        <p:spPr>
          <a:xfrm>
            <a:off x="521208" y="1261872"/>
            <a:ext cx="10607040" cy="347472"/>
          </a:xfrm>
          <a:prstGeom prst="rect">
            <a:avLst/>
          </a:prstGeom>
          <a:noFill/>
          <a:ln/>
        </p:spPr>
        <p:txBody>
          <a:bodyPr wrap="square" lIns="0" tIns="0" rIns="0" bIns="0" rtlCol="0" anchor="ctr"/>
          <a:lstStyle/>
          <a:p>
            <a:pPr marL="0" indent="0">
              <a:buNone/>
            </a:pPr>
            <a:r>
              <a:rPr lang="en-US" sz="1600" dirty="0">
                <a:solidFill>
                  <a:srgbClr val="5A5A5A"/>
                </a:solidFill>
                <a:latin typeface="Aptos" pitchFamily="34" charset="0"/>
                <a:ea typeface="Aptos" pitchFamily="34" charset="-122"/>
                <a:cs typeface="Aptos" pitchFamily="34" charset="-120"/>
              </a:rPr>
              <a:t>Full variable list, split for readability.</a:t>
            </a:r>
            <a:endParaRPr lang="en-US" sz="1600" dirty="0"/>
          </a:p>
        </p:txBody>
      </p:sp>
      <p:sp>
        <p:nvSpPr>
          <p:cNvPr id="7" name="Shape 5"/>
          <p:cNvSpPr/>
          <p:nvPr/>
        </p:nvSpPr>
        <p:spPr>
          <a:xfrm>
            <a:off x="685800" y="1737360"/>
            <a:ext cx="5257800" cy="4434840"/>
          </a:xfrm>
          <a:prstGeom prst="roundRect">
            <a:avLst>
              <a:gd name="adj" fmla="val 1237"/>
            </a:avLst>
          </a:prstGeom>
          <a:solidFill>
            <a:srgbClr val="F4F7FA"/>
          </a:solidFill>
          <a:ln w="12700">
            <a:solidFill>
              <a:srgbClr val="D4DAE0"/>
            </a:solidFill>
            <a:prstDash val="solid"/>
          </a:ln>
        </p:spPr>
      </p:sp>
      <p:sp>
        <p:nvSpPr>
          <p:cNvPr id="8" name="Text 6"/>
          <p:cNvSpPr/>
          <p:nvPr/>
        </p:nvSpPr>
        <p:spPr>
          <a:xfrm>
            <a:off x="813816" y="1847088"/>
            <a:ext cx="5001768" cy="256032"/>
          </a:xfrm>
          <a:prstGeom prst="rect">
            <a:avLst/>
          </a:prstGeom>
          <a:noFill/>
          <a:ln/>
        </p:spPr>
        <p:txBody>
          <a:bodyPr wrap="square" lIns="0" tIns="0" rIns="0" bIns="0" rtlCol="0" anchor="ctr">
            <a:normAutofit/>
          </a:bodyPr>
          <a:lstStyle/>
          <a:p>
            <a:pPr marL="0" indent="0">
              <a:buNone/>
            </a:pPr>
            <a:r>
              <a:rPr lang="en-US" sz="1550" b="1" dirty="0">
                <a:solidFill>
                  <a:srgbClr val="17365D"/>
                </a:solidFill>
              </a:rPr>
              <a:t>LEGAL EVIDENCE</a:t>
            </a:r>
            <a:endParaRPr lang="en-US" sz="1550" dirty="0"/>
          </a:p>
        </p:txBody>
      </p:sp>
      <p:sp>
        <p:nvSpPr>
          <p:cNvPr id="9" name="Text 7"/>
          <p:cNvSpPr/>
          <p:nvPr/>
        </p:nvSpPr>
        <p:spPr>
          <a:xfrm>
            <a:off x="841248" y="2221992"/>
            <a:ext cx="4946904" cy="3794760"/>
          </a:xfrm>
          <a:prstGeom prst="rect">
            <a:avLst/>
          </a:prstGeom>
          <a:noFill/>
          <a:ln/>
        </p:spPr>
        <p:txBody>
          <a:bodyPr wrap="square" lIns="127" tIns="127" rIns="127" bIns="127" rtlCol="0" anchor="ctr">
            <a:normAutofit/>
          </a:bodyPr>
          <a:lstStyle/>
          <a:p>
            <a:pPr marL="0" indent="0">
              <a:buNone/>
            </a:pPr>
            <a:r>
              <a:rPr lang="en-US" sz="1460" dirty="0">
                <a:solidFill>
                  <a:srgbClr val="222222"/>
                </a:solidFill>
              </a:rPr>
              <a:t>evidence_id</a:t>
            </a:r>
            <a:endParaRPr lang="en-US" sz="1460" dirty="0"/>
          </a:p>
          <a:p>
            <a:pPr marL="0" indent="0">
              <a:buNone/>
            </a:pPr>
            <a:r>
              <a:rPr lang="en-US" sz="1460" dirty="0">
                <a:solidFill>
                  <a:srgbClr val="222222"/>
                </a:solidFill>
              </a:rPr>
              <a:t>analytical_unit_type</a:t>
            </a:r>
            <a:endParaRPr lang="en-US" sz="1460" dirty="0"/>
          </a:p>
          <a:p>
            <a:pPr marL="0" indent="0">
              <a:buNone/>
            </a:pPr>
            <a:r>
              <a:rPr lang="en-US" sz="1460" dirty="0">
                <a:solidFill>
                  <a:srgbClr val="222222"/>
                </a:solidFill>
              </a:rPr>
              <a:t>analytical_unit_id</a:t>
            </a:r>
            <a:endParaRPr lang="en-US" sz="1460" dirty="0"/>
          </a:p>
          <a:p>
            <a:pPr marL="0" indent="0">
              <a:buNone/>
            </a:pPr>
            <a:r>
              <a:rPr lang="en-US" sz="1460" dirty="0">
                <a:solidFill>
                  <a:srgbClr val="222222"/>
                </a:solidFill>
              </a:rPr>
              <a:t>variable</a:t>
            </a:r>
            <a:endParaRPr lang="en-US" sz="1460" dirty="0"/>
          </a:p>
          <a:p>
            <a:pPr marL="0" indent="0">
              <a:buNone/>
            </a:pPr>
            <a:r>
              <a:rPr lang="en-US" sz="1460" dirty="0">
                <a:solidFill>
                  <a:srgbClr val="222222"/>
                </a:solidFill>
              </a:rPr>
              <a:t>coded_value</a:t>
            </a:r>
            <a:endParaRPr lang="en-US" sz="1460" dirty="0"/>
          </a:p>
          <a:p>
            <a:pPr marL="0" indent="0">
              <a:buNone/>
            </a:pPr>
            <a:r>
              <a:rPr lang="en-US" sz="1460" dirty="0">
                <a:solidFill>
                  <a:srgbClr val="222222"/>
                </a:solidFill>
              </a:rPr>
              <a:t>celex_id</a:t>
            </a:r>
            <a:endParaRPr lang="en-US" sz="1460" dirty="0"/>
          </a:p>
          <a:p>
            <a:pPr marL="0" indent="0">
              <a:buNone/>
            </a:pPr>
            <a:r>
              <a:rPr lang="en-US" sz="1460" dirty="0">
                <a:solidFill>
                  <a:srgbClr val="222222"/>
                </a:solidFill>
              </a:rPr>
              <a:t>provision</a:t>
            </a:r>
            <a:endParaRPr lang="en-US" sz="1460" dirty="0"/>
          </a:p>
          <a:p>
            <a:pPr marL="0" indent="0">
              <a:buNone/>
            </a:pPr>
            <a:r>
              <a:rPr lang="en-US" sz="1460" dirty="0">
                <a:solidFill>
                  <a:srgbClr val="222222"/>
                </a:solidFill>
              </a:rPr>
              <a:t>source_anchor</a:t>
            </a:r>
            <a:endParaRPr lang="en-US" sz="1460" dirty="0"/>
          </a:p>
          <a:p>
            <a:pPr marL="0" indent="0">
              <a:buNone/>
            </a:pPr>
            <a:r>
              <a:rPr lang="en-US" sz="1460" dirty="0">
                <a:solidFill>
                  <a:srgbClr val="222222"/>
                </a:solidFill>
              </a:rPr>
              <a:t>evidence_type</a:t>
            </a:r>
            <a:endParaRPr lang="en-US" sz="1460" dirty="0"/>
          </a:p>
          <a:p>
            <a:pPr marL="0" indent="0">
              <a:buNone/>
            </a:pPr>
            <a:r>
              <a:rPr lang="en-US" sz="1460" dirty="0">
                <a:solidFill>
                  <a:srgbClr val="222222"/>
                </a:solidFill>
              </a:rPr>
              <a:t>evidence_note</a:t>
            </a:r>
            <a:endParaRPr lang="en-US" sz="1460" dirty="0"/>
          </a:p>
        </p:txBody>
      </p:sp>
      <p:sp>
        <p:nvSpPr>
          <p:cNvPr id="10" name="Shape 8"/>
          <p:cNvSpPr/>
          <p:nvPr/>
        </p:nvSpPr>
        <p:spPr>
          <a:xfrm>
            <a:off x="6675120" y="1737360"/>
            <a:ext cx="5257800" cy="4434840"/>
          </a:xfrm>
          <a:prstGeom prst="roundRect">
            <a:avLst>
              <a:gd name="adj" fmla="val 1237"/>
            </a:avLst>
          </a:prstGeom>
          <a:solidFill>
            <a:srgbClr val="F4F7FA"/>
          </a:solidFill>
          <a:ln w="12700">
            <a:solidFill>
              <a:srgbClr val="D4DAE0"/>
            </a:solidFill>
            <a:prstDash val="solid"/>
          </a:ln>
        </p:spPr>
      </p:sp>
      <p:sp>
        <p:nvSpPr>
          <p:cNvPr id="11" name="Text 9"/>
          <p:cNvSpPr/>
          <p:nvPr/>
        </p:nvSpPr>
        <p:spPr>
          <a:xfrm>
            <a:off x="6803136" y="1847088"/>
            <a:ext cx="5001768" cy="256032"/>
          </a:xfrm>
          <a:prstGeom prst="rect">
            <a:avLst/>
          </a:prstGeom>
          <a:noFill/>
          <a:ln/>
        </p:spPr>
        <p:txBody>
          <a:bodyPr wrap="square" lIns="0" tIns="0" rIns="0" bIns="0" rtlCol="0" anchor="ctr">
            <a:normAutofit/>
          </a:bodyPr>
          <a:lstStyle/>
          <a:p>
            <a:pPr marL="0" indent="0">
              <a:buNone/>
            </a:pPr>
            <a:r>
              <a:rPr lang="en-US" sz="1550" b="1" dirty="0">
                <a:solidFill>
                  <a:srgbClr val="17365D"/>
                </a:solidFill>
              </a:rPr>
              <a:t>DECISION PROVENANCE</a:t>
            </a:r>
            <a:endParaRPr lang="en-US" sz="1550" dirty="0"/>
          </a:p>
        </p:txBody>
      </p:sp>
      <p:sp>
        <p:nvSpPr>
          <p:cNvPr id="12" name="Text 10"/>
          <p:cNvSpPr/>
          <p:nvPr/>
        </p:nvSpPr>
        <p:spPr>
          <a:xfrm>
            <a:off x="6830568" y="2221992"/>
            <a:ext cx="4946904" cy="3794760"/>
          </a:xfrm>
          <a:prstGeom prst="rect">
            <a:avLst/>
          </a:prstGeom>
          <a:noFill/>
          <a:ln/>
        </p:spPr>
        <p:txBody>
          <a:bodyPr wrap="square" lIns="127" tIns="127" rIns="127" bIns="127" rtlCol="0" anchor="ctr">
            <a:normAutofit/>
          </a:bodyPr>
          <a:lstStyle/>
          <a:p>
            <a:pPr marL="0" indent="0">
              <a:buNone/>
            </a:pPr>
            <a:r>
              <a:rPr lang="en-US" sz="1410" dirty="0">
                <a:solidFill>
                  <a:srgbClr val="222222"/>
                </a:solidFill>
              </a:rPr>
              <a:t>decision_id</a:t>
            </a:r>
            <a:endParaRPr lang="en-US" sz="1410" dirty="0"/>
          </a:p>
          <a:p>
            <a:pPr marL="0" indent="0">
              <a:buNone/>
            </a:pPr>
            <a:r>
              <a:rPr lang="en-US" sz="1410" dirty="0">
                <a:solidFill>
                  <a:srgbClr val="222222"/>
                </a:solidFill>
              </a:rPr>
              <a:t>analytical_unit_id</a:t>
            </a:r>
            <a:endParaRPr lang="en-US" sz="1410" dirty="0"/>
          </a:p>
          <a:p>
            <a:pPr marL="0" indent="0">
              <a:buNone/>
            </a:pPr>
            <a:r>
              <a:rPr lang="en-US" sz="1410" dirty="0">
                <a:solidFill>
                  <a:srgbClr val="222222"/>
                </a:solidFill>
              </a:rPr>
              <a:t>issue</a:t>
            </a:r>
            <a:endParaRPr lang="en-US" sz="1410" dirty="0"/>
          </a:p>
          <a:p>
            <a:pPr marL="0" indent="0">
              <a:buNone/>
            </a:pPr>
            <a:r>
              <a:rPr lang="en-US" sz="1410" dirty="0">
                <a:solidFill>
                  <a:srgbClr val="222222"/>
                </a:solidFill>
              </a:rPr>
              <a:t>initial_value</a:t>
            </a:r>
            <a:endParaRPr lang="en-US" sz="1410" dirty="0"/>
          </a:p>
          <a:p>
            <a:pPr marL="0" indent="0">
              <a:buNone/>
            </a:pPr>
            <a:r>
              <a:rPr lang="en-US" sz="1410" dirty="0">
                <a:solidFill>
                  <a:srgbClr val="222222"/>
                </a:solidFill>
              </a:rPr>
              <a:t>adversarial_value</a:t>
            </a:r>
            <a:endParaRPr lang="en-US" sz="1410" dirty="0"/>
          </a:p>
          <a:p>
            <a:pPr marL="0" indent="0">
              <a:buNone/>
            </a:pPr>
            <a:r>
              <a:rPr lang="en-US" sz="1410" dirty="0">
                <a:solidFill>
                  <a:srgbClr val="222222"/>
                </a:solidFill>
              </a:rPr>
              <a:t>researcher_value</a:t>
            </a:r>
            <a:endParaRPr lang="en-US" sz="1410" dirty="0"/>
          </a:p>
          <a:p>
            <a:pPr marL="0" indent="0">
              <a:buNone/>
            </a:pPr>
            <a:r>
              <a:rPr lang="en-US" sz="1410" dirty="0">
                <a:solidFill>
                  <a:srgbClr val="222222"/>
                </a:solidFill>
              </a:rPr>
              <a:t>final_value</a:t>
            </a:r>
            <a:endParaRPr lang="en-US" sz="1410" dirty="0"/>
          </a:p>
          <a:p>
            <a:pPr marL="0" indent="0">
              <a:buNone/>
            </a:pPr>
            <a:r>
              <a:rPr lang="en-US" sz="1410" dirty="0">
                <a:solidFill>
                  <a:srgbClr val="222222"/>
                </a:solidFill>
              </a:rPr>
              <a:t>decision_owner</a:t>
            </a:r>
            <a:endParaRPr lang="en-US" sz="1410" dirty="0"/>
          </a:p>
          <a:p>
            <a:pPr marL="0" indent="0">
              <a:buNone/>
            </a:pPr>
            <a:r>
              <a:rPr lang="en-US" sz="1410" dirty="0">
                <a:solidFill>
                  <a:srgbClr val="222222"/>
                </a:solidFill>
              </a:rPr>
              <a:t>rationale</a:t>
            </a:r>
            <a:endParaRPr lang="en-US" sz="1410" dirty="0"/>
          </a:p>
          <a:p>
            <a:pPr marL="0" indent="0">
              <a:buNone/>
            </a:pPr>
            <a:r>
              <a:rPr lang="en-US" sz="1410" dirty="0">
                <a:solidFill>
                  <a:srgbClr val="222222"/>
                </a:solidFill>
              </a:rPr>
              <a:t>source_file</a:t>
            </a:r>
            <a:endParaRPr lang="en-US" sz="1410" dirty="0"/>
          </a:p>
          <a:p>
            <a:pPr marL="0" indent="0">
              <a:buNone/>
            </a:pPr>
            <a:r>
              <a:rPr lang="en-US" sz="1410" dirty="0">
                <a:solidFill>
                  <a:srgbClr val="222222"/>
                </a:solidFill>
              </a:rPr>
              <a:t>date</a:t>
            </a:r>
            <a:endParaRPr lang="en-US" sz="1410" dirty="0"/>
          </a:p>
        </p:txBody>
      </p:sp>
      <p:sp>
        <p:nvSpPr>
          <p:cNvPr id="13" name="Text 11"/>
          <p:cNvSpPr/>
          <p:nvPr/>
        </p:nvSpPr>
        <p:spPr>
          <a:xfrm>
            <a:off x="502920" y="6492240"/>
            <a:ext cx="11201400" cy="228600"/>
          </a:xfrm>
          <a:prstGeom prst="rect">
            <a:avLst/>
          </a:prstGeom>
          <a:noFill/>
          <a:ln/>
        </p:spPr>
        <p:txBody>
          <a:bodyPr wrap="square" lIns="0" tIns="0" rIns="0" bIns="0" rtlCol="0" anchor="ctr">
            <a:normAutofit/>
          </a:bodyPr>
          <a:lstStyle/>
          <a:p>
            <a:pPr marL="0" indent="0">
              <a:buNone/>
            </a:pPr>
            <a:r>
              <a:rPr lang="en-US" sz="850" dirty="0">
                <a:solidFill>
                  <a:srgbClr val="777777"/>
                </a:solidFill>
                <a:latin typeface="Aptos" pitchFamily="34" charset="0"/>
                <a:ea typeface="Aptos" pitchFamily="34" charset="-122"/>
                <a:cs typeface="Aptos" pitchFamily="34" charset="-120"/>
              </a:rPr>
              <a:t>Source: R3 case-study dataset, DATA_DICTIONARY.</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01168"/>
            <a:ext cx="4389120" cy="256032"/>
          </a:xfrm>
          <a:prstGeom prst="rect">
            <a:avLst/>
          </a:prstGeom>
          <a:noFill/>
          <a:ln/>
        </p:spPr>
        <p:txBody>
          <a:bodyPr wrap="square" lIns="0" tIns="0" rIns="0" bIns="0" rtlCol="0" anchor="ctr"/>
          <a:lstStyle/>
          <a:p>
            <a:pPr marL="0" indent="0">
              <a:buNone/>
            </a:pPr>
            <a:r>
              <a:rPr lang="en-US" sz="1050" dirty="0">
                <a:solidFill>
                  <a:srgbClr val="5A5A5A"/>
                </a:solidFill>
                <a:latin typeface="Aptos" pitchFamily="34" charset="0"/>
                <a:ea typeface="Aptos" pitchFamily="34" charset="-122"/>
                <a:cs typeface="Aptos" pitchFamily="34" charset="-120"/>
              </a:rPr>
              <a:t>Law as Governance Group</a:t>
            </a:r>
            <a:endParaRPr lang="en-US" sz="1050" dirty="0"/>
          </a:p>
        </p:txBody>
      </p:sp>
      <p:sp>
        <p:nvSpPr>
          <p:cNvPr id="3" name="Text 1"/>
          <p:cNvSpPr/>
          <p:nvPr/>
        </p:nvSpPr>
        <p:spPr>
          <a:xfrm>
            <a:off x="8229600" y="201168"/>
            <a:ext cx="3429000" cy="256032"/>
          </a:xfrm>
          <a:prstGeom prst="rect">
            <a:avLst/>
          </a:prstGeom>
          <a:noFill/>
          <a:ln/>
        </p:spPr>
        <p:txBody>
          <a:bodyPr wrap="square" lIns="0" tIns="0" rIns="0" bIns="0" rtlCol="0" anchor="ctr"/>
          <a:lstStyle/>
          <a:p>
            <a:pPr marL="0" indent="0" algn="r">
              <a:buNone/>
            </a:pPr>
            <a:r>
              <a:rPr lang="en-US" sz="1050" dirty="0">
                <a:solidFill>
                  <a:srgbClr val="5A5A5A"/>
                </a:solidFill>
                <a:latin typeface="Aptos" pitchFamily="34" charset="0"/>
                <a:ea typeface="Aptos" pitchFamily="34" charset="-122"/>
                <a:cs typeface="Aptos" pitchFamily="34" charset="-120"/>
              </a:rPr>
              <a:t>Igor — cumulative work</a:t>
            </a:r>
            <a:endParaRPr lang="en-US" sz="1050" dirty="0"/>
          </a:p>
        </p:txBody>
      </p:sp>
      <p:sp>
        <p:nvSpPr>
          <p:cNvPr id="4" name="Shape 2"/>
          <p:cNvSpPr/>
          <p:nvPr/>
        </p:nvSpPr>
        <p:spPr>
          <a:xfrm>
            <a:off x="502920" y="530352"/>
            <a:ext cx="11201400" cy="0"/>
          </a:xfrm>
          <a:prstGeom prst="line">
            <a:avLst/>
          </a:prstGeom>
          <a:noFill/>
          <a:ln w="12700">
            <a:solidFill>
              <a:srgbClr val="D4DAE0"/>
            </a:solidFill>
            <a:prstDash val="solid"/>
          </a:ln>
        </p:spPr>
      </p:sp>
      <p:sp>
        <p:nvSpPr>
          <p:cNvPr id="5" name="Text 3"/>
          <p:cNvSpPr/>
          <p:nvPr/>
        </p:nvSpPr>
        <p:spPr>
          <a:xfrm>
            <a:off x="502920" y="786384"/>
            <a:ext cx="8778240" cy="438912"/>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What the four cases taught</a:t>
            </a:r>
            <a:endParaRPr lang="en-US" sz="2600" dirty="0"/>
          </a:p>
        </p:txBody>
      </p:sp>
      <p:sp>
        <p:nvSpPr>
          <p:cNvPr id="6" name="Text 4"/>
          <p:cNvSpPr/>
          <p:nvPr/>
        </p:nvSpPr>
        <p:spPr>
          <a:xfrm>
            <a:off x="521208" y="1261872"/>
            <a:ext cx="10607040" cy="347472"/>
          </a:xfrm>
          <a:prstGeom prst="rect">
            <a:avLst/>
          </a:prstGeom>
          <a:noFill/>
          <a:ln/>
        </p:spPr>
        <p:txBody>
          <a:bodyPr wrap="square" lIns="0" tIns="0" rIns="0" bIns="0" rtlCol="0" anchor="ctr"/>
          <a:lstStyle/>
          <a:p>
            <a:pPr marL="0" indent="0">
              <a:buNone/>
            </a:pPr>
            <a:r>
              <a:rPr lang="en-US" sz="1600" dirty="0">
                <a:solidFill>
                  <a:srgbClr val="5A5A5A"/>
                </a:solidFill>
                <a:latin typeface="Aptos" pitchFamily="34" charset="0"/>
                <a:ea typeface="Aptos" pitchFamily="34" charset="-122"/>
                <a:cs typeface="Aptos" pitchFamily="34" charset="-120"/>
              </a:rPr>
              <a:t>Each case exposed a different methodological risk.</a:t>
            </a:r>
            <a:endParaRPr lang="en-US" sz="1600" dirty="0"/>
          </a:p>
        </p:txBody>
      </p:sp>
      <p:sp>
        <p:nvSpPr>
          <p:cNvPr id="7" name="Shape 5"/>
          <p:cNvSpPr/>
          <p:nvPr/>
        </p:nvSpPr>
        <p:spPr>
          <a:xfrm>
            <a:off x="685800" y="1874520"/>
            <a:ext cx="4937760" cy="1143000"/>
          </a:xfrm>
          <a:prstGeom prst="roundRect">
            <a:avLst>
              <a:gd name="adj" fmla="val 6400"/>
            </a:avLst>
          </a:prstGeom>
          <a:solidFill>
            <a:srgbClr val="F4F7FA"/>
          </a:solidFill>
          <a:ln w="12700">
            <a:solidFill>
              <a:srgbClr val="D4DAE0"/>
            </a:solidFill>
            <a:prstDash val="solid"/>
          </a:ln>
        </p:spPr>
      </p:sp>
      <p:sp>
        <p:nvSpPr>
          <p:cNvPr id="8" name="Text 6"/>
          <p:cNvSpPr/>
          <p:nvPr/>
        </p:nvSpPr>
        <p:spPr>
          <a:xfrm>
            <a:off x="822960" y="2002536"/>
            <a:ext cx="4663440" cy="292608"/>
          </a:xfrm>
          <a:prstGeom prst="rect">
            <a:avLst/>
          </a:prstGeom>
          <a:noFill/>
          <a:ln/>
        </p:spPr>
        <p:txBody>
          <a:bodyPr wrap="square" lIns="0" tIns="0" rIns="0" bIns="0" rtlCol="0" anchor="ctr">
            <a:normAutofit/>
          </a:bodyPr>
          <a:lstStyle/>
          <a:p>
            <a:pPr marL="0" indent="0">
              <a:buNone/>
            </a:pPr>
            <a:r>
              <a:rPr lang="en-US" sz="1800" b="1" dirty="0">
                <a:solidFill>
                  <a:srgbClr val="17365D"/>
                </a:solidFill>
                <a:latin typeface="Aptos Display" pitchFamily="34" charset="0"/>
                <a:ea typeface="Aptos Display" pitchFamily="34" charset="-122"/>
                <a:cs typeface="Aptos Display" pitchFamily="34" charset="-120"/>
              </a:rPr>
              <a:t>SCF — Container fallacy</a:t>
            </a:r>
            <a:endParaRPr lang="en-US" sz="1800" dirty="0"/>
          </a:p>
        </p:txBody>
      </p:sp>
      <p:sp>
        <p:nvSpPr>
          <p:cNvPr id="9" name="Text 7"/>
          <p:cNvSpPr/>
          <p:nvPr/>
        </p:nvSpPr>
        <p:spPr>
          <a:xfrm>
            <a:off x="822960" y="2350008"/>
            <a:ext cx="4663440" cy="576072"/>
          </a:xfrm>
          <a:prstGeom prst="rect">
            <a:avLst/>
          </a:prstGeom>
          <a:noFill/>
          <a:ln/>
        </p:spPr>
        <p:txBody>
          <a:bodyPr wrap="square" lIns="381" tIns="381" rIns="381" bIns="381" rtlCol="0" anchor="ctr">
            <a:normAutofit/>
          </a:bodyPr>
          <a:lstStyle/>
          <a:p>
            <a:pPr marL="0" indent="0">
              <a:buNone/>
            </a:pPr>
            <a:r>
              <a:rPr lang="en-US" sz="1600" dirty="0">
                <a:solidFill>
                  <a:srgbClr val="222222"/>
                </a:solidFill>
                <a:latin typeface="Aptos" pitchFamily="34" charset="0"/>
                <a:ea typeface="Aptos" pitchFamily="34" charset="-122"/>
                <a:cs typeface="Aptos" pitchFamily="34" charset="-120"/>
              </a:rPr>
              <a:t>One regulation does not automatically equal one architecture</a:t>
            </a:r>
            <a:endParaRPr lang="en-US" sz="1600" dirty="0"/>
          </a:p>
        </p:txBody>
      </p:sp>
      <p:sp>
        <p:nvSpPr>
          <p:cNvPr id="10" name="Shape 8"/>
          <p:cNvSpPr/>
          <p:nvPr/>
        </p:nvSpPr>
        <p:spPr>
          <a:xfrm>
            <a:off x="6217920" y="1874520"/>
            <a:ext cx="4937760" cy="1143000"/>
          </a:xfrm>
          <a:prstGeom prst="roundRect">
            <a:avLst>
              <a:gd name="adj" fmla="val 6400"/>
            </a:avLst>
          </a:prstGeom>
          <a:solidFill>
            <a:srgbClr val="F7E5B7"/>
          </a:solidFill>
          <a:ln w="12700">
            <a:solidFill>
              <a:srgbClr val="D4DAE0"/>
            </a:solidFill>
            <a:prstDash val="solid"/>
          </a:ln>
        </p:spPr>
      </p:sp>
      <p:sp>
        <p:nvSpPr>
          <p:cNvPr id="11" name="Text 9"/>
          <p:cNvSpPr/>
          <p:nvPr/>
        </p:nvSpPr>
        <p:spPr>
          <a:xfrm>
            <a:off x="6355080" y="2002536"/>
            <a:ext cx="4663440" cy="292608"/>
          </a:xfrm>
          <a:prstGeom prst="rect">
            <a:avLst/>
          </a:prstGeom>
          <a:noFill/>
          <a:ln/>
        </p:spPr>
        <p:txBody>
          <a:bodyPr wrap="square" lIns="0" tIns="0" rIns="0" bIns="0" rtlCol="0" anchor="ctr">
            <a:normAutofit/>
          </a:bodyPr>
          <a:lstStyle/>
          <a:p>
            <a:pPr marL="0" indent="0">
              <a:buNone/>
            </a:pPr>
            <a:r>
              <a:rPr lang="en-US" sz="1800" b="1" dirty="0">
                <a:solidFill>
                  <a:srgbClr val="17365D"/>
                </a:solidFill>
                <a:latin typeface="Aptos Display" pitchFamily="34" charset="0"/>
                <a:ea typeface="Aptos Display" pitchFamily="34" charset="-122"/>
                <a:cs typeface="Aptos Display" pitchFamily="34" charset="-120"/>
              </a:rPr>
              <a:t>CBAM — Relational precision</a:t>
            </a:r>
            <a:endParaRPr lang="en-US" sz="1800" dirty="0"/>
          </a:p>
        </p:txBody>
      </p:sp>
      <p:sp>
        <p:nvSpPr>
          <p:cNvPr id="12" name="Text 10"/>
          <p:cNvSpPr/>
          <p:nvPr/>
        </p:nvSpPr>
        <p:spPr>
          <a:xfrm>
            <a:off x="6355080" y="2350008"/>
            <a:ext cx="4663440" cy="576072"/>
          </a:xfrm>
          <a:prstGeom prst="rect">
            <a:avLst/>
          </a:prstGeom>
          <a:noFill/>
          <a:ln/>
        </p:spPr>
        <p:txBody>
          <a:bodyPr wrap="square" lIns="381" tIns="381" rIns="381" bIns="381" rtlCol="0" anchor="ctr">
            <a:normAutofit/>
          </a:bodyPr>
          <a:lstStyle/>
          <a:p>
            <a:pPr marL="0" indent="0">
              <a:buNone/>
            </a:pPr>
            <a:r>
              <a:rPr lang="en-US" sz="1600" dirty="0">
                <a:solidFill>
                  <a:srgbClr val="222222"/>
                </a:solidFill>
                <a:latin typeface="Aptos" pitchFamily="34" charset="0"/>
                <a:ea typeface="Aptos" pitchFamily="34" charset="-122"/>
                <a:cs typeface="Aptos" pitchFamily="34" charset="-120"/>
              </a:rPr>
              <a:t>Named actors matter</a:t>
            </a:r>
            <a:endParaRPr lang="en-US" sz="1600" dirty="0"/>
          </a:p>
        </p:txBody>
      </p:sp>
      <p:sp>
        <p:nvSpPr>
          <p:cNvPr id="13" name="Shape 11"/>
          <p:cNvSpPr/>
          <p:nvPr/>
        </p:nvSpPr>
        <p:spPr>
          <a:xfrm>
            <a:off x="685800" y="3383280"/>
            <a:ext cx="4937760" cy="1143000"/>
          </a:xfrm>
          <a:prstGeom prst="roundRect">
            <a:avLst>
              <a:gd name="adj" fmla="val 6400"/>
            </a:avLst>
          </a:prstGeom>
          <a:solidFill>
            <a:srgbClr val="F4F7FA"/>
          </a:solidFill>
          <a:ln w="12700">
            <a:solidFill>
              <a:srgbClr val="D4DAE0"/>
            </a:solidFill>
            <a:prstDash val="solid"/>
          </a:ln>
        </p:spPr>
      </p:sp>
      <p:sp>
        <p:nvSpPr>
          <p:cNvPr id="14" name="Text 12"/>
          <p:cNvSpPr/>
          <p:nvPr/>
        </p:nvSpPr>
        <p:spPr>
          <a:xfrm>
            <a:off x="822960" y="3511296"/>
            <a:ext cx="4663440" cy="292608"/>
          </a:xfrm>
          <a:prstGeom prst="rect">
            <a:avLst/>
          </a:prstGeom>
          <a:noFill/>
          <a:ln/>
        </p:spPr>
        <p:txBody>
          <a:bodyPr wrap="square" lIns="0" tIns="0" rIns="0" bIns="0" rtlCol="0" anchor="ctr">
            <a:normAutofit/>
          </a:bodyPr>
          <a:lstStyle/>
          <a:p>
            <a:pPr marL="0" indent="0">
              <a:buNone/>
            </a:pPr>
            <a:r>
              <a:rPr lang="en-US" sz="1800" b="1" dirty="0">
                <a:solidFill>
                  <a:srgbClr val="17365D"/>
                </a:solidFill>
                <a:latin typeface="Aptos Display" pitchFamily="34" charset="0"/>
                <a:ea typeface="Aptos Display" pitchFamily="34" charset="-122"/>
                <a:cs typeface="Aptos Display" pitchFamily="34" charset="-120"/>
              </a:rPr>
              <a:t>AI Act — Granularity warning</a:t>
            </a:r>
            <a:endParaRPr lang="en-US" sz="1800" dirty="0"/>
          </a:p>
        </p:txBody>
      </p:sp>
      <p:sp>
        <p:nvSpPr>
          <p:cNvPr id="15" name="Text 13"/>
          <p:cNvSpPr/>
          <p:nvPr/>
        </p:nvSpPr>
        <p:spPr>
          <a:xfrm>
            <a:off x="822960" y="3858768"/>
            <a:ext cx="4663440" cy="576072"/>
          </a:xfrm>
          <a:prstGeom prst="rect">
            <a:avLst/>
          </a:prstGeom>
          <a:noFill/>
          <a:ln/>
        </p:spPr>
        <p:txBody>
          <a:bodyPr wrap="square" lIns="381" tIns="381" rIns="381" bIns="381" rtlCol="0" anchor="ctr">
            <a:normAutofit/>
          </a:bodyPr>
          <a:lstStyle/>
          <a:p>
            <a:pPr marL="0" indent="0">
              <a:buNone/>
            </a:pPr>
            <a:r>
              <a:rPr lang="en-US" sz="1600" dirty="0">
                <a:solidFill>
                  <a:srgbClr val="222222"/>
                </a:solidFill>
                <a:latin typeface="Aptos" pitchFamily="34" charset="0"/>
                <a:ea typeface="Aptos" pitchFamily="34" charset="-122"/>
                <a:cs typeface="Aptos" pitchFamily="34" charset="-120"/>
              </a:rPr>
              <a:t>More detail is not always better</a:t>
            </a:r>
            <a:endParaRPr lang="en-US" sz="1600" dirty="0"/>
          </a:p>
        </p:txBody>
      </p:sp>
      <p:sp>
        <p:nvSpPr>
          <p:cNvPr id="16" name="Shape 14"/>
          <p:cNvSpPr/>
          <p:nvPr/>
        </p:nvSpPr>
        <p:spPr>
          <a:xfrm>
            <a:off x="6217920" y="3383280"/>
            <a:ext cx="4937760" cy="1143000"/>
          </a:xfrm>
          <a:prstGeom prst="roundRect">
            <a:avLst>
              <a:gd name="adj" fmla="val 6400"/>
            </a:avLst>
          </a:prstGeom>
          <a:solidFill>
            <a:srgbClr val="F7E5B7"/>
          </a:solidFill>
          <a:ln w="12700">
            <a:solidFill>
              <a:srgbClr val="D4DAE0"/>
            </a:solidFill>
            <a:prstDash val="solid"/>
          </a:ln>
        </p:spPr>
      </p:sp>
      <p:sp>
        <p:nvSpPr>
          <p:cNvPr id="17" name="Text 15"/>
          <p:cNvSpPr/>
          <p:nvPr/>
        </p:nvSpPr>
        <p:spPr>
          <a:xfrm>
            <a:off x="6355080" y="3511296"/>
            <a:ext cx="4663440" cy="292608"/>
          </a:xfrm>
          <a:prstGeom prst="rect">
            <a:avLst/>
          </a:prstGeom>
          <a:noFill/>
          <a:ln/>
        </p:spPr>
        <p:txBody>
          <a:bodyPr wrap="square" lIns="0" tIns="0" rIns="0" bIns="0" rtlCol="0" anchor="ctr">
            <a:normAutofit/>
          </a:bodyPr>
          <a:lstStyle/>
          <a:p>
            <a:pPr marL="0" indent="0">
              <a:buNone/>
            </a:pPr>
            <a:r>
              <a:rPr lang="en-US" sz="1800" b="1" dirty="0">
                <a:solidFill>
                  <a:srgbClr val="17365D"/>
                </a:solidFill>
                <a:latin typeface="Aptos Display" pitchFamily="34" charset="0"/>
                <a:ea typeface="Aptos Display" pitchFamily="34" charset="-122"/>
                <a:cs typeface="Aptos Display" pitchFamily="34" charset="-120"/>
              </a:rPr>
              <a:t>86/361 — External dependencies</a:t>
            </a:r>
            <a:endParaRPr lang="en-US" sz="1800" dirty="0"/>
          </a:p>
        </p:txBody>
      </p:sp>
      <p:sp>
        <p:nvSpPr>
          <p:cNvPr id="18" name="Text 16"/>
          <p:cNvSpPr/>
          <p:nvPr/>
        </p:nvSpPr>
        <p:spPr>
          <a:xfrm>
            <a:off x="6355080" y="3858768"/>
            <a:ext cx="4663440" cy="576072"/>
          </a:xfrm>
          <a:prstGeom prst="rect">
            <a:avLst/>
          </a:prstGeom>
          <a:noFill/>
          <a:ln/>
        </p:spPr>
        <p:txBody>
          <a:bodyPr wrap="square" lIns="381" tIns="381" rIns="381" bIns="381" rtlCol="0" anchor="ctr">
            <a:normAutofit/>
          </a:bodyPr>
          <a:lstStyle/>
          <a:p>
            <a:pPr marL="0" indent="0">
              <a:buNone/>
            </a:pPr>
            <a:r>
              <a:rPr lang="en-US" sz="1600" dirty="0">
                <a:solidFill>
                  <a:srgbClr val="222222"/>
                </a:solidFill>
                <a:latin typeface="Aptos" pitchFamily="34" charset="0"/>
                <a:ea typeface="Aptos" pitchFamily="34" charset="-122"/>
                <a:cs typeface="Aptos" pitchFamily="34" charset="-120"/>
              </a:rPr>
              <a:t>Stop below architecture</a:t>
            </a:r>
            <a:endParaRPr lang="en-US" sz="1600" dirty="0"/>
          </a:p>
        </p:txBody>
      </p:sp>
      <p:sp>
        <p:nvSpPr>
          <p:cNvPr id="19" name="Text 17"/>
          <p:cNvSpPr/>
          <p:nvPr/>
        </p:nvSpPr>
        <p:spPr>
          <a:xfrm>
            <a:off x="868680" y="5349240"/>
            <a:ext cx="10424160" cy="365760"/>
          </a:xfrm>
          <a:prstGeom prst="rect">
            <a:avLst/>
          </a:prstGeom>
          <a:noFill/>
          <a:ln/>
        </p:spPr>
        <p:txBody>
          <a:bodyPr wrap="square" lIns="0" tIns="0" rIns="0" bIns="0" rtlCol="0" anchor="ctr"/>
          <a:lstStyle/>
          <a:p>
            <a:pPr marL="0" indent="0" algn="ctr">
              <a:buNone/>
            </a:pPr>
            <a:r>
              <a:rPr lang="en-US" sz="2000" b="1" dirty="0">
                <a:solidFill>
                  <a:srgbClr val="17365D"/>
                </a:solidFill>
              </a:rPr>
              <a:t>The cases do not prove the method. They reveal where the method needs safeguards.</a:t>
            </a:r>
            <a:endParaRPr lang="en-US" sz="2000" dirty="0"/>
          </a:p>
        </p:txBody>
      </p:sp>
      <p:sp>
        <p:nvSpPr>
          <p:cNvPr id="20" name="Text 18"/>
          <p:cNvSpPr/>
          <p:nvPr/>
        </p:nvSpPr>
        <p:spPr>
          <a:xfrm>
            <a:off x="502920" y="6492240"/>
            <a:ext cx="11201400" cy="228600"/>
          </a:xfrm>
          <a:prstGeom prst="rect">
            <a:avLst/>
          </a:prstGeom>
          <a:noFill/>
          <a:ln/>
        </p:spPr>
        <p:txBody>
          <a:bodyPr wrap="square" lIns="0" tIns="0" rIns="0" bIns="0" rtlCol="0" anchor="ctr">
            <a:normAutofit/>
          </a:bodyPr>
          <a:lstStyle/>
          <a:p>
            <a:pPr marL="0" indent="0">
              <a:buNone/>
            </a:pPr>
            <a:r>
              <a:rPr lang="en-US" sz="850" dirty="0">
                <a:solidFill>
                  <a:srgbClr val="777777"/>
                </a:solidFill>
                <a:latin typeface="Aptos" pitchFamily="34" charset="0"/>
                <a:ea typeface="Aptos" pitchFamily="34" charset="-122"/>
                <a:cs typeface="Aptos" pitchFamily="34" charset="-120"/>
              </a:rPr>
              <a:t>Source: From Coding to Architectural Inference note, Oct. 2026.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01168"/>
            <a:ext cx="4389120" cy="256032"/>
          </a:xfrm>
          <a:prstGeom prst="rect">
            <a:avLst/>
          </a:prstGeom>
          <a:noFill/>
          <a:ln/>
        </p:spPr>
        <p:txBody>
          <a:bodyPr wrap="square" lIns="0" tIns="0" rIns="0" bIns="0" rtlCol="0" anchor="ctr"/>
          <a:lstStyle/>
          <a:p>
            <a:pPr marL="0" indent="0">
              <a:buNone/>
            </a:pPr>
            <a:r>
              <a:rPr lang="en-US" sz="1050" dirty="0">
                <a:solidFill>
                  <a:srgbClr val="5A5A5A"/>
                </a:solidFill>
                <a:latin typeface="Aptos" pitchFamily="34" charset="0"/>
                <a:ea typeface="Aptos" pitchFamily="34" charset="-122"/>
                <a:cs typeface="Aptos" pitchFamily="34" charset="-120"/>
              </a:rPr>
              <a:t>Law as Governance Group</a:t>
            </a:r>
            <a:endParaRPr lang="en-US" sz="1050" dirty="0"/>
          </a:p>
        </p:txBody>
      </p:sp>
      <p:sp>
        <p:nvSpPr>
          <p:cNvPr id="3" name="Text 1"/>
          <p:cNvSpPr/>
          <p:nvPr/>
        </p:nvSpPr>
        <p:spPr>
          <a:xfrm>
            <a:off x="8229600" y="201168"/>
            <a:ext cx="3429000" cy="256032"/>
          </a:xfrm>
          <a:prstGeom prst="rect">
            <a:avLst/>
          </a:prstGeom>
          <a:noFill/>
          <a:ln/>
        </p:spPr>
        <p:txBody>
          <a:bodyPr wrap="square" lIns="0" tIns="0" rIns="0" bIns="0" rtlCol="0" anchor="ctr"/>
          <a:lstStyle/>
          <a:p>
            <a:pPr marL="0" indent="0" algn="r">
              <a:buNone/>
            </a:pPr>
            <a:r>
              <a:rPr lang="en-US" sz="1050" dirty="0">
                <a:solidFill>
                  <a:srgbClr val="5A5A5A"/>
                </a:solidFill>
                <a:latin typeface="Aptos" pitchFamily="34" charset="0"/>
                <a:ea typeface="Aptos" pitchFamily="34" charset="-122"/>
                <a:cs typeface="Aptos" pitchFamily="34" charset="-120"/>
              </a:rPr>
              <a:t>Igor — cumulative work</a:t>
            </a:r>
            <a:endParaRPr lang="en-US" sz="1050" dirty="0"/>
          </a:p>
        </p:txBody>
      </p:sp>
      <p:sp>
        <p:nvSpPr>
          <p:cNvPr id="4" name="Shape 2"/>
          <p:cNvSpPr/>
          <p:nvPr/>
        </p:nvSpPr>
        <p:spPr>
          <a:xfrm>
            <a:off x="502920" y="530352"/>
            <a:ext cx="11201400" cy="0"/>
          </a:xfrm>
          <a:prstGeom prst="line">
            <a:avLst/>
          </a:prstGeom>
          <a:noFill/>
          <a:ln w="12700">
            <a:solidFill>
              <a:srgbClr val="D4DAE0"/>
            </a:solidFill>
            <a:prstDash val="solid"/>
          </a:ln>
        </p:spPr>
      </p:sp>
      <p:sp>
        <p:nvSpPr>
          <p:cNvPr id="5" name="Text 3"/>
          <p:cNvSpPr/>
          <p:nvPr/>
        </p:nvSpPr>
        <p:spPr>
          <a:xfrm>
            <a:off x="502920" y="786384"/>
            <a:ext cx="8778240" cy="438912"/>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Controls to carry forward</a:t>
            </a:r>
            <a:endParaRPr lang="en-US" sz="2600" dirty="0"/>
          </a:p>
        </p:txBody>
      </p:sp>
      <p:sp>
        <p:nvSpPr>
          <p:cNvPr id="6" name="Text 4"/>
          <p:cNvSpPr/>
          <p:nvPr/>
        </p:nvSpPr>
        <p:spPr>
          <a:xfrm>
            <a:off x="521208" y="1261872"/>
            <a:ext cx="10607040" cy="347472"/>
          </a:xfrm>
          <a:prstGeom prst="rect">
            <a:avLst/>
          </a:prstGeom>
          <a:noFill/>
          <a:ln/>
        </p:spPr>
        <p:txBody>
          <a:bodyPr wrap="square" lIns="0" tIns="0" rIns="0" bIns="0" rtlCol="0" anchor="ctr"/>
          <a:lstStyle/>
          <a:p>
            <a:pPr marL="0" indent="0">
              <a:buNone/>
            </a:pPr>
            <a:r>
              <a:rPr lang="en-US" sz="1600" dirty="0">
                <a:solidFill>
                  <a:srgbClr val="5A5A5A"/>
                </a:solidFill>
                <a:latin typeface="Aptos" pitchFamily="34" charset="0"/>
                <a:ea typeface="Aptos" pitchFamily="34" charset="-122"/>
                <a:cs typeface="Aptos" pitchFamily="34" charset="-120"/>
              </a:rPr>
              <a:t>The practical lesson is simplification.</a:t>
            </a:r>
            <a:endParaRPr lang="en-US" sz="1600" dirty="0"/>
          </a:p>
        </p:txBody>
      </p:sp>
      <p:sp>
        <p:nvSpPr>
          <p:cNvPr id="7" name="Shape 5"/>
          <p:cNvSpPr/>
          <p:nvPr/>
        </p:nvSpPr>
        <p:spPr>
          <a:xfrm>
            <a:off x="822960" y="1828800"/>
            <a:ext cx="3200400" cy="2834640"/>
          </a:xfrm>
          <a:prstGeom prst="roundRect">
            <a:avLst>
              <a:gd name="adj" fmla="val 2581"/>
            </a:avLst>
          </a:prstGeom>
          <a:solidFill>
            <a:srgbClr val="DDEFD9"/>
          </a:solidFill>
          <a:ln w="12700">
            <a:solidFill>
              <a:srgbClr val="D4DAE0"/>
            </a:solidFill>
            <a:prstDash val="solid"/>
          </a:ln>
        </p:spPr>
      </p:sp>
      <p:sp>
        <p:nvSpPr>
          <p:cNvPr id="8" name="Text 6"/>
          <p:cNvSpPr/>
          <p:nvPr/>
        </p:nvSpPr>
        <p:spPr>
          <a:xfrm>
            <a:off x="960120" y="1956816"/>
            <a:ext cx="2926080" cy="292608"/>
          </a:xfrm>
          <a:prstGeom prst="rect">
            <a:avLst/>
          </a:prstGeom>
          <a:noFill/>
          <a:ln/>
        </p:spPr>
        <p:txBody>
          <a:bodyPr wrap="square" lIns="0" tIns="0" rIns="0" bIns="0" rtlCol="0" anchor="ctr">
            <a:normAutofit fontScale="92500" lnSpcReduction="10000"/>
          </a:bodyPr>
          <a:lstStyle/>
          <a:p>
            <a:pPr marL="0" indent="0">
              <a:buNone/>
            </a:pPr>
            <a:r>
              <a:rPr lang="en-US" sz="2200" b="1" dirty="0">
                <a:solidFill>
                  <a:srgbClr val="17365D"/>
                </a:solidFill>
                <a:latin typeface="Aptos Display" pitchFamily="34" charset="0"/>
                <a:ea typeface="Aptos Display" pitchFamily="34" charset="-122"/>
                <a:cs typeface="Aptos Display" pitchFamily="34" charset="-120"/>
              </a:rPr>
              <a:t>Retain</a:t>
            </a:r>
            <a:endParaRPr lang="en-US" sz="2200" dirty="0"/>
          </a:p>
        </p:txBody>
      </p:sp>
      <p:sp>
        <p:nvSpPr>
          <p:cNvPr id="9" name="Text 7"/>
          <p:cNvSpPr/>
          <p:nvPr/>
        </p:nvSpPr>
        <p:spPr>
          <a:xfrm>
            <a:off x="960120" y="2304288"/>
            <a:ext cx="2926080" cy="2267712"/>
          </a:xfrm>
          <a:prstGeom prst="rect">
            <a:avLst/>
          </a:prstGeom>
          <a:noFill/>
          <a:ln/>
        </p:spPr>
        <p:txBody>
          <a:bodyPr wrap="square" lIns="381" tIns="381" rIns="381" bIns="381" rtlCol="0" anchor="ctr">
            <a:normAutofit/>
          </a:bodyPr>
          <a:lstStyle/>
          <a:p>
            <a:pPr marL="0" indent="0">
              <a:buNone/>
            </a:pPr>
            <a:r>
              <a:rPr lang="en-US" sz="1800" dirty="0">
                <a:solidFill>
                  <a:srgbClr val="222222"/>
                </a:solidFill>
                <a:latin typeface="Aptos" pitchFamily="34" charset="0"/>
                <a:ea typeface="Aptos" pitchFamily="34" charset="-122"/>
                <a:cs typeface="Aptos" pitchFamily="34" charset="-120"/>
              </a:rPr>
              <a:t>provenance</a:t>
            </a:r>
            <a:endParaRPr lang="en-US" sz="1800" dirty="0"/>
          </a:p>
          <a:p>
            <a:pPr marL="0" indent="0">
              <a:buNone/>
            </a:pPr>
            <a:r>
              <a:rPr lang="en-US" sz="1800" dirty="0">
                <a:solidFill>
                  <a:srgbClr val="222222"/>
                </a:solidFill>
                <a:latin typeface="Aptos" pitchFamily="34" charset="0"/>
                <a:ea typeface="Aptos" pitchFamily="34" charset="-122"/>
                <a:cs typeface="Aptos" pitchFamily="34" charset="-120"/>
              </a:rPr>
              <a:t>actor/counterparty precision</a:t>
            </a:r>
            <a:endParaRPr lang="en-US" sz="1800" dirty="0"/>
          </a:p>
          <a:p>
            <a:pPr marL="0" indent="0">
              <a:buNone/>
            </a:pPr>
            <a:r>
              <a:rPr lang="en-US" sz="1800" dirty="0">
                <a:solidFill>
                  <a:srgbClr val="222222"/>
                </a:solidFill>
                <a:latin typeface="Aptos" pitchFamily="34" charset="0"/>
                <a:ea typeface="Aptos" pitchFamily="34" charset="-122"/>
                <a:cs typeface="Aptos" pitchFamily="34" charset="-120"/>
              </a:rPr>
              <a:t>external dependencies</a:t>
            </a:r>
            <a:endParaRPr lang="en-US" sz="1800" dirty="0"/>
          </a:p>
          <a:p>
            <a:pPr marL="0" indent="0">
              <a:buNone/>
            </a:pPr>
            <a:r>
              <a:rPr lang="en-US" sz="1800" dirty="0">
                <a:solidFill>
                  <a:srgbClr val="222222"/>
                </a:solidFill>
                <a:latin typeface="Aptos" pitchFamily="34" charset="0"/>
                <a:ea typeface="Aptos" pitchFamily="34" charset="-122"/>
                <a:cs typeface="Aptos" pitchFamily="34" charset="-120"/>
              </a:rPr>
              <a:t>stopping rule</a:t>
            </a:r>
            <a:endParaRPr lang="en-US" sz="1800" dirty="0"/>
          </a:p>
        </p:txBody>
      </p:sp>
      <p:sp>
        <p:nvSpPr>
          <p:cNvPr id="10" name="Shape 8"/>
          <p:cNvSpPr/>
          <p:nvPr/>
        </p:nvSpPr>
        <p:spPr>
          <a:xfrm>
            <a:off x="4480560" y="1828800"/>
            <a:ext cx="3200400" cy="2834640"/>
          </a:xfrm>
          <a:prstGeom prst="roundRect">
            <a:avLst>
              <a:gd name="adj" fmla="val 2581"/>
            </a:avLst>
          </a:prstGeom>
          <a:solidFill>
            <a:srgbClr val="F7E5B7"/>
          </a:solidFill>
          <a:ln w="12700">
            <a:solidFill>
              <a:srgbClr val="D4DAE0"/>
            </a:solidFill>
            <a:prstDash val="solid"/>
          </a:ln>
        </p:spPr>
      </p:sp>
      <p:sp>
        <p:nvSpPr>
          <p:cNvPr id="11" name="Text 9"/>
          <p:cNvSpPr/>
          <p:nvPr/>
        </p:nvSpPr>
        <p:spPr>
          <a:xfrm>
            <a:off x="4617720" y="1956816"/>
            <a:ext cx="2926080" cy="292608"/>
          </a:xfrm>
          <a:prstGeom prst="rect">
            <a:avLst/>
          </a:prstGeom>
          <a:noFill/>
          <a:ln/>
        </p:spPr>
        <p:txBody>
          <a:bodyPr wrap="square" lIns="0" tIns="0" rIns="0" bIns="0" rtlCol="0" anchor="ctr">
            <a:normAutofit fontScale="92500" lnSpcReduction="10000"/>
          </a:bodyPr>
          <a:lstStyle/>
          <a:p>
            <a:pPr marL="0" indent="0">
              <a:buNone/>
            </a:pPr>
            <a:r>
              <a:rPr lang="en-US" sz="2200" b="1" dirty="0">
                <a:solidFill>
                  <a:srgbClr val="17365D"/>
                </a:solidFill>
                <a:latin typeface="Aptos Display" pitchFamily="34" charset="0"/>
                <a:ea typeface="Aptos Display" pitchFamily="34" charset="-122"/>
                <a:cs typeface="Aptos Display" pitchFamily="34" charset="-120"/>
              </a:rPr>
              <a:t>Simplify</a:t>
            </a:r>
            <a:endParaRPr lang="en-US" sz="2200" dirty="0"/>
          </a:p>
        </p:txBody>
      </p:sp>
      <p:sp>
        <p:nvSpPr>
          <p:cNvPr id="12" name="Text 10"/>
          <p:cNvSpPr/>
          <p:nvPr/>
        </p:nvSpPr>
        <p:spPr>
          <a:xfrm>
            <a:off x="4617720" y="2304288"/>
            <a:ext cx="2926080" cy="2267712"/>
          </a:xfrm>
          <a:prstGeom prst="rect">
            <a:avLst/>
          </a:prstGeom>
          <a:noFill/>
          <a:ln/>
        </p:spPr>
        <p:txBody>
          <a:bodyPr wrap="square" lIns="381" tIns="381" rIns="381" bIns="381" rtlCol="0" anchor="ctr">
            <a:normAutofit/>
          </a:bodyPr>
          <a:lstStyle/>
          <a:p>
            <a:pPr marL="0" indent="0">
              <a:buNone/>
            </a:pPr>
            <a:r>
              <a:rPr lang="en-US" sz="1800" dirty="0">
                <a:solidFill>
                  <a:srgbClr val="222222"/>
                </a:solidFill>
                <a:latin typeface="Aptos" pitchFamily="34" charset="0"/>
                <a:ea typeface="Aptos" pitchFamily="34" charset="-122"/>
                <a:cs typeface="Aptos" pitchFamily="34" charset="-120"/>
              </a:rPr>
              <a:t>direction/modality</a:t>
            </a:r>
            <a:endParaRPr lang="en-US" sz="1800" dirty="0"/>
          </a:p>
          <a:p>
            <a:pPr marL="0" indent="0">
              <a:buNone/>
            </a:pPr>
            <a:r>
              <a:rPr lang="en-US" sz="1800" dirty="0">
                <a:solidFill>
                  <a:srgbClr val="222222"/>
                </a:solidFill>
                <a:latin typeface="Aptos" pitchFamily="34" charset="0"/>
                <a:ea typeface="Aptos" pitchFamily="34" charset="-122"/>
                <a:cs typeface="Aptos" pitchFamily="34" charset="-120"/>
              </a:rPr>
              <a:t>configuration boundary</a:t>
            </a:r>
            <a:endParaRPr lang="en-US" sz="1800" dirty="0"/>
          </a:p>
          <a:p>
            <a:pPr marL="0" indent="0">
              <a:buNone/>
            </a:pPr>
            <a:r>
              <a:rPr lang="en-US" sz="1800" dirty="0">
                <a:solidFill>
                  <a:srgbClr val="222222"/>
                </a:solidFill>
                <a:latin typeface="Aptos" pitchFamily="34" charset="0"/>
                <a:ea typeface="Aptos" pitchFamily="34" charset="-122"/>
                <a:cs typeface="Aptos" pitchFamily="34" charset="-120"/>
              </a:rPr>
              <a:t>uncertainty</a:t>
            </a:r>
            <a:endParaRPr lang="en-US" sz="1800" dirty="0"/>
          </a:p>
          <a:p>
            <a:pPr marL="0" indent="0">
              <a:buNone/>
            </a:pPr>
            <a:r>
              <a:rPr lang="en-US" sz="1800" dirty="0">
                <a:solidFill>
                  <a:srgbClr val="222222"/>
                </a:solidFill>
                <a:latin typeface="Aptos" pitchFamily="34" charset="0"/>
                <a:ea typeface="Aptos" pitchFamily="34" charset="-122"/>
                <a:cs typeface="Aptos" pitchFamily="34" charset="-120"/>
              </a:rPr>
              <a:t>rival grouping</a:t>
            </a:r>
            <a:endParaRPr lang="en-US" sz="1800" dirty="0"/>
          </a:p>
        </p:txBody>
      </p:sp>
      <p:sp>
        <p:nvSpPr>
          <p:cNvPr id="13" name="Shape 11"/>
          <p:cNvSpPr/>
          <p:nvPr/>
        </p:nvSpPr>
        <p:spPr>
          <a:xfrm>
            <a:off x="8138160" y="1828800"/>
            <a:ext cx="3200400" cy="2834640"/>
          </a:xfrm>
          <a:prstGeom prst="roundRect">
            <a:avLst>
              <a:gd name="adj" fmla="val 2581"/>
            </a:avLst>
          </a:prstGeom>
          <a:solidFill>
            <a:srgbClr val="FBE5D6"/>
          </a:solidFill>
          <a:ln w="12700">
            <a:solidFill>
              <a:srgbClr val="D4DAE0"/>
            </a:solidFill>
            <a:prstDash val="solid"/>
          </a:ln>
        </p:spPr>
      </p:sp>
      <p:sp>
        <p:nvSpPr>
          <p:cNvPr id="14" name="Text 12"/>
          <p:cNvSpPr/>
          <p:nvPr/>
        </p:nvSpPr>
        <p:spPr>
          <a:xfrm>
            <a:off x="8275320" y="1956816"/>
            <a:ext cx="2926080" cy="292608"/>
          </a:xfrm>
          <a:prstGeom prst="rect">
            <a:avLst/>
          </a:prstGeom>
          <a:noFill/>
          <a:ln/>
        </p:spPr>
        <p:txBody>
          <a:bodyPr wrap="square" lIns="0" tIns="0" rIns="0" bIns="0" rtlCol="0" anchor="ctr">
            <a:normAutofit fontScale="92500" lnSpcReduction="10000"/>
          </a:bodyPr>
          <a:lstStyle/>
          <a:p>
            <a:pPr marL="0" indent="0">
              <a:buNone/>
            </a:pPr>
            <a:r>
              <a:rPr lang="en-US" sz="2200" b="1" dirty="0">
                <a:solidFill>
                  <a:srgbClr val="17365D"/>
                </a:solidFill>
                <a:latin typeface="Aptos Display" pitchFamily="34" charset="0"/>
                <a:ea typeface="Aptos Display" pitchFamily="34" charset="-122"/>
                <a:cs typeface="Aptos Display" pitchFamily="34" charset="-120"/>
              </a:rPr>
              <a:t>Remove</a:t>
            </a:r>
            <a:endParaRPr lang="en-US" sz="2200" dirty="0"/>
          </a:p>
        </p:txBody>
      </p:sp>
      <p:sp>
        <p:nvSpPr>
          <p:cNvPr id="15" name="Text 13"/>
          <p:cNvSpPr/>
          <p:nvPr/>
        </p:nvSpPr>
        <p:spPr>
          <a:xfrm>
            <a:off x="8275320" y="2304288"/>
            <a:ext cx="2926080" cy="2267712"/>
          </a:xfrm>
          <a:prstGeom prst="rect">
            <a:avLst/>
          </a:prstGeom>
          <a:noFill/>
          <a:ln/>
        </p:spPr>
        <p:txBody>
          <a:bodyPr wrap="square" lIns="381" tIns="381" rIns="381" bIns="381" rtlCol="0" anchor="ctr">
            <a:normAutofit/>
          </a:bodyPr>
          <a:lstStyle/>
          <a:p>
            <a:pPr marL="0" indent="0">
              <a:buNone/>
            </a:pPr>
            <a:r>
              <a:rPr lang="en-US" sz="1800" dirty="0">
                <a:solidFill>
                  <a:srgbClr val="222222"/>
                </a:solidFill>
                <a:latin typeface="Aptos" pitchFamily="34" charset="0"/>
                <a:ea typeface="Aptos" pitchFamily="34" charset="-122"/>
                <a:cs typeface="Aptos" pitchFamily="34" charset="-120"/>
              </a:rPr>
              <a:t>heavy procedural apparatus</a:t>
            </a:r>
            <a:endParaRPr lang="en-US" sz="1800" dirty="0"/>
          </a:p>
          <a:p>
            <a:pPr marL="0" indent="0">
              <a:buNone/>
            </a:pPr>
            <a:r>
              <a:rPr lang="en-US" sz="1800" dirty="0">
                <a:solidFill>
                  <a:srgbClr val="222222"/>
                </a:solidFill>
                <a:latin typeface="Aptos" pitchFamily="34" charset="0"/>
                <a:ea typeface="Aptos" pitchFamily="34" charset="-122"/>
                <a:cs typeface="Aptos" pitchFamily="34" charset="-120"/>
              </a:rPr>
              <a:t>extra tables that do not change substantive inference</a:t>
            </a:r>
            <a:endParaRPr lang="en-US" sz="1800" dirty="0"/>
          </a:p>
        </p:txBody>
      </p:sp>
      <p:sp>
        <p:nvSpPr>
          <p:cNvPr id="16" name="Text 14"/>
          <p:cNvSpPr/>
          <p:nvPr/>
        </p:nvSpPr>
        <p:spPr>
          <a:xfrm>
            <a:off x="868680" y="5257800"/>
            <a:ext cx="10424160" cy="594360"/>
          </a:xfrm>
          <a:prstGeom prst="rect">
            <a:avLst/>
          </a:prstGeom>
          <a:noFill/>
          <a:ln/>
        </p:spPr>
        <p:txBody>
          <a:bodyPr wrap="square" lIns="254" tIns="254" rIns="254" bIns="254" rtlCol="0" anchor="ctr">
            <a:normAutofit lnSpcReduction="10000"/>
          </a:bodyPr>
          <a:lstStyle/>
          <a:p>
            <a:pPr marL="0" indent="0" algn="ctr">
              <a:buNone/>
            </a:pPr>
            <a:r>
              <a:rPr lang="en-US" sz="2100" b="1" dirty="0">
                <a:solidFill>
                  <a:srgbClr val="17365D"/>
                </a:solidFill>
              </a:rPr>
              <a:t>Additional complexity must earn its place by changing, constraining or qualifying a substantive inference.</a:t>
            </a:r>
            <a:endParaRPr lang="en-US" sz="2100" dirty="0"/>
          </a:p>
        </p:txBody>
      </p:sp>
      <p:sp>
        <p:nvSpPr>
          <p:cNvPr id="17" name="Text 15"/>
          <p:cNvSpPr/>
          <p:nvPr/>
        </p:nvSpPr>
        <p:spPr>
          <a:xfrm>
            <a:off x="502920" y="6492240"/>
            <a:ext cx="11201400" cy="228600"/>
          </a:xfrm>
          <a:prstGeom prst="rect">
            <a:avLst/>
          </a:prstGeom>
          <a:noFill/>
          <a:ln/>
        </p:spPr>
        <p:txBody>
          <a:bodyPr wrap="square" lIns="0" tIns="0" rIns="0" bIns="0" rtlCol="0" anchor="ctr">
            <a:normAutofit/>
          </a:bodyPr>
          <a:lstStyle/>
          <a:p>
            <a:pPr marL="0" indent="0">
              <a:buNone/>
            </a:pPr>
            <a:r>
              <a:rPr lang="en-US" sz="850" dirty="0">
                <a:solidFill>
                  <a:srgbClr val="777777"/>
                </a:solidFill>
                <a:latin typeface="Aptos" pitchFamily="34" charset="0"/>
                <a:ea typeface="Aptos" pitchFamily="34" charset="-122"/>
                <a:cs typeface="Aptos" pitchFamily="34" charset="-120"/>
              </a:rPr>
              <a:t>Source: From Coding to Architectural Inference note, Oct. 2026.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01168"/>
            <a:ext cx="4389120" cy="256032"/>
          </a:xfrm>
          <a:prstGeom prst="rect">
            <a:avLst/>
          </a:prstGeom>
          <a:noFill/>
          <a:ln/>
        </p:spPr>
        <p:txBody>
          <a:bodyPr wrap="square" lIns="0" tIns="0" rIns="0" bIns="0" rtlCol="0" anchor="ctr"/>
          <a:lstStyle/>
          <a:p>
            <a:pPr marL="0" indent="0">
              <a:buNone/>
            </a:pPr>
            <a:r>
              <a:rPr lang="en-US" sz="1050" dirty="0">
                <a:solidFill>
                  <a:srgbClr val="5A5A5A"/>
                </a:solidFill>
                <a:latin typeface="Aptos" pitchFamily="34" charset="0"/>
                <a:ea typeface="Aptos" pitchFamily="34" charset="-122"/>
                <a:cs typeface="Aptos" pitchFamily="34" charset="-120"/>
              </a:rPr>
              <a:t>Law as Governance Group</a:t>
            </a:r>
            <a:endParaRPr lang="en-US" sz="1050" dirty="0"/>
          </a:p>
        </p:txBody>
      </p:sp>
      <p:sp>
        <p:nvSpPr>
          <p:cNvPr id="3" name="Text 1"/>
          <p:cNvSpPr/>
          <p:nvPr/>
        </p:nvSpPr>
        <p:spPr>
          <a:xfrm>
            <a:off x="8229600" y="201168"/>
            <a:ext cx="3429000" cy="256032"/>
          </a:xfrm>
          <a:prstGeom prst="rect">
            <a:avLst/>
          </a:prstGeom>
          <a:noFill/>
          <a:ln/>
        </p:spPr>
        <p:txBody>
          <a:bodyPr wrap="square" lIns="0" tIns="0" rIns="0" bIns="0" rtlCol="0" anchor="ctr"/>
          <a:lstStyle/>
          <a:p>
            <a:pPr marL="0" indent="0" algn="r">
              <a:buNone/>
            </a:pPr>
            <a:r>
              <a:rPr lang="en-US" sz="1050" dirty="0">
                <a:solidFill>
                  <a:srgbClr val="5A5A5A"/>
                </a:solidFill>
                <a:latin typeface="Aptos" pitchFamily="34" charset="0"/>
                <a:ea typeface="Aptos" pitchFamily="34" charset="-122"/>
                <a:cs typeface="Aptos" pitchFamily="34" charset="-120"/>
              </a:rPr>
              <a:t>Igor — cumulative work</a:t>
            </a:r>
            <a:endParaRPr lang="en-US" sz="1050" dirty="0"/>
          </a:p>
        </p:txBody>
      </p:sp>
      <p:sp>
        <p:nvSpPr>
          <p:cNvPr id="4" name="Shape 2"/>
          <p:cNvSpPr/>
          <p:nvPr/>
        </p:nvSpPr>
        <p:spPr>
          <a:xfrm>
            <a:off x="502920" y="530352"/>
            <a:ext cx="11201400" cy="0"/>
          </a:xfrm>
          <a:prstGeom prst="line">
            <a:avLst/>
          </a:prstGeom>
          <a:noFill/>
          <a:ln w="12700">
            <a:solidFill>
              <a:srgbClr val="D4DAE0"/>
            </a:solidFill>
            <a:prstDash val="solid"/>
          </a:ln>
        </p:spPr>
      </p:sp>
      <p:sp>
        <p:nvSpPr>
          <p:cNvPr id="5" name="Text 3"/>
          <p:cNvSpPr/>
          <p:nvPr/>
        </p:nvSpPr>
        <p:spPr>
          <a:xfrm>
            <a:off x="502920" y="786384"/>
            <a:ext cx="8778240" cy="438912"/>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Substantive payoff for intermediation</a:t>
            </a:r>
            <a:endParaRPr lang="en-US" sz="2600" dirty="0"/>
          </a:p>
        </p:txBody>
      </p:sp>
      <p:sp>
        <p:nvSpPr>
          <p:cNvPr id="6" name="Text 4"/>
          <p:cNvSpPr/>
          <p:nvPr/>
        </p:nvSpPr>
        <p:spPr>
          <a:xfrm>
            <a:off x="521208" y="1261872"/>
            <a:ext cx="10607040" cy="347472"/>
          </a:xfrm>
          <a:prstGeom prst="rect">
            <a:avLst/>
          </a:prstGeom>
          <a:noFill/>
          <a:ln/>
        </p:spPr>
        <p:txBody>
          <a:bodyPr wrap="square" lIns="0" tIns="0" rIns="0" bIns="0" rtlCol="0" anchor="ctr"/>
          <a:lstStyle/>
          <a:p>
            <a:pPr marL="0" indent="0">
              <a:buNone/>
            </a:pPr>
            <a:r>
              <a:rPr lang="en-US" sz="1600" dirty="0">
                <a:solidFill>
                  <a:srgbClr val="5A5A5A"/>
                </a:solidFill>
                <a:latin typeface="Aptos" pitchFamily="34" charset="0"/>
                <a:ea typeface="Aptos" pitchFamily="34" charset="-122"/>
                <a:cs typeface="Aptos" pitchFamily="34" charset="-120"/>
              </a:rPr>
              <a:t>The coding now supports better theoretical questions.</a:t>
            </a:r>
            <a:endParaRPr lang="en-US" sz="1600" dirty="0"/>
          </a:p>
        </p:txBody>
      </p:sp>
      <p:sp>
        <p:nvSpPr>
          <p:cNvPr id="7" name="Shape 5"/>
          <p:cNvSpPr/>
          <p:nvPr/>
        </p:nvSpPr>
        <p:spPr>
          <a:xfrm>
            <a:off x="731520" y="1828800"/>
            <a:ext cx="4937760" cy="960120"/>
          </a:xfrm>
          <a:prstGeom prst="roundRect">
            <a:avLst>
              <a:gd name="adj" fmla="val 7619"/>
            </a:avLst>
          </a:prstGeom>
          <a:solidFill>
            <a:srgbClr val="F4F7FA"/>
          </a:solidFill>
          <a:ln w="12700">
            <a:solidFill>
              <a:srgbClr val="D4DAE0"/>
            </a:solidFill>
            <a:prstDash val="solid"/>
          </a:ln>
        </p:spPr>
      </p:sp>
      <p:sp>
        <p:nvSpPr>
          <p:cNvPr id="8" name="Text 6"/>
          <p:cNvSpPr/>
          <p:nvPr/>
        </p:nvSpPr>
        <p:spPr>
          <a:xfrm>
            <a:off x="868680" y="1956816"/>
            <a:ext cx="4663440" cy="292608"/>
          </a:xfrm>
          <a:prstGeom prst="rect">
            <a:avLst/>
          </a:prstGeom>
          <a:noFill/>
          <a:ln/>
        </p:spPr>
        <p:txBody>
          <a:bodyPr wrap="square" lIns="0" tIns="0" rIns="0" bIns="0" rtlCol="0" anchor="ctr">
            <a:normAutofit lnSpcReduction="10000"/>
          </a:bodyPr>
          <a:lstStyle/>
          <a:p>
            <a:pPr marL="0" indent="0">
              <a:buNone/>
            </a:pPr>
            <a:r>
              <a:rPr lang="en-US" sz="2000" b="1" dirty="0">
                <a:solidFill>
                  <a:srgbClr val="17365D"/>
                </a:solidFill>
                <a:latin typeface="Aptos Display" pitchFamily="34" charset="0"/>
                <a:ea typeface="Aptos Display" pitchFamily="34" charset="-122"/>
                <a:cs typeface="Aptos Display" pitchFamily="34" charset="-120"/>
              </a:rPr>
              <a:t>Structural importance</a:t>
            </a:r>
            <a:endParaRPr lang="en-US" sz="2000" dirty="0"/>
          </a:p>
        </p:txBody>
      </p:sp>
      <p:sp>
        <p:nvSpPr>
          <p:cNvPr id="9" name="Text 7"/>
          <p:cNvSpPr/>
          <p:nvPr/>
        </p:nvSpPr>
        <p:spPr>
          <a:xfrm>
            <a:off x="868680" y="2304288"/>
            <a:ext cx="4663440" cy="393192"/>
          </a:xfrm>
          <a:prstGeom prst="rect">
            <a:avLst/>
          </a:prstGeom>
          <a:noFill/>
          <a:ln/>
        </p:spPr>
        <p:txBody>
          <a:bodyPr wrap="square" lIns="381" tIns="381" rIns="381" bIns="381" rtlCol="0" anchor="ctr">
            <a:normAutofit/>
          </a:bodyPr>
          <a:lstStyle/>
          <a:p>
            <a:pPr marL="0" indent="0">
              <a:buNone/>
            </a:pPr>
            <a:r>
              <a:rPr lang="en-US" sz="1700" dirty="0">
                <a:solidFill>
                  <a:srgbClr val="222222"/>
                </a:solidFill>
                <a:latin typeface="Aptos" pitchFamily="34" charset="0"/>
                <a:ea typeface="Aptos" pitchFamily="34" charset="-122"/>
                <a:cs typeface="Aptos" pitchFamily="34" charset="-120"/>
              </a:rPr>
              <a:t>not only frequency</a:t>
            </a:r>
            <a:endParaRPr lang="en-US" sz="1700" dirty="0"/>
          </a:p>
        </p:txBody>
      </p:sp>
      <p:sp>
        <p:nvSpPr>
          <p:cNvPr id="10" name="Shape 8"/>
          <p:cNvSpPr/>
          <p:nvPr/>
        </p:nvSpPr>
        <p:spPr>
          <a:xfrm>
            <a:off x="6217920" y="1828800"/>
            <a:ext cx="4937760" cy="960120"/>
          </a:xfrm>
          <a:prstGeom prst="roundRect">
            <a:avLst>
              <a:gd name="adj" fmla="val 7619"/>
            </a:avLst>
          </a:prstGeom>
          <a:solidFill>
            <a:srgbClr val="DDEFD9"/>
          </a:solidFill>
          <a:ln w="12700">
            <a:solidFill>
              <a:srgbClr val="D4DAE0"/>
            </a:solidFill>
            <a:prstDash val="solid"/>
          </a:ln>
        </p:spPr>
      </p:sp>
      <p:sp>
        <p:nvSpPr>
          <p:cNvPr id="11" name="Text 9"/>
          <p:cNvSpPr/>
          <p:nvPr/>
        </p:nvSpPr>
        <p:spPr>
          <a:xfrm>
            <a:off x="6355080" y="1956816"/>
            <a:ext cx="4663440" cy="292608"/>
          </a:xfrm>
          <a:prstGeom prst="rect">
            <a:avLst/>
          </a:prstGeom>
          <a:noFill/>
          <a:ln/>
        </p:spPr>
        <p:txBody>
          <a:bodyPr wrap="square" lIns="0" tIns="0" rIns="0" bIns="0" rtlCol="0" anchor="ctr">
            <a:normAutofit lnSpcReduction="10000"/>
          </a:bodyPr>
          <a:lstStyle/>
          <a:p>
            <a:pPr marL="0" indent="0">
              <a:buNone/>
            </a:pPr>
            <a:r>
              <a:rPr lang="en-US" sz="2000" b="1" dirty="0">
                <a:solidFill>
                  <a:srgbClr val="17365D"/>
                </a:solidFill>
                <a:latin typeface="Aptos Display" pitchFamily="34" charset="0"/>
                <a:ea typeface="Aptos Display" pitchFamily="34" charset="-122"/>
                <a:cs typeface="Aptos Display" pitchFamily="34" charset="-120"/>
              </a:rPr>
              <a:t>Governed governors</a:t>
            </a:r>
            <a:endParaRPr lang="en-US" sz="2000" dirty="0"/>
          </a:p>
        </p:txBody>
      </p:sp>
      <p:sp>
        <p:nvSpPr>
          <p:cNvPr id="12" name="Text 10"/>
          <p:cNvSpPr/>
          <p:nvPr/>
        </p:nvSpPr>
        <p:spPr>
          <a:xfrm>
            <a:off x="6355080" y="2304288"/>
            <a:ext cx="4663440" cy="393192"/>
          </a:xfrm>
          <a:prstGeom prst="rect">
            <a:avLst/>
          </a:prstGeom>
          <a:noFill/>
          <a:ln/>
        </p:spPr>
        <p:txBody>
          <a:bodyPr wrap="square" lIns="381" tIns="381" rIns="381" bIns="381" rtlCol="0" anchor="ctr">
            <a:normAutofit/>
          </a:bodyPr>
          <a:lstStyle/>
          <a:p>
            <a:pPr marL="0" indent="0">
              <a:buNone/>
            </a:pPr>
            <a:r>
              <a:rPr lang="en-US" sz="1700" dirty="0">
                <a:solidFill>
                  <a:srgbClr val="222222"/>
                </a:solidFill>
                <a:latin typeface="Aptos" pitchFamily="34" charset="0"/>
                <a:ea typeface="Aptos" pitchFamily="34" charset="-122"/>
                <a:cs typeface="Aptos" pitchFamily="34" charset="-120"/>
              </a:rPr>
              <a:t>who regulates the intermediary?</a:t>
            </a:r>
            <a:endParaRPr lang="en-US" sz="1700" dirty="0"/>
          </a:p>
        </p:txBody>
      </p:sp>
      <p:sp>
        <p:nvSpPr>
          <p:cNvPr id="13" name="Shape 11"/>
          <p:cNvSpPr/>
          <p:nvPr/>
        </p:nvSpPr>
        <p:spPr>
          <a:xfrm>
            <a:off x="731520" y="3154680"/>
            <a:ext cx="4937760" cy="960120"/>
          </a:xfrm>
          <a:prstGeom prst="roundRect">
            <a:avLst>
              <a:gd name="adj" fmla="val 7619"/>
            </a:avLst>
          </a:prstGeom>
          <a:solidFill>
            <a:srgbClr val="F4F7FA"/>
          </a:solidFill>
          <a:ln w="12700">
            <a:solidFill>
              <a:srgbClr val="D4DAE0"/>
            </a:solidFill>
            <a:prstDash val="solid"/>
          </a:ln>
        </p:spPr>
      </p:sp>
      <p:sp>
        <p:nvSpPr>
          <p:cNvPr id="14" name="Text 12"/>
          <p:cNvSpPr/>
          <p:nvPr/>
        </p:nvSpPr>
        <p:spPr>
          <a:xfrm>
            <a:off x="868680" y="3282696"/>
            <a:ext cx="4663440" cy="292608"/>
          </a:xfrm>
          <a:prstGeom prst="rect">
            <a:avLst/>
          </a:prstGeom>
          <a:noFill/>
          <a:ln/>
        </p:spPr>
        <p:txBody>
          <a:bodyPr wrap="square" lIns="0" tIns="0" rIns="0" bIns="0" rtlCol="0" anchor="ctr">
            <a:normAutofit lnSpcReduction="10000"/>
          </a:bodyPr>
          <a:lstStyle/>
          <a:p>
            <a:pPr marL="0" indent="0">
              <a:buNone/>
            </a:pPr>
            <a:r>
              <a:rPr lang="en-US" sz="2000" b="1" dirty="0">
                <a:solidFill>
                  <a:srgbClr val="17365D"/>
                </a:solidFill>
                <a:latin typeface="Aptos Display" pitchFamily="34" charset="0"/>
                <a:ea typeface="Aptos Display" pitchFamily="34" charset="-122"/>
                <a:cs typeface="Aptos Display" pitchFamily="34" charset="-120"/>
              </a:rPr>
              <a:t>Hierarchy + intermediation</a:t>
            </a:r>
            <a:endParaRPr lang="en-US" sz="2000" dirty="0"/>
          </a:p>
        </p:txBody>
      </p:sp>
      <p:sp>
        <p:nvSpPr>
          <p:cNvPr id="15" name="Text 13"/>
          <p:cNvSpPr/>
          <p:nvPr/>
        </p:nvSpPr>
        <p:spPr>
          <a:xfrm>
            <a:off x="868680" y="3630168"/>
            <a:ext cx="4663440" cy="393192"/>
          </a:xfrm>
          <a:prstGeom prst="rect">
            <a:avLst/>
          </a:prstGeom>
          <a:noFill/>
          <a:ln/>
        </p:spPr>
        <p:txBody>
          <a:bodyPr wrap="square" lIns="381" tIns="381" rIns="381" bIns="381" rtlCol="0" anchor="ctr">
            <a:normAutofit/>
          </a:bodyPr>
          <a:lstStyle/>
          <a:p>
            <a:pPr marL="0" indent="0">
              <a:buNone/>
            </a:pPr>
            <a:r>
              <a:rPr lang="en-US" sz="1700" dirty="0">
                <a:solidFill>
                  <a:srgbClr val="222222"/>
                </a:solidFill>
                <a:latin typeface="Aptos" pitchFamily="34" charset="0"/>
                <a:ea typeface="Aptos" pitchFamily="34" charset="-122"/>
                <a:cs typeface="Aptos" pitchFamily="34" charset="-120"/>
              </a:rPr>
              <a:t>substitution or embedding?</a:t>
            </a:r>
            <a:endParaRPr lang="en-US" sz="1700" dirty="0"/>
          </a:p>
        </p:txBody>
      </p:sp>
      <p:sp>
        <p:nvSpPr>
          <p:cNvPr id="16" name="Shape 14"/>
          <p:cNvSpPr/>
          <p:nvPr/>
        </p:nvSpPr>
        <p:spPr>
          <a:xfrm>
            <a:off x="6217920" y="3154680"/>
            <a:ext cx="4937760" cy="960120"/>
          </a:xfrm>
          <a:prstGeom prst="roundRect">
            <a:avLst>
              <a:gd name="adj" fmla="val 7619"/>
            </a:avLst>
          </a:prstGeom>
          <a:solidFill>
            <a:srgbClr val="DDEFD9"/>
          </a:solidFill>
          <a:ln w="12700">
            <a:solidFill>
              <a:srgbClr val="D4DAE0"/>
            </a:solidFill>
            <a:prstDash val="solid"/>
          </a:ln>
        </p:spPr>
      </p:sp>
      <p:sp>
        <p:nvSpPr>
          <p:cNvPr id="17" name="Text 15"/>
          <p:cNvSpPr/>
          <p:nvPr/>
        </p:nvSpPr>
        <p:spPr>
          <a:xfrm>
            <a:off x="6355080" y="3282696"/>
            <a:ext cx="4663440" cy="292608"/>
          </a:xfrm>
          <a:prstGeom prst="rect">
            <a:avLst/>
          </a:prstGeom>
          <a:noFill/>
          <a:ln/>
        </p:spPr>
        <p:txBody>
          <a:bodyPr wrap="square" lIns="0" tIns="0" rIns="0" bIns="0" rtlCol="0" anchor="ctr">
            <a:normAutofit lnSpcReduction="10000"/>
          </a:bodyPr>
          <a:lstStyle/>
          <a:p>
            <a:pPr marL="0" indent="0">
              <a:buNone/>
            </a:pPr>
            <a:r>
              <a:rPr lang="en-US" sz="2000" b="1" dirty="0">
                <a:solidFill>
                  <a:srgbClr val="17365D"/>
                </a:solidFill>
                <a:latin typeface="Aptos Display" pitchFamily="34" charset="0"/>
                <a:ea typeface="Aptos Display" pitchFamily="34" charset="-122"/>
                <a:cs typeface="Aptos Display" pitchFamily="34" charset="-120"/>
              </a:rPr>
              <a:t>Variation across sub-regimes</a:t>
            </a:r>
            <a:endParaRPr lang="en-US" sz="2000" dirty="0"/>
          </a:p>
        </p:txBody>
      </p:sp>
      <p:sp>
        <p:nvSpPr>
          <p:cNvPr id="18" name="Text 16"/>
          <p:cNvSpPr/>
          <p:nvPr/>
        </p:nvSpPr>
        <p:spPr>
          <a:xfrm>
            <a:off x="6355080" y="3630168"/>
            <a:ext cx="4663440" cy="393192"/>
          </a:xfrm>
          <a:prstGeom prst="rect">
            <a:avLst/>
          </a:prstGeom>
          <a:noFill/>
          <a:ln/>
        </p:spPr>
        <p:txBody>
          <a:bodyPr wrap="square" lIns="381" tIns="381" rIns="381" bIns="381" rtlCol="0" anchor="ctr">
            <a:normAutofit/>
          </a:bodyPr>
          <a:lstStyle/>
          <a:p>
            <a:pPr marL="0" indent="0">
              <a:buNone/>
            </a:pPr>
            <a:r>
              <a:rPr lang="en-US" sz="1700" dirty="0">
                <a:solidFill>
                  <a:srgbClr val="222222"/>
                </a:solidFill>
                <a:latin typeface="Aptos" pitchFamily="34" charset="0"/>
                <a:ea typeface="Aptos" pitchFamily="34" charset="-122"/>
                <a:cs typeface="Aptos" pitchFamily="34" charset="-120"/>
              </a:rPr>
              <a:t>why here, not there?</a:t>
            </a:r>
            <a:endParaRPr lang="en-US" sz="1700" dirty="0"/>
          </a:p>
        </p:txBody>
      </p:sp>
      <p:sp>
        <p:nvSpPr>
          <p:cNvPr id="19" name="Text 17"/>
          <p:cNvSpPr/>
          <p:nvPr/>
        </p:nvSpPr>
        <p:spPr>
          <a:xfrm>
            <a:off x="868680" y="5166360"/>
            <a:ext cx="10515600" cy="457200"/>
          </a:xfrm>
          <a:prstGeom prst="rect">
            <a:avLst/>
          </a:prstGeom>
          <a:noFill/>
          <a:ln/>
        </p:spPr>
        <p:txBody>
          <a:bodyPr wrap="square" lIns="254" tIns="254" rIns="254" bIns="254" rtlCol="0" anchor="ctr"/>
          <a:lstStyle/>
          <a:p>
            <a:pPr marL="0" indent="0" algn="ctr">
              <a:buNone/>
            </a:pPr>
            <a:r>
              <a:rPr lang="en-US" sz="2200" b="1" dirty="0">
                <a:solidFill>
                  <a:srgbClr val="17365D"/>
                </a:solidFill>
              </a:rPr>
              <a:t>Research shift: from identifying intermediaries to explaining intermediary architectures.</a:t>
            </a:r>
            <a:endParaRPr lang="en-US" sz="2200" dirty="0"/>
          </a:p>
        </p:txBody>
      </p:sp>
      <p:sp>
        <p:nvSpPr>
          <p:cNvPr id="20" name="Text 18"/>
          <p:cNvSpPr/>
          <p:nvPr/>
        </p:nvSpPr>
        <p:spPr>
          <a:xfrm>
            <a:off x="502920" y="6492240"/>
            <a:ext cx="11201400" cy="228600"/>
          </a:xfrm>
          <a:prstGeom prst="rect">
            <a:avLst/>
          </a:prstGeom>
          <a:noFill/>
          <a:ln/>
        </p:spPr>
        <p:txBody>
          <a:bodyPr wrap="square" lIns="0" tIns="0" rIns="0" bIns="0" rtlCol="0" anchor="ctr">
            <a:normAutofit/>
          </a:bodyPr>
          <a:lstStyle/>
          <a:p>
            <a:pPr marL="0" indent="0">
              <a:buNone/>
            </a:pPr>
            <a:r>
              <a:rPr lang="en-US" sz="850" dirty="0">
                <a:solidFill>
                  <a:srgbClr val="777777"/>
                </a:solidFill>
                <a:latin typeface="Aptos" pitchFamily="34" charset="0"/>
                <a:ea typeface="Aptos" pitchFamily="34" charset="-122"/>
                <a:cs typeface="Aptos" pitchFamily="34" charset="-120"/>
              </a:rPr>
              <a:t>Source: October architectural-inference note and R3 dataset architecture.</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01168"/>
            <a:ext cx="4389120" cy="256032"/>
          </a:xfrm>
          <a:prstGeom prst="rect">
            <a:avLst/>
          </a:prstGeom>
          <a:noFill/>
          <a:ln/>
        </p:spPr>
        <p:txBody>
          <a:bodyPr wrap="square" lIns="0" tIns="0" rIns="0" bIns="0" rtlCol="0" anchor="ctr"/>
          <a:lstStyle/>
          <a:p>
            <a:pPr marL="0" indent="0">
              <a:buNone/>
            </a:pPr>
            <a:r>
              <a:rPr lang="en-US" sz="1050" dirty="0">
                <a:solidFill>
                  <a:srgbClr val="5A5A5A"/>
                </a:solidFill>
                <a:latin typeface="Aptos" pitchFamily="34" charset="0"/>
                <a:ea typeface="Aptos" pitchFamily="34" charset="-122"/>
                <a:cs typeface="Aptos" pitchFamily="34" charset="-120"/>
              </a:rPr>
              <a:t>Law as Governance Group</a:t>
            </a:r>
            <a:endParaRPr lang="en-US" sz="1050" dirty="0"/>
          </a:p>
        </p:txBody>
      </p:sp>
      <p:sp>
        <p:nvSpPr>
          <p:cNvPr id="3" name="Text 1"/>
          <p:cNvSpPr/>
          <p:nvPr/>
        </p:nvSpPr>
        <p:spPr>
          <a:xfrm>
            <a:off x="8229600" y="201168"/>
            <a:ext cx="3429000" cy="256032"/>
          </a:xfrm>
          <a:prstGeom prst="rect">
            <a:avLst/>
          </a:prstGeom>
          <a:noFill/>
          <a:ln/>
        </p:spPr>
        <p:txBody>
          <a:bodyPr wrap="square" lIns="0" tIns="0" rIns="0" bIns="0" rtlCol="0" anchor="ctr"/>
          <a:lstStyle/>
          <a:p>
            <a:pPr marL="0" indent="0" algn="r">
              <a:buNone/>
            </a:pPr>
            <a:r>
              <a:rPr lang="en-US" sz="1050" dirty="0">
                <a:solidFill>
                  <a:srgbClr val="5A5A5A"/>
                </a:solidFill>
                <a:latin typeface="Aptos" pitchFamily="34" charset="0"/>
                <a:ea typeface="Aptos" pitchFamily="34" charset="-122"/>
                <a:cs typeface="Aptos" pitchFamily="34" charset="-120"/>
              </a:rPr>
              <a:t>Igor — cumulative work</a:t>
            </a:r>
            <a:endParaRPr lang="en-US" sz="1050" dirty="0"/>
          </a:p>
        </p:txBody>
      </p:sp>
      <p:sp>
        <p:nvSpPr>
          <p:cNvPr id="4" name="Shape 2"/>
          <p:cNvSpPr/>
          <p:nvPr/>
        </p:nvSpPr>
        <p:spPr>
          <a:xfrm>
            <a:off x="502920" y="530352"/>
            <a:ext cx="11201400" cy="0"/>
          </a:xfrm>
          <a:prstGeom prst="line">
            <a:avLst/>
          </a:prstGeom>
          <a:noFill/>
          <a:ln w="12700">
            <a:solidFill>
              <a:srgbClr val="D4DAE0"/>
            </a:solidFill>
            <a:prstDash val="solid"/>
          </a:ln>
        </p:spPr>
      </p:sp>
      <p:sp>
        <p:nvSpPr>
          <p:cNvPr id="5" name="Text 3"/>
          <p:cNvSpPr/>
          <p:nvPr/>
        </p:nvSpPr>
        <p:spPr>
          <a:xfrm>
            <a:off x="502920" y="786384"/>
            <a:ext cx="8778240" cy="438912"/>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The governed-governors insight</a:t>
            </a:r>
            <a:endParaRPr lang="en-US" sz="2600" dirty="0"/>
          </a:p>
        </p:txBody>
      </p:sp>
      <p:sp>
        <p:nvSpPr>
          <p:cNvPr id="6" name="Text 4"/>
          <p:cNvSpPr/>
          <p:nvPr/>
        </p:nvSpPr>
        <p:spPr>
          <a:xfrm>
            <a:off x="521208" y="1261872"/>
            <a:ext cx="10607040" cy="347472"/>
          </a:xfrm>
          <a:prstGeom prst="rect">
            <a:avLst/>
          </a:prstGeom>
          <a:noFill/>
          <a:ln/>
        </p:spPr>
        <p:txBody>
          <a:bodyPr wrap="square" lIns="0" tIns="0" rIns="0" bIns="0" rtlCol="0" anchor="ctr"/>
          <a:lstStyle/>
          <a:p>
            <a:pPr marL="0" indent="0">
              <a:buNone/>
            </a:pPr>
            <a:r>
              <a:rPr lang="en-US" sz="1600" dirty="0">
                <a:solidFill>
                  <a:srgbClr val="5A5A5A"/>
                </a:solidFill>
                <a:latin typeface="Aptos" pitchFamily="34" charset="0"/>
                <a:ea typeface="Aptos" pitchFamily="34" charset="-122"/>
                <a:cs typeface="Aptos" pitchFamily="34" charset="-120"/>
              </a:rPr>
              <a:t>Intermediaries are not only governors of targets; they are also governed.</a:t>
            </a:r>
            <a:endParaRPr lang="en-US" sz="1600" dirty="0"/>
          </a:p>
        </p:txBody>
      </p:sp>
      <p:sp>
        <p:nvSpPr>
          <p:cNvPr id="7" name="Shape 5"/>
          <p:cNvSpPr/>
          <p:nvPr/>
        </p:nvSpPr>
        <p:spPr>
          <a:xfrm>
            <a:off x="2743200" y="1828800"/>
            <a:ext cx="6675120" cy="822960"/>
          </a:xfrm>
          <a:prstGeom prst="roundRect">
            <a:avLst>
              <a:gd name="adj" fmla="val 8889"/>
            </a:avLst>
          </a:prstGeom>
          <a:solidFill>
            <a:srgbClr val="17365D"/>
          </a:solidFill>
          <a:ln w="12700">
            <a:solidFill>
              <a:srgbClr val="17365D"/>
            </a:solidFill>
            <a:prstDash val="solid"/>
          </a:ln>
        </p:spPr>
      </p:sp>
      <p:sp>
        <p:nvSpPr>
          <p:cNvPr id="8" name="Text 6"/>
          <p:cNvSpPr/>
          <p:nvPr/>
        </p:nvSpPr>
        <p:spPr>
          <a:xfrm>
            <a:off x="2880360" y="1956816"/>
            <a:ext cx="6400800" cy="292608"/>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Aptos Display" pitchFamily="34" charset="0"/>
                <a:ea typeface="Aptos Display" pitchFamily="34" charset="-122"/>
                <a:cs typeface="Aptos Display" pitchFamily="34" charset="-120"/>
              </a:rPr>
              <a:t>PUBLIC / ACCREDITING / REVIEW AUTHORITY</a:t>
            </a:r>
            <a:endParaRPr lang="en-US" sz="1800" dirty="0"/>
          </a:p>
        </p:txBody>
      </p:sp>
      <p:sp>
        <p:nvSpPr>
          <p:cNvPr id="9" name="Text 7"/>
          <p:cNvSpPr/>
          <p:nvPr/>
        </p:nvSpPr>
        <p:spPr>
          <a:xfrm>
            <a:off x="2880360" y="2304288"/>
            <a:ext cx="6400800" cy="256032"/>
          </a:xfrm>
          <a:prstGeom prst="rect">
            <a:avLst/>
          </a:prstGeom>
          <a:noFill/>
          <a:ln/>
        </p:spPr>
        <p:txBody>
          <a:bodyPr wrap="square" lIns="381" tIns="381" rIns="381" bIns="381" rtlCol="0" anchor="ctr">
            <a:normAutofit/>
          </a:bodyPr>
          <a:lstStyle/>
          <a:p>
            <a:pPr marL="0" indent="0">
              <a:buNone/>
            </a:pPr>
            <a:r>
              <a:rPr lang="en-US" sz="1500" dirty="0">
                <a:solidFill>
                  <a:srgbClr val="FFFFFF"/>
                </a:solidFill>
                <a:latin typeface="Aptos" pitchFamily="34" charset="0"/>
                <a:ea typeface="Aptos" pitchFamily="34" charset="-122"/>
                <a:cs typeface="Aptos" pitchFamily="34" charset="-120"/>
              </a:rPr>
              <a:t>designation · supervision · sanction</a:t>
            </a:r>
            <a:endParaRPr lang="en-US" sz="1500" dirty="0"/>
          </a:p>
        </p:txBody>
      </p:sp>
      <p:sp>
        <p:nvSpPr>
          <p:cNvPr id="10" name="Shape 8"/>
          <p:cNvSpPr/>
          <p:nvPr/>
        </p:nvSpPr>
        <p:spPr>
          <a:xfrm>
            <a:off x="2743200" y="3246120"/>
            <a:ext cx="6675120" cy="822960"/>
          </a:xfrm>
          <a:prstGeom prst="roundRect">
            <a:avLst>
              <a:gd name="adj" fmla="val 8889"/>
            </a:avLst>
          </a:prstGeom>
          <a:solidFill>
            <a:srgbClr val="2F75B5"/>
          </a:solidFill>
          <a:ln w="12700">
            <a:solidFill>
              <a:srgbClr val="2F75B5"/>
            </a:solidFill>
            <a:prstDash val="solid"/>
          </a:ln>
        </p:spPr>
      </p:sp>
      <p:sp>
        <p:nvSpPr>
          <p:cNvPr id="11" name="Text 9"/>
          <p:cNvSpPr/>
          <p:nvPr/>
        </p:nvSpPr>
        <p:spPr>
          <a:xfrm>
            <a:off x="2880360" y="3374136"/>
            <a:ext cx="6400800" cy="292608"/>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Aptos Display" pitchFamily="34" charset="0"/>
                <a:ea typeface="Aptos Display" pitchFamily="34" charset="-122"/>
                <a:cs typeface="Aptos Display" pitchFamily="34" charset="-120"/>
              </a:rPr>
              <a:t>INTERMEDIARY</a:t>
            </a:r>
            <a:endParaRPr lang="en-US" sz="1800" dirty="0"/>
          </a:p>
        </p:txBody>
      </p:sp>
      <p:sp>
        <p:nvSpPr>
          <p:cNvPr id="12" name="Text 10"/>
          <p:cNvSpPr/>
          <p:nvPr/>
        </p:nvSpPr>
        <p:spPr>
          <a:xfrm>
            <a:off x="2880360" y="3721608"/>
            <a:ext cx="6400800" cy="256032"/>
          </a:xfrm>
          <a:prstGeom prst="rect">
            <a:avLst/>
          </a:prstGeom>
          <a:noFill/>
          <a:ln/>
        </p:spPr>
        <p:txBody>
          <a:bodyPr wrap="square" lIns="381" tIns="381" rIns="381" bIns="381" rtlCol="0" anchor="ctr">
            <a:normAutofit/>
          </a:bodyPr>
          <a:lstStyle/>
          <a:p>
            <a:pPr marL="0" indent="0">
              <a:buNone/>
            </a:pPr>
            <a:r>
              <a:rPr lang="en-US" sz="1500" dirty="0">
                <a:solidFill>
                  <a:srgbClr val="FFFFFF"/>
                </a:solidFill>
                <a:latin typeface="Aptos" pitchFamily="34" charset="0"/>
                <a:ea typeface="Aptos" pitchFamily="34" charset="-122"/>
                <a:cs typeface="Aptos" pitchFamily="34" charset="-120"/>
              </a:rPr>
              <a:t>verification · certification · monitoring</a:t>
            </a:r>
            <a:endParaRPr lang="en-US" sz="1500" dirty="0"/>
          </a:p>
        </p:txBody>
      </p:sp>
      <p:sp>
        <p:nvSpPr>
          <p:cNvPr id="13" name="Shape 11"/>
          <p:cNvSpPr/>
          <p:nvPr/>
        </p:nvSpPr>
        <p:spPr>
          <a:xfrm>
            <a:off x="2743200" y="4663440"/>
            <a:ext cx="6675120" cy="822960"/>
          </a:xfrm>
          <a:prstGeom prst="roundRect">
            <a:avLst>
              <a:gd name="adj" fmla="val 8889"/>
            </a:avLst>
          </a:prstGeom>
          <a:solidFill>
            <a:srgbClr val="17365D"/>
          </a:solidFill>
          <a:ln w="12700">
            <a:solidFill>
              <a:srgbClr val="17365D"/>
            </a:solidFill>
            <a:prstDash val="solid"/>
          </a:ln>
        </p:spPr>
      </p:sp>
      <p:sp>
        <p:nvSpPr>
          <p:cNvPr id="14" name="Text 12"/>
          <p:cNvSpPr/>
          <p:nvPr/>
        </p:nvSpPr>
        <p:spPr>
          <a:xfrm>
            <a:off x="2880360" y="4791456"/>
            <a:ext cx="6400800" cy="292608"/>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Aptos Display" pitchFamily="34" charset="0"/>
                <a:ea typeface="Aptos Display" pitchFamily="34" charset="-122"/>
                <a:cs typeface="Aptos Display" pitchFamily="34" charset="-120"/>
              </a:rPr>
              <a:t>REGULATED TARGET</a:t>
            </a:r>
            <a:endParaRPr lang="en-US" sz="1800" dirty="0"/>
          </a:p>
        </p:txBody>
      </p:sp>
      <p:sp>
        <p:nvSpPr>
          <p:cNvPr id="15" name="Text 13"/>
          <p:cNvSpPr/>
          <p:nvPr/>
        </p:nvSpPr>
        <p:spPr>
          <a:xfrm>
            <a:off x="2880360" y="5138928"/>
            <a:ext cx="6400800" cy="256032"/>
          </a:xfrm>
          <a:prstGeom prst="rect">
            <a:avLst/>
          </a:prstGeom>
          <a:noFill/>
          <a:ln/>
        </p:spPr>
        <p:txBody>
          <a:bodyPr wrap="square" lIns="381" tIns="381" rIns="381" bIns="381" rtlCol="0" anchor="ctr">
            <a:normAutofit/>
          </a:bodyPr>
          <a:lstStyle/>
          <a:p>
            <a:pPr marL="0" indent="0">
              <a:buNone/>
            </a:pPr>
            <a:r>
              <a:rPr lang="en-US" sz="1500" dirty="0">
                <a:solidFill>
                  <a:srgbClr val="FFFFFF"/>
                </a:solidFill>
                <a:latin typeface="Aptos" pitchFamily="34" charset="0"/>
                <a:ea typeface="Aptos" pitchFamily="34" charset="-122"/>
                <a:cs typeface="Aptos" pitchFamily="34" charset="-120"/>
              </a:rPr>
              <a:t>obligation · compliance · market access</a:t>
            </a:r>
            <a:endParaRPr lang="en-US" sz="1500" dirty="0"/>
          </a:p>
        </p:txBody>
      </p:sp>
      <p:sp>
        <p:nvSpPr>
          <p:cNvPr id="16" name="Text 14"/>
          <p:cNvSpPr/>
          <p:nvPr/>
        </p:nvSpPr>
        <p:spPr>
          <a:xfrm>
            <a:off x="914400" y="5623560"/>
            <a:ext cx="10241280" cy="320040"/>
          </a:xfrm>
          <a:prstGeom prst="rect">
            <a:avLst/>
          </a:prstGeom>
          <a:noFill/>
          <a:ln/>
        </p:spPr>
        <p:txBody>
          <a:bodyPr wrap="square" lIns="0" tIns="0" rIns="0" bIns="0" rtlCol="0" anchor="ctr"/>
          <a:lstStyle/>
          <a:p>
            <a:pPr marL="0" indent="0" algn="ctr">
              <a:buNone/>
            </a:pPr>
            <a:r>
              <a:rPr lang="en-US" sz="1800" b="1" dirty="0">
                <a:solidFill>
                  <a:srgbClr val="17365D"/>
                </a:solidFill>
              </a:rPr>
              <a:t>This is the bridge from intermediation as actor category to intermediation as governance architecture.</a:t>
            </a:r>
            <a:endParaRPr lang="en-US" sz="1800" dirty="0"/>
          </a:p>
        </p:txBody>
      </p:sp>
      <p:sp>
        <p:nvSpPr>
          <p:cNvPr id="17" name="Text 15"/>
          <p:cNvSpPr/>
          <p:nvPr/>
        </p:nvSpPr>
        <p:spPr>
          <a:xfrm>
            <a:off x="502920" y="6492240"/>
            <a:ext cx="11201400" cy="228600"/>
          </a:xfrm>
          <a:prstGeom prst="rect">
            <a:avLst/>
          </a:prstGeom>
          <a:noFill/>
          <a:ln/>
        </p:spPr>
        <p:txBody>
          <a:bodyPr wrap="square" lIns="0" tIns="0" rIns="0" bIns="0" rtlCol="0" anchor="ctr">
            <a:normAutofit/>
          </a:bodyPr>
          <a:lstStyle/>
          <a:p>
            <a:pPr marL="0" indent="0">
              <a:buNone/>
            </a:pPr>
            <a:r>
              <a:rPr lang="en-US" sz="850" dirty="0">
                <a:solidFill>
                  <a:srgbClr val="777777"/>
                </a:solidFill>
                <a:latin typeface="Aptos" pitchFamily="34" charset="0"/>
                <a:ea typeface="Aptos" pitchFamily="34" charset="-122"/>
                <a:cs typeface="Aptos" pitchFamily="34" charset="-120"/>
              </a:rPr>
              <a:t>Source: Igor Caires Machado, project notes and memos, Sept.–Oct. 2026.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01168"/>
            <a:ext cx="4389120" cy="256032"/>
          </a:xfrm>
          <a:prstGeom prst="rect">
            <a:avLst/>
          </a:prstGeom>
          <a:noFill/>
          <a:ln/>
        </p:spPr>
        <p:txBody>
          <a:bodyPr wrap="square" lIns="0" tIns="0" rIns="0" bIns="0" rtlCol="0" anchor="ctr"/>
          <a:lstStyle/>
          <a:p>
            <a:pPr marL="0" indent="0">
              <a:buNone/>
            </a:pPr>
            <a:r>
              <a:rPr lang="en-US" sz="1050" dirty="0">
                <a:solidFill>
                  <a:srgbClr val="5A5A5A"/>
                </a:solidFill>
                <a:latin typeface="Aptos" pitchFamily="34" charset="0"/>
                <a:ea typeface="Aptos" pitchFamily="34" charset="-122"/>
                <a:cs typeface="Aptos" pitchFamily="34" charset="-120"/>
              </a:rPr>
              <a:t>Law as Governance Group</a:t>
            </a:r>
            <a:endParaRPr lang="en-US" sz="1050" dirty="0"/>
          </a:p>
        </p:txBody>
      </p:sp>
      <p:sp>
        <p:nvSpPr>
          <p:cNvPr id="3" name="Text 1"/>
          <p:cNvSpPr/>
          <p:nvPr/>
        </p:nvSpPr>
        <p:spPr>
          <a:xfrm>
            <a:off x="8229600" y="201168"/>
            <a:ext cx="3429000" cy="256032"/>
          </a:xfrm>
          <a:prstGeom prst="rect">
            <a:avLst/>
          </a:prstGeom>
          <a:noFill/>
          <a:ln/>
        </p:spPr>
        <p:txBody>
          <a:bodyPr wrap="square" lIns="0" tIns="0" rIns="0" bIns="0" rtlCol="0" anchor="ctr"/>
          <a:lstStyle/>
          <a:p>
            <a:pPr marL="0" indent="0" algn="r">
              <a:buNone/>
            </a:pPr>
            <a:r>
              <a:rPr lang="en-US" sz="1050" dirty="0">
                <a:solidFill>
                  <a:srgbClr val="5A5A5A"/>
                </a:solidFill>
                <a:latin typeface="Aptos" pitchFamily="34" charset="0"/>
                <a:ea typeface="Aptos" pitchFamily="34" charset="-122"/>
                <a:cs typeface="Aptos" pitchFamily="34" charset="-120"/>
              </a:rPr>
              <a:t>Igor — cumulative work</a:t>
            </a:r>
            <a:endParaRPr lang="en-US" sz="1050" dirty="0"/>
          </a:p>
        </p:txBody>
      </p:sp>
      <p:sp>
        <p:nvSpPr>
          <p:cNvPr id="4" name="Shape 2"/>
          <p:cNvSpPr/>
          <p:nvPr/>
        </p:nvSpPr>
        <p:spPr>
          <a:xfrm>
            <a:off x="502920" y="530352"/>
            <a:ext cx="11201400" cy="0"/>
          </a:xfrm>
          <a:prstGeom prst="line">
            <a:avLst/>
          </a:prstGeom>
          <a:noFill/>
          <a:ln w="12700">
            <a:solidFill>
              <a:srgbClr val="D4DAE0"/>
            </a:solidFill>
            <a:prstDash val="solid"/>
          </a:ln>
        </p:spPr>
      </p:sp>
      <p:sp>
        <p:nvSpPr>
          <p:cNvPr id="5" name="Text 3"/>
          <p:cNvSpPr/>
          <p:nvPr/>
        </p:nvSpPr>
        <p:spPr>
          <a:xfrm>
            <a:off x="502920" y="786384"/>
            <a:ext cx="8778240" cy="438912"/>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What legal-text coding can — and cannot — show</a:t>
            </a:r>
            <a:endParaRPr lang="en-US" sz="2600" dirty="0"/>
          </a:p>
        </p:txBody>
      </p:sp>
      <p:sp>
        <p:nvSpPr>
          <p:cNvPr id="6" name="Text 4"/>
          <p:cNvSpPr/>
          <p:nvPr/>
        </p:nvSpPr>
        <p:spPr>
          <a:xfrm>
            <a:off x="521208" y="1261872"/>
            <a:ext cx="10607040" cy="347472"/>
          </a:xfrm>
          <a:prstGeom prst="rect">
            <a:avLst/>
          </a:prstGeom>
          <a:noFill/>
          <a:ln/>
        </p:spPr>
        <p:txBody>
          <a:bodyPr wrap="square" lIns="0" tIns="0" rIns="0" bIns="0" rtlCol="0" anchor="ctr"/>
          <a:lstStyle/>
          <a:p>
            <a:pPr marL="0" indent="0">
              <a:buNone/>
            </a:pPr>
            <a:r>
              <a:rPr lang="en-US" sz="1600" dirty="0">
                <a:solidFill>
                  <a:srgbClr val="5A5A5A"/>
                </a:solidFill>
                <a:latin typeface="Aptos" pitchFamily="34" charset="0"/>
                <a:ea typeface="Aptos" pitchFamily="34" charset="-122"/>
                <a:cs typeface="Aptos" pitchFamily="34" charset="-120"/>
              </a:rPr>
              <a:t>This boundary keeps the project empirically honest.</a:t>
            </a:r>
            <a:endParaRPr lang="en-US" sz="1600" dirty="0"/>
          </a:p>
        </p:txBody>
      </p:sp>
      <p:sp>
        <p:nvSpPr>
          <p:cNvPr id="7" name="Shape 5"/>
          <p:cNvSpPr/>
          <p:nvPr/>
        </p:nvSpPr>
        <p:spPr>
          <a:xfrm>
            <a:off x="640080" y="1828800"/>
            <a:ext cx="5166360" cy="4206240"/>
          </a:xfrm>
          <a:prstGeom prst="roundRect">
            <a:avLst>
              <a:gd name="adj" fmla="val 1739"/>
            </a:avLst>
          </a:prstGeom>
          <a:solidFill>
            <a:srgbClr val="F4F7FA"/>
          </a:solidFill>
          <a:ln w="12700">
            <a:solidFill>
              <a:srgbClr val="D4DAE0"/>
            </a:solidFill>
            <a:prstDash val="solid"/>
          </a:ln>
        </p:spPr>
      </p:sp>
      <p:sp>
        <p:nvSpPr>
          <p:cNvPr id="8" name="Text 6"/>
          <p:cNvSpPr/>
          <p:nvPr/>
        </p:nvSpPr>
        <p:spPr>
          <a:xfrm>
            <a:off x="777240" y="1956816"/>
            <a:ext cx="4892040" cy="292608"/>
          </a:xfrm>
          <a:prstGeom prst="rect">
            <a:avLst/>
          </a:prstGeom>
          <a:noFill/>
          <a:ln/>
        </p:spPr>
        <p:txBody>
          <a:bodyPr wrap="square" lIns="0" tIns="0" rIns="0" bIns="0" rtlCol="0" anchor="ctr">
            <a:normAutofit/>
          </a:bodyPr>
          <a:lstStyle/>
          <a:p>
            <a:pPr marL="0" indent="0">
              <a:buNone/>
            </a:pPr>
            <a:r>
              <a:rPr lang="en-US" sz="1800" b="1" dirty="0">
                <a:solidFill>
                  <a:srgbClr val="17365D"/>
                </a:solidFill>
                <a:latin typeface="Aptos Display" pitchFamily="34" charset="0"/>
                <a:ea typeface="Aptos Display" pitchFamily="34" charset="-122"/>
                <a:cs typeface="Aptos Display" pitchFamily="34" charset="-120"/>
              </a:rPr>
              <a:t>Can show</a:t>
            </a:r>
            <a:endParaRPr lang="en-US" sz="1800" dirty="0"/>
          </a:p>
        </p:txBody>
      </p:sp>
      <p:sp>
        <p:nvSpPr>
          <p:cNvPr id="9" name="Text 7"/>
          <p:cNvSpPr/>
          <p:nvPr/>
        </p:nvSpPr>
        <p:spPr>
          <a:xfrm>
            <a:off x="777240" y="2304288"/>
            <a:ext cx="4892040" cy="3639312"/>
          </a:xfrm>
          <a:prstGeom prst="rect">
            <a:avLst/>
          </a:prstGeom>
          <a:noFill/>
          <a:ln/>
        </p:spPr>
        <p:txBody>
          <a:bodyPr wrap="square" lIns="381" tIns="381" rIns="381" bIns="381" rtlCol="0" anchor="ctr">
            <a:normAutofit/>
          </a:bodyPr>
          <a:lstStyle/>
          <a:p>
            <a:pPr marL="0" indent="0">
              <a:buNone/>
            </a:pPr>
            <a:r>
              <a:rPr lang="en-US" sz="1500" dirty="0">
                <a:solidFill>
                  <a:srgbClr val="222222"/>
                </a:solidFill>
                <a:latin typeface="Aptos" pitchFamily="34" charset="0"/>
                <a:ea typeface="Aptos" pitchFamily="34" charset="-122"/>
                <a:cs typeface="Aptos" pitchFamily="34" charset="-120"/>
              </a:rPr>
              <a:t>formal authority</a:t>
            </a:r>
            <a:endParaRPr lang="en-US" sz="1500" dirty="0"/>
          </a:p>
          <a:p>
            <a:pPr marL="0" indent="0">
              <a:buNone/>
            </a:pPr>
            <a:r>
              <a:rPr lang="en-US" sz="1500" dirty="0">
                <a:solidFill>
                  <a:srgbClr val="222222"/>
                </a:solidFill>
                <a:latin typeface="Aptos" pitchFamily="34" charset="0"/>
                <a:ea typeface="Aptos" pitchFamily="34" charset="-122"/>
                <a:cs typeface="Aptos" pitchFamily="34" charset="-120"/>
              </a:rPr>
              <a:t>legal duties</a:t>
            </a:r>
            <a:endParaRPr lang="en-US" sz="1500" dirty="0"/>
          </a:p>
          <a:p>
            <a:pPr marL="0" indent="0">
              <a:buNone/>
            </a:pPr>
            <a:r>
              <a:rPr lang="en-US" sz="1500" dirty="0">
                <a:solidFill>
                  <a:srgbClr val="222222"/>
                </a:solidFill>
                <a:latin typeface="Aptos" pitchFamily="34" charset="0"/>
                <a:ea typeface="Aptos" pitchFamily="34" charset="-122"/>
                <a:cs typeface="Aptos" pitchFamily="34" charset="-120"/>
              </a:rPr>
              <a:t>recognized intermediaries</a:t>
            </a:r>
            <a:endParaRPr lang="en-US" sz="1500" dirty="0"/>
          </a:p>
          <a:p>
            <a:pPr marL="0" indent="0">
              <a:buNone/>
            </a:pPr>
            <a:r>
              <a:rPr lang="en-US" sz="1500" dirty="0">
                <a:solidFill>
                  <a:srgbClr val="222222"/>
                </a:solidFill>
                <a:latin typeface="Aptos" pitchFamily="34" charset="0"/>
                <a:ea typeface="Aptos" pitchFamily="34" charset="-122"/>
                <a:cs typeface="Aptos" pitchFamily="34" charset="-120"/>
              </a:rPr>
              <a:t>gateway positions</a:t>
            </a:r>
            <a:endParaRPr lang="en-US" sz="1500" dirty="0"/>
          </a:p>
          <a:p>
            <a:pPr marL="0" indent="0">
              <a:buNone/>
            </a:pPr>
            <a:r>
              <a:rPr lang="en-US" sz="1500" dirty="0">
                <a:solidFill>
                  <a:srgbClr val="222222"/>
                </a:solidFill>
                <a:latin typeface="Aptos" pitchFamily="34" charset="0"/>
                <a:ea typeface="Aptos" pitchFamily="34" charset="-122"/>
                <a:cs typeface="Aptos" pitchFamily="34" charset="-120"/>
              </a:rPr>
              <a:t>review and sanction channels</a:t>
            </a:r>
            <a:endParaRPr lang="en-US" sz="1500" dirty="0"/>
          </a:p>
        </p:txBody>
      </p:sp>
      <p:sp>
        <p:nvSpPr>
          <p:cNvPr id="10" name="Shape 8"/>
          <p:cNvSpPr/>
          <p:nvPr/>
        </p:nvSpPr>
        <p:spPr>
          <a:xfrm>
            <a:off x="6355080" y="1828800"/>
            <a:ext cx="5166360" cy="4206240"/>
          </a:xfrm>
          <a:prstGeom prst="roundRect">
            <a:avLst>
              <a:gd name="adj" fmla="val 1739"/>
            </a:avLst>
          </a:prstGeom>
          <a:solidFill>
            <a:srgbClr val="F4F7FA"/>
          </a:solidFill>
          <a:ln w="12700">
            <a:solidFill>
              <a:srgbClr val="D4DAE0"/>
            </a:solidFill>
            <a:prstDash val="solid"/>
          </a:ln>
        </p:spPr>
      </p:sp>
      <p:sp>
        <p:nvSpPr>
          <p:cNvPr id="11" name="Text 9"/>
          <p:cNvSpPr/>
          <p:nvPr/>
        </p:nvSpPr>
        <p:spPr>
          <a:xfrm>
            <a:off x="6492240" y="1956816"/>
            <a:ext cx="4892040" cy="292608"/>
          </a:xfrm>
          <a:prstGeom prst="rect">
            <a:avLst/>
          </a:prstGeom>
          <a:noFill/>
          <a:ln/>
        </p:spPr>
        <p:txBody>
          <a:bodyPr wrap="square" lIns="0" tIns="0" rIns="0" bIns="0" rtlCol="0" anchor="ctr">
            <a:normAutofit/>
          </a:bodyPr>
          <a:lstStyle/>
          <a:p>
            <a:pPr marL="0" indent="0">
              <a:buNone/>
            </a:pPr>
            <a:r>
              <a:rPr lang="en-US" sz="1800" b="1" dirty="0">
                <a:solidFill>
                  <a:srgbClr val="17365D"/>
                </a:solidFill>
                <a:latin typeface="Aptos Display" pitchFamily="34" charset="0"/>
                <a:ea typeface="Aptos Display" pitchFamily="34" charset="-122"/>
                <a:cs typeface="Aptos Display" pitchFamily="34" charset="-120"/>
              </a:rPr>
              <a:t>Cannot show alone</a:t>
            </a:r>
            <a:endParaRPr lang="en-US" sz="1800" dirty="0"/>
          </a:p>
        </p:txBody>
      </p:sp>
      <p:sp>
        <p:nvSpPr>
          <p:cNvPr id="12" name="Text 10"/>
          <p:cNvSpPr/>
          <p:nvPr/>
        </p:nvSpPr>
        <p:spPr>
          <a:xfrm>
            <a:off x="6492240" y="2304288"/>
            <a:ext cx="4892040" cy="3639312"/>
          </a:xfrm>
          <a:prstGeom prst="rect">
            <a:avLst/>
          </a:prstGeom>
          <a:noFill/>
          <a:ln/>
        </p:spPr>
        <p:txBody>
          <a:bodyPr wrap="square" lIns="381" tIns="381" rIns="381" bIns="381" rtlCol="0" anchor="ctr">
            <a:normAutofit/>
          </a:bodyPr>
          <a:lstStyle/>
          <a:p>
            <a:pPr marL="0" indent="0">
              <a:buNone/>
            </a:pPr>
            <a:r>
              <a:rPr lang="en-US" sz="1500" dirty="0">
                <a:solidFill>
                  <a:srgbClr val="222222"/>
                </a:solidFill>
                <a:latin typeface="Aptos" pitchFamily="34" charset="0"/>
                <a:ea typeface="Aptos" pitchFamily="34" charset="-122"/>
                <a:cs typeface="Aptos" pitchFamily="34" charset="-120"/>
              </a:rPr>
              <a:t>effectiveness</a:t>
            </a:r>
            <a:endParaRPr lang="en-US" sz="1500" dirty="0"/>
          </a:p>
          <a:p>
            <a:pPr marL="0" indent="0">
              <a:buNone/>
            </a:pPr>
            <a:r>
              <a:rPr lang="en-US" sz="1500" dirty="0">
                <a:solidFill>
                  <a:srgbClr val="222222"/>
                </a:solidFill>
                <a:latin typeface="Aptos" pitchFamily="34" charset="0"/>
                <a:ea typeface="Aptos" pitchFamily="34" charset="-122"/>
                <a:cs typeface="Aptos" pitchFamily="34" charset="-120"/>
              </a:rPr>
              <a:t>capture</a:t>
            </a:r>
            <a:endParaRPr lang="en-US" sz="1500" dirty="0"/>
          </a:p>
          <a:p>
            <a:pPr marL="0" indent="0">
              <a:buNone/>
            </a:pPr>
            <a:r>
              <a:rPr lang="en-US" sz="1500" dirty="0">
                <a:solidFill>
                  <a:srgbClr val="222222"/>
                </a:solidFill>
                <a:latin typeface="Aptos" pitchFamily="34" charset="0"/>
                <a:ea typeface="Aptos" pitchFamily="34" charset="-122"/>
                <a:cs typeface="Aptos" pitchFamily="34" charset="-120"/>
              </a:rPr>
              <a:t>implementation quality</a:t>
            </a:r>
            <a:endParaRPr lang="en-US" sz="1500" dirty="0"/>
          </a:p>
          <a:p>
            <a:pPr marL="0" indent="0">
              <a:buNone/>
            </a:pPr>
            <a:r>
              <a:rPr lang="en-US" sz="1500" dirty="0">
                <a:solidFill>
                  <a:srgbClr val="222222"/>
                </a:solidFill>
                <a:latin typeface="Aptos" pitchFamily="34" charset="0"/>
                <a:ea typeface="Aptos" pitchFamily="34" charset="-122"/>
                <a:cs typeface="Aptos" pitchFamily="34" charset="-120"/>
              </a:rPr>
              <a:t>behavioral consequences</a:t>
            </a:r>
            <a:endParaRPr lang="en-US" sz="1500" dirty="0"/>
          </a:p>
          <a:p>
            <a:pPr marL="0" indent="0">
              <a:buNone/>
            </a:pPr>
            <a:r>
              <a:rPr lang="en-US" sz="1500" dirty="0">
                <a:solidFill>
                  <a:srgbClr val="222222"/>
                </a:solidFill>
                <a:latin typeface="Aptos" pitchFamily="34" charset="0"/>
                <a:ea typeface="Aptos" pitchFamily="34" charset="-122"/>
                <a:cs typeface="Aptos" pitchFamily="34" charset="-120"/>
              </a:rPr>
              <a:t>real-world accountability effects</a:t>
            </a:r>
            <a:endParaRPr lang="en-US" sz="1500" dirty="0"/>
          </a:p>
        </p:txBody>
      </p:sp>
      <p:sp>
        <p:nvSpPr>
          <p:cNvPr id="13" name="Text 11"/>
          <p:cNvSpPr/>
          <p:nvPr/>
        </p:nvSpPr>
        <p:spPr>
          <a:xfrm>
            <a:off x="502920" y="6492240"/>
            <a:ext cx="11201400" cy="228600"/>
          </a:xfrm>
          <a:prstGeom prst="rect">
            <a:avLst/>
          </a:prstGeom>
          <a:noFill/>
          <a:ln/>
        </p:spPr>
        <p:txBody>
          <a:bodyPr wrap="square" lIns="0" tIns="0" rIns="0" bIns="0" rtlCol="0" anchor="ctr">
            <a:normAutofit/>
          </a:bodyPr>
          <a:lstStyle/>
          <a:p>
            <a:pPr marL="0" indent="0">
              <a:buNone/>
            </a:pPr>
            <a:r>
              <a:rPr lang="en-US" sz="850" dirty="0">
                <a:solidFill>
                  <a:srgbClr val="777777"/>
                </a:solidFill>
                <a:latin typeface="Aptos" pitchFamily="34" charset="0"/>
                <a:ea typeface="Aptos" pitchFamily="34" charset="-122"/>
                <a:cs typeface="Aptos" pitchFamily="34" charset="-120"/>
              </a:rPr>
              <a:t>Source: Igor Caires Machado, project notes and memos, Sept.–Oct. 2026.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01168"/>
            <a:ext cx="4389120" cy="256032"/>
          </a:xfrm>
          <a:prstGeom prst="rect">
            <a:avLst/>
          </a:prstGeom>
          <a:noFill/>
          <a:ln/>
        </p:spPr>
        <p:txBody>
          <a:bodyPr wrap="square" lIns="0" tIns="0" rIns="0" bIns="0" rtlCol="0" anchor="ctr"/>
          <a:lstStyle/>
          <a:p>
            <a:pPr marL="0" indent="0">
              <a:buNone/>
            </a:pPr>
            <a:r>
              <a:rPr lang="en-US" sz="1050" dirty="0">
                <a:solidFill>
                  <a:srgbClr val="5A5A5A"/>
                </a:solidFill>
                <a:latin typeface="Aptos" pitchFamily="34" charset="0"/>
                <a:ea typeface="Aptos" pitchFamily="34" charset="-122"/>
                <a:cs typeface="Aptos" pitchFamily="34" charset="-120"/>
              </a:rPr>
              <a:t>Law as Governance Group</a:t>
            </a:r>
            <a:endParaRPr lang="en-US" sz="1050" dirty="0"/>
          </a:p>
        </p:txBody>
      </p:sp>
      <p:sp>
        <p:nvSpPr>
          <p:cNvPr id="3" name="Text 1"/>
          <p:cNvSpPr/>
          <p:nvPr/>
        </p:nvSpPr>
        <p:spPr>
          <a:xfrm>
            <a:off x="8229600" y="201168"/>
            <a:ext cx="3429000" cy="256032"/>
          </a:xfrm>
          <a:prstGeom prst="rect">
            <a:avLst/>
          </a:prstGeom>
          <a:noFill/>
          <a:ln/>
        </p:spPr>
        <p:txBody>
          <a:bodyPr wrap="square" lIns="0" tIns="0" rIns="0" bIns="0" rtlCol="0" anchor="ctr"/>
          <a:lstStyle/>
          <a:p>
            <a:pPr marL="0" indent="0" algn="r">
              <a:buNone/>
            </a:pPr>
            <a:r>
              <a:rPr lang="en-US" sz="1050" dirty="0">
                <a:solidFill>
                  <a:srgbClr val="5A5A5A"/>
                </a:solidFill>
                <a:latin typeface="Aptos" pitchFamily="34" charset="0"/>
                <a:ea typeface="Aptos" pitchFamily="34" charset="-122"/>
                <a:cs typeface="Aptos" pitchFamily="34" charset="-120"/>
              </a:rPr>
              <a:t>Igor — cumulative work</a:t>
            </a:r>
            <a:endParaRPr lang="en-US" sz="1050" dirty="0"/>
          </a:p>
        </p:txBody>
      </p:sp>
      <p:sp>
        <p:nvSpPr>
          <p:cNvPr id="4" name="Shape 2"/>
          <p:cNvSpPr/>
          <p:nvPr/>
        </p:nvSpPr>
        <p:spPr>
          <a:xfrm>
            <a:off x="502920" y="530352"/>
            <a:ext cx="11201400" cy="0"/>
          </a:xfrm>
          <a:prstGeom prst="line">
            <a:avLst/>
          </a:prstGeom>
          <a:noFill/>
          <a:ln w="12700">
            <a:solidFill>
              <a:srgbClr val="D4DAE0"/>
            </a:solidFill>
            <a:prstDash val="solid"/>
          </a:ln>
        </p:spPr>
      </p:sp>
      <p:sp>
        <p:nvSpPr>
          <p:cNvPr id="5" name="Text 3"/>
          <p:cNvSpPr/>
          <p:nvPr/>
        </p:nvSpPr>
        <p:spPr>
          <a:xfrm>
            <a:off x="502920" y="786384"/>
            <a:ext cx="8778240" cy="438912"/>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Recommended project direction</a:t>
            </a:r>
            <a:endParaRPr lang="en-US" sz="2600" dirty="0"/>
          </a:p>
        </p:txBody>
      </p:sp>
      <p:sp>
        <p:nvSpPr>
          <p:cNvPr id="6" name="Text 4"/>
          <p:cNvSpPr/>
          <p:nvPr/>
        </p:nvSpPr>
        <p:spPr>
          <a:xfrm>
            <a:off x="521208" y="1261872"/>
            <a:ext cx="10607040" cy="347472"/>
          </a:xfrm>
          <a:prstGeom prst="rect">
            <a:avLst/>
          </a:prstGeom>
          <a:noFill/>
          <a:ln/>
        </p:spPr>
        <p:txBody>
          <a:bodyPr wrap="square" lIns="0" tIns="0" rIns="0" bIns="0" rtlCol="0" anchor="ctr"/>
          <a:lstStyle/>
          <a:p>
            <a:pPr marL="0" indent="0">
              <a:buNone/>
            </a:pPr>
            <a:r>
              <a:rPr lang="en-US" sz="1600" dirty="0">
                <a:solidFill>
                  <a:srgbClr val="5A5A5A"/>
                </a:solidFill>
                <a:latin typeface="Aptos" pitchFamily="34" charset="0"/>
                <a:ea typeface="Aptos" pitchFamily="34" charset="-122"/>
                <a:cs typeface="Aptos" pitchFamily="34" charset="-120"/>
              </a:rPr>
              <a:t>Close the methodological phase and move to comparative substance.</a:t>
            </a:r>
            <a:endParaRPr lang="en-US" sz="1600" dirty="0"/>
          </a:p>
        </p:txBody>
      </p:sp>
      <p:sp>
        <p:nvSpPr>
          <p:cNvPr id="7" name="Shape 5"/>
          <p:cNvSpPr/>
          <p:nvPr/>
        </p:nvSpPr>
        <p:spPr>
          <a:xfrm>
            <a:off x="822960" y="1828800"/>
            <a:ext cx="2240280" cy="1463040"/>
          </a:xfrm>
          <a:prstGeom prst="roundRect">
            <a:avLst>
              <a:gd name="adj" fmla="val 5000"/>
            </a:avLst>
          </a:prstGeom>
          <a:solidFill>
            <a:srgbClr val="F4F7FA"/>
          </a:solidFill>
          <a:ln w="12700">
            <a:solidFill>
              <a:srgbClr val="D4DAE0"/>
            </a:solidFill>
            <a:prstDash val="solid"/>
          </a:ln>
        </p:spPr>
      </p:sp>
      <p:sp>
        <p:nvSpPr>
          <p:cNvPr id="8" name="Text 6"/>
          <p:cNvSpPr/>
          <p:nvPr/>
        </p:nvSpPr>
        <p:spPr>
          <a:xfrm>
            <a:off x="960120" y="1956816"/>
            <a:ext cx="1965960" cy="292608"/>
          </a:xfrm>
          <a:prstGeom prst="rect">
            <a:avLst/>
          </a:prstGeom>
          <a:noFill/>
          <a:ln/>
        </p:spPr>
        <p:txBody>
          <a:bodyPr wrap="square" lIns="0" tIns="0" rIns="0" bIns="0" rtlCol="0" anchor="ctr">
            <a:normAutofit fontScale="77500" lnSpcReduction="20000"/>
          </a:bodyPr>
          <a:lstStyle/>
          <a:p>
            <a:pPr marL="0" indent="0">
              <a:buNone/>
            </a:pPr>
            <a:r>
              <a:rPr lang="en-US" sz="2800" b="1" dirty="0">
                <a:solidFill>
                  <a:srgbClr val="17365D"/>
                </a:solidFill>
                <a:latin typeface="Aptos Display" pitchFamily="34" charset="0"/>
                <a:ea typeface="Aptos Display" pitchFamily="34" charset="-122"/>
                <a:cs typeface="Aptos Display" pitchFamily="34" charset="-120"/>
              </a:rPr>
              <a:t>1</a:t>
            </a:r>
            <a:endParaRPr lang="en-US" sz="2800" dirty="0"/>
          </a:p>
        </p:txBody>
      </p:sp>
      <p:sp>
        <p:nvSpPr>
          <p:cNvPr id="9" name="Text 7"/>
          <p:cNvSpPr/>
          <p:nvPr/>
        </p:nvSpPr>
        <p:spPr>
          <a:xfrm>
            <a:off x="960120" y="2304288"/>
            <a:ext cx="1965960" cy="896112"/>
          </a:xfrm>
          <a:prstGeom prst="rect">
            <a:avLst/>
          </a:prstGeom>
          <a:noFill/>
          <a:ln/>
        </p:spPr>
        <p:txBody>
          <a:bodyPr wrap="square" lIns="381" tIns="381" rIns="381" bIns="381" rtlCol="0" anchor="ctr">
            <a:normAutofit/>
          </a:bodyPr>
          <a:lstStyle/>
          <a:p>
            <a:pPr marL="0" indent="0">
              <a:buNone/>
            </a:pPr>
            <a:r>
              <a:rPr lang="en-US" sz="1700" dirty="0">
                <a:solidFill>
                  <a:srgbClr val="222222"/>
                </a:solidFill>
                <a:latin typeface="Aptos" pitchFamily="34" charset="0"/>
                <a:ea typeface="Aptos" pitchFamily="34" charset="-122"/>
                <a:cs typeface="Aptos" pitchFamily="34" charset="-120"/>
              </a:rPr>
              <a:t>Integrate safeguards</a:t>
            </a:r>
            <a:endParaRPr lang="en-US" sz="1700" dirty="0"/>
          </a:p>
        </p:txBody>
      </p:sp>
      <p:sp>
        <p:nvSpPr>
          <p:cNvPr id="10" name="Shape 8"/>
          <p:cNvSpPr/>
          <p:nvPr/>
        </p:nvSpPr>
        <p:spPr>
          <a:xfrm>
            <a:off x="3566160" y="1828800"/>
            <a:ext cx="2240280" cy="1463040"/>
          </a:xfrm>
          <a:prstGeom prst="roundRect">
            <a:avLst>
              <a:gd name="adj" fmla="val 5000"/>
            </a:avLst>
          </a:prstGeom>
          <a:solidFill>
            <a:srgbClr val="F4F7FA"/>
          </a:solidFill>
          <a:ln w="12700">
            <a:solidFill>
              <a:srgbClr val="D4DAE0"/>
            </a:solidFill>
            <a:prstDash val="solid"/>
          </a:ln>
        </p:spPr>
      </p:sp>
      <p:sp>
        <p:nvSpPr>
          <p:cNvPr id="11" name="Text 9"/>
          <p:cNvSpPr/>
          <p:nvPr/>
        </p:nvSpPr>
        <p:spPr>
          <a:xfrm>
            <a:off x="3703320" y="1956816"/>
            <a:ext cx="1965960" cy="292608"/>
          </a:xfrm>
          <a:prstGeom prst="rect">
            <a:avLst/>
          </a:prstGeom>
          <a:noFill/>
          <a:ln/>
        </p:spPr>
        <p:txBody>
          <a:bodyPr wrap="square" lIns="0" tIns="0" rIns="0" bIns="0" rtlCol="0" anchor="ctr">
            <a:normAutofit fontScale="77500" lnSpcReduction="20000"/>
          </a:bodyPr>
          <a:lstStyle/>
          <a:p>
            <a:pPr marL="0" indent="0">
              <a:buNone/>
            </a:pPr>
            <a:r>
              <a:rPr lang="en-US" sz="2800" b="1" dirty="0">
                <a:solidFill>
                  <a:srgbClr val="17365D"/>
                </a:solidFill>
                <a:latin typeface="Aptos Display" pitchFamily="34" charset="0"/>
                <a:ea typeface="Aptos Display" pitchFamily="34" charset="-122"/>
                <a:cs typeface="Aptos Display" pitchFamily="34" charset="-120"/>
              </a:rPr>
              <a:t>2</a:t>
            </a:r>
            <a:endParaRPr lang="en-US" sz="2800" dirty="0"/>
          </a:p>
        </p:txBody>
      </p:sp>
      <p:sp>
        <p:nvSpPr>
          <p:cNvPr id="12" name="Text 10"/>
          <p:cNvSpPr/>
          <p:nvPr/>
        </p:nvSpPr>
        <p:spPr>
          <a:xfrm>
            <a:off x="3703320" y="2304288"/>
            <a:ext cx="1965960" cy="896112"/>
          </a:xfrm>
          <a:prstGeom prst="rect">
            <a:avLst/>
          </a:prstGeom>
          <a:noFill/>
          <a:ln/>
        </p:spPr>
        <p:txBody>
          <a:bodyPr wrap="square" lIns="381" tIns="381" rIns="381" bIns="381" rtlCol="0" anchor="ctr">
            <a:normAutofit/>
          </a:bodyPr>
          <a:lstStyle/>
          <a:p>
            <a:pPr marL="0" indent="0">
              <a:buNone/>
            </a:pPr>
            <a:r>
              <a:rPr lang="en-US" sz="1700" dirty="0">
                <a:solidFill>
                  <a:srgbClr val="222222"/>
                </a:solidFill>
                <a:latin typeface="Aptos" pitchFamily="34" charset="0"/>
                <a:ea typeface="Aptos" pitchFamily="34" charset="-122"/>
                <a:cs typeface="Aptos" pitchFamily="34" charset="-120"/>
              </a:rPr>
              <a:t>Run final validation</a:t>
            </a:r>
            <a:endParaRPr lang="en-US" sz="1700" dirty="0"/>
          </a:p>
        </p:txBody>
      </p:sp>
      <p:sp>
        <p:nvSpPr>
          <p:cNvPr id="13" name="Shape 11"/>
          <p:cNvSpPr/>
          <p:nvPr/>
        </p:nvSpPr>
        <p:spPr>
          <a:xfrm>
            <a:off x="6309360" y="1828800"/>
            <a:ext cx="2240280" cy="1463040"/>
          </a:xfrm>
          <a:prstGeom prst="roundRect">
            <a:avLst>
              <a:gd name="adj" fmla="val 5000"/>
            </a:avLst>
          </a:prstGeom>
          <a:solidFill>
            <a:srgbClr val="F7E5B7"/>
          </a:solidFill>
          <a:ln w="12700">
            <a:solidFill>
              <a:srgbClr val="D4DAE0"/>
            </a:solidFill>
            <a:prstDash val="solid"/>
          </a:ln>
        </p:spPr>
      </p:sp>
      <p:sp>
        <p:nvSpPr>
          <p:cNvPr id="14" name="Text 12"/>
          <p:cNvSpPr/>
          <p:nvPr/>
        </p:nvSpPr>
        <p:spPr>
          <a:xfrm>
            <a:off x="6446520" y="1956816"/>
            <a:ext cx="1965960" cy="292608"/>
          </a:xfrm>
          <a:prstGeom prst="rect">
            <a:avLst/>
          </a:prstGeom>
          <a:noFill/>
          <a:ln/>
        </p:spPr>
        <p:txBody>
          <a:bodyPr wrap="square" lIns="0" tIns="0" rIns="0" bIns="0" rtlCol="0" anchor="ctr">
            <a:normAutofit fontScale="77500" lnSpcReduction="20000"/>
          </a:bodyPr>
          <a:lstStyle/>
          <a:p>
            <a:pPr marL="0" indent="0">
              <a:buNone/>
            </a:pPr>
            <a:r>
              <a:rPr lang="en-US" sz="2800" b="1" dirty="0">
                <a:solidFill>
                  <a:srgbClr val="17365D"/>
                </a:solidFill>
                <a:latin typeface="Aptos Display" pitchFamily="34" charset="0"/>
                <a:ea typeface="Aptos Display" pitchFamily="34" charset="-122"/>
                <a:cs typeface="Aptos Display" pitchFamily="34" charset="-120"/>
              </a:rPr>
              <a:t>3</a:t>
            </a:r>
            <a:endParaRPr lang="en-US" sz="2800" dirty="0"/>
          </a:p>
        </p:txBody>
      </p:sp>
      <p:sp>
        <p:nvSpPr>
          <p:cNvPr id="15" name="Text 13"/>
          <p:cNvSpPr/>
          <p:nvPr/>
        </p:nvSpPr>
        <p:spPr>
          <a:xfrm>
            <a:off x="6446520" y="2304288"/>
            <a:ext cx="1965960" cy="896112"/>
          </a:xfrm>
          <a:prstGeom prst="rect">
            <a:avLst/>
          </a:prstGeom>
          <a:noFill/>
          <a:ln/>
        </p:spPr>
        <p:txBody>
          <a:bodyPr wrap="square" lIns="381" tIns="381" rIns="381" bIns="381" rtlCol="0" anchor="ctr">
            <a:normAutofit/>
          </a:bodyPr>
          <a:lstStyle/>
          <a:p>
            <a:pPr marL="0" indent="0">
              <a:buNone/>
            </a:pPr>
            <a:r>
              <a:rPr lang="en-US" sz="1700" dirty="0">
                <a:solidFill>
                  <a:srgbClr val="222222"/>
                </a:solidFill>
                <a:latin typeface="Aptos" pitchFamily="34" charset="0"/>
                <a:ea typeface="Aptos" pitchFamily="34" charset="-122"/>
                <a:cs typeface="Aptos" pitchFamily="34" charset="-120"/>
              </a:rPr>
              <a:t>Freeze Version 1</a:t>
            </a:r>
            <a:endParaRPr lang="en-US" sz="1700" dirty="0"/>
          </a:p>
        </p:txBody>
      </p:sp>
      <p:sp>
        <p:nvSpPr>
          <p:cNvPr id="16" name="Shape 14"/>
          <p:cNvSpPr/>
          <p:nvPr/>
        </p:nvSpPr>
        <p:spPr>
          <a:xfrm>
            <a:off x="9052560" y="1828800"/>
            <a:ext cx="2240280" cy="1463040"/>
          </a:xfrm>
          <a:prstGeom prst="roundRect">
            <a:avLst>
              <a:gd name="adj" fmla="val 5000"/>
            </a:avLst>
          </a:prstGeom>
          <a:solidFill>
            <a:srgbClr val="DDEFD9"/>
          </a:solidFill>
          <a:ln w="12700">
            <a:solidFill>
              <a:srgbClr val="D4DAE0"/>
            </a:solidFill>
            <a:prstDash val="solid"/>
          </a:ln>
        </p:spPr>
      </p:sp>
      <p:sp>
        <p:nvSpPr>
          <p:cNvPr id="17" name="Text 15"/>
          <p:cNvSpPr/>
          <p:nvPr/>
        </p:nvSpPr>
        <p:spPr>
          <a:xfrm>
            <a:off x="9189720" y="1956816"/>
            <a:ext cx="1965960" cy="292608"/>
          </a:xfrm>
          <a:prstGeom prst="rect">
            <a:avLst/>
          </a:prstGeom>
          <a:noFill/>
          <a:ln/>
        </p:spPr>
        <p:txBody>
          <a:bodyPr wrap="square" lIns="0" tIns="0" rIns="0" bIns="0" rtlCol="0" anchor="ctr">
            <a:normAutofit fontScale="77500" lnSpcReduction="20000"/>
          </a:bodyPr>
          <a:lstStyle/>
          <a:p>
            <a:pPr marL="0" indent="0">
              <a:buNone/>
            </a:pPr>
            <a:r>
              <a:rPr lang="en-US" sz="2800" b="1" dirty="0">
                <a:solidFill>
                  <a:srgbClr val="17365D"/>
                </a:solidFill>
                <a:latin typeface="Aptos Display" pitchFamily="34" charset="0"/>
                <a:ea typeface="Aptos Display" pitchFamily="34" charset="-122"/>
                <a:cs typeface="Aptos Display" pitchFamily="34" charset="-120"/>
              </a:rPr>
              <a:t>4</a:t>
            </a:r>
            <a:endParaRPr lang="en-US" sz="2800" dirty="0"/>
          </a:p>
        </p:txBody>
      </p:sp>
      <p:sp>
        <p:nvSpPr>
          <p:cNvPr id="18" name="Text 16"/>
          <p:cNvSpPr/>
          <p:nvPr/>
        </p:nvSpPr>
        <p:spPr>
          <a:xfrm>
            <a:off x="9189720" y="2304288"/>
            <a:ext cx="1965960" cy="896112"/>
          </a:xfrm>
          <a:prstGeom prst="rect">
            <a:avLst/>
          </a:prstGeom>
          <a:noFill/>
          <a:ln/>
        </p:spPr>
        <p:txBody>
          <a:bodyPr wrap="square" lIns="381" tIns="381" rIns="381" bIns="381" rtlCol="0" anchor="ctr">
            <a:normAutofit/>
          </a:bodyPr>
          <a:lstStyle/>
          <a:p>
            <a:pPr marL="0" indent="0">
              <a:buNone/>
            </a:pPr>
            <a:r>
              <a:rPr lang="en-US" sz="1700" dirty="0">
                <a:solidFill>
                  <a:srgbClr val="222222"/>
                </a:solidFill>
                <a:latin typeface="Aptos" pitchFamily="34" charset="0"/>
                <a:ea typeface="Aptos" pitchFamily="34" charset="-122"/>
                <a:cs typeface="Aptos" pitchFamily="34" charset="-120"/>
              </a:rPr>
              <a:t>Apply comparatively</a:t>
            </a:r>
            <a:endParaRPr lang="en-US" sz="1700" dirty="0"/>
          </a:p>
        </p:txBody>
      </p:sp>
      <p:sp>
        <p:nvSpPr>
          <p:cNvPr id="19" name="Text 17"/>
          <p:cNvSpPr/>
          <p:nvPr/>
        </p:nvSpPr>
        <p:spPr>
          <a:xfrm>
            <a:off x="960120" y="3703320"/>
            <a:ext cx="10241280" cy="1691640"/>
          </a:xfrm>
          <a:prstGeom prst="rect">
            <a:avLst/>
          </a:prstGeom>
          <a:noFill/>
          <a:ln/>
        </p:spPr>
        <p:txBody>
          <a:bodyPr wrap="square" lIns="635" tIns="635" rIns="635" bIns="635" rtlCol="0" anchor="ctr">
            <a:normAutofit/>
          </a:bodyPr>
          <a:lstStyle/>
          <a:p>
            <a:pPr marL="0" indent="0">
              <a:buNone/>
            </a:pPr>
            <a:r>
              <a:rPr lang="en-US" sz="1700" dirty="0">
                <a:solidFill>
                  <a:srgbClr val="2F75B5"/>
                </a:solidFill>
                <a:latin typeface="Aptos" pitchFamily="34" charset="0"/>
                <a:ea typeface="Aptos" pitchFamily="34" charset="-122"/>
                <a:cs typeface="Aptos" pitchFamily="34" charset="-120"/>
              </a:rPr>
              <a:t>• </a:t>
            </a:r>
            <a:r>
              <a:rPr lang="en-US" sz="1700" dirty="0">
                <a:solidFill>
                  <a:srgbClr val="222222"/>
                </a:solidFill>
                <a:latin typeface="Aptos" pitchFamily="34" charset="0"/>
                <a:ea typeface="Aptos" pitchFamily="34" charset="-122"/>
                <a:cs typeface="Aptos" pitchFamily="34" charset="-120"/>
              </a:rPr>
              <a:t>Ask Igor to translate safeguards into a short protocol
</a:t>
            </a:r>
            <a:r>
              <a:rPr lang="en-US" sz="1700" dirty="0">
                <a:solidFill>
                  <a:srgbClr val="2F75B5"/>
                </a:solidFill>
                <a:latin typeface="Aptos" pitchFamily="34" charset="0"/>
                <a:ea typeface="Aptos" pitchFamily="34" charset="-122"/>
                <a:cs typeface="Aptos" pitchFamily="34" charset="-120"/>
              </a:rPr>
              <a:t>• </a:t>
            </a:r>
            <a:r>
              <a:rPr lang="en-US" sz="1700" dirty="0">
                <a:solidFill>
                  <a:srgbClr val="222222"/>
                </a:solidFill>
                <a:latin typeface="Aptos" pitchFamily="34" charset="0"/>
                <a:ea typeface="Aptos" pitchFamily="34" charset="-122"/>
                <a:cs typeface="Aptos" pitchFamily="34" charset="-120"/>
              </a:rPr>
              <a:t>Prepare a small adjudication exercise with written reasons
</a:t>
            </a:r>
            <a:r>
              <a:rPr lang="en-US" sz="1700" dirty="0">
                <a:solidFill>
                  <a:srgbClr val="2F75B5"/>
                </a:solidFill>
                <a:latin typeface="Aptos" pitchFamily="34" charset="0"/>
                <a:ea typeface="Aptos" pitchFamily="34" charset="-122"/>
                <a:cs typeface="Aptos" pitchFamily="34" charset="-120"/>
              </a:rPr>
              <a:t>• </a:t>
            </a:r>
            <a:r>
              <a:rPr lang="en-US" sz="1700" dirty="0">
                <a:solidFill>
                  <a:srgbClr val="222222"/>
                </a:solidFill>
                <a:latin typeface="Aptos" pitchFamily="34" charset="0"/>
                <a:ea typeface="Aptos" pitchFamily="34" charset="-122"/>
                <a:cs typeface="Aptos" pitchFamily="34" charset="-120"/>
              </a:rPr>
              <a:t>Clarify when coding must stop below architecture
</a:t>
            </a:r>
            <a:r>
              <a:rPr lang="en-US" sz="1700" dirty="0">
                <a:solidFill>
                  <a:srgbClr val="2F75B5"/>
                </a:solidFill>
                <a:latin typeface="Aptos" pitchFamily="34" charset="0"/>
                <a:ea typeface="Aptos" pitchFamily="34" charset="-122"/>
                <a:cs typeface="Aptos" pitchFamily="34" charset="-120"/>
              </a:rPr>
              <a:t>• </a:t>
            </a:r>
            <a:r>
              <a:rPr lang="en-US" sz="1700" dirty="0">
                <a:solidFill>
                  <a:srgbClr val="222222"/>
                </a:solidFill>
                <a:latin typeface="Aptos" pitchFamily="34" charset="0"/>
                <a:ea typeface="Aptos" pitchFamily="34" charset="-122"/>
                <a:cs typeface="Aptos" pitchFamily="34" charset="-120"/>
              </a:rPr>
              <a:t>Select comparative cases for intermediation variation
</a:t>
            </a:r>
            <a:r>
              <a:rPr lang="en-US" sz="1700" dirty="0">
                <a:solidFill>
                  <a:srgbClr val="2F75B5"/>
                </a:solidFill>
                <a:latin typeface="Aptos" pitchFamily="34" charset="0"/>
                <a:ea typeface="Aptos" pitchFamily="34" charset="-122"/>
                <a:cs typeface="Aptos" pitchFamily="34" charset="-120"/>
              </a:rPr>
              <a:t>• </a:t>
            </a:r>
            <a:r>
              <a:rPr lang="en-US" sz="1700" dirty="0">
                <a:solidFill>
                  <a:srgbClr val="222222"/>
                </a:solidFill>
                <a:latin typeface="Aptos" pitchFamily="34" charset="0"/>
                <a:ea typeface="Aptos" pitchFamily="34" charset="-122"/>
                <a:cs typeface="Aptos" pitchFamily="34" charset="-120"/>
              </a:rPr>
              <a:t>Separate formal architecture from implementation</a:t>
            </a:r>
            <a:endParaRPr lang="en-US" sz="1700" dirty="0"/>
          </a:p>
        </p:txBody>
      </p:sp>
      <p:sp>
        <p:nvSpPr>
          <p:cNvPr id="20" name="Text 18"/>
          <p:cNvSpPr/>
          <p:nvPr/>
        </p:nvSpPr>
        <p:spPr>
          <a:xfrm>
            <a:off x="822960" y="5897880"/>
            <a:ext cx="10698480" cy="320040"/>
          </a:xfrm>
          <a:prstGeom prst="rect">
            <a:avLst/>
          </a:prstGeom>
          <a:noFill/>
          <a:ln/>
        </p:spPr>
        <p:txBody>
          <a:bodyPr wrap="square" lIns="0" tIns="0" rIns="0" bIns="0" rtlCol="0" anchor="ctr"/>
          <a:lstStyle/>
          <a:p>
            <a:pPr marL="0" indent="0" algn="ctr">
              <a:buNone/>
            </a:pPr>
            <a:r>
              <a:rPr lang="en-US" sz="1800" b="1" dirty="0">
                <a:solidFill>
                  <a:srgbClr val="17365D"/>
                </a:solidFill>
              </a:rPr>
              <a:t>Bottom line: methodological discipline in service of the substantive intermediaries project.</a:t>
            </a:r>
            <a:endParaRPr lang="en-US" sz="1800" dirty="0"/>
          </a:p>
        </p:txBody>
      </p:sp>
      <p:sp>
        <p:nvSpPr>
          <p:cNvPr id="21" name="Text 19"/>
          <p:cNvSpPr/>
          <p:nvPr/>
        </p:nvSpPr>
        <p:spPr>
          <a:xfrm>
            <a:off x="502920" y="6492240"/>
            <a:ext cx="11201400" cy="228600"/>
          </a:xfrm>
          <a:prstGeom prst="rect">
            <a:avLst/>
          </a:prstGeom>
          <a:noFill/>
          <a:ln/>
        </p:spPr>
        <p:txBody>
          <a:bodyPr wrap="square" lIns="0" tIns="0" rIns="0" bIns="0" rtlCol="0" anchor="ctr">
            <a:normAutofit/>
          </a:bodyPr>
          <a:lstStyle/>
          <a:p>
            <a:pPr marL="0" indent="0">
              <a:buNone/>
            </a:pPr>
            <a:r>
              <a:rPr lang="en-US" sz="850" dirty="0">
                <a:solidFill>
                  <a:srgbClr val="777777"/>
                </a:solidFill>
                <a:latin typeface="Aptos" pitchFamily="34" charset="0"/>
                <a:ea typeface="Aptos" pitchFamily="34" charset="-122"/>
                <a:cs typeface="Aptos" pitchFamily="34" charset="-120"/>
              </a:rPr>
              <a:t>Synthesis of recommended next steps.</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01168"/>
            <a:ext cx="4389120" cy="256032"/>
          </a:xfrm>
          <a:prstGeom prst="rect">
            <a:avLst/>
          </a:prstGeom>
          <a:noFill/>
          <a:ln/>
        </p:spPr>
        <p:txBody>
          <a:bodyPr wrap="square" lIns="0" tIns="0" rIns="0" bIns="0" rtlCol="0" anchor="ctr"/>
          <a:lstStyle/>
          <a:p>
            <a:pPr marL="0" indent="0">
              <a:buNone/>
            </a:pPr>
            <a:r>
              <a:rPr lang="en-US" sz="1050" dirty="0">
                <a:solidFill>
                  <a:srgbClr val="5A5A5A"/>
                </a:solidFill>
                <a:latin typeface="Aptos" pitchFamily="34" charset="0"/>
                <a:ea typeface="Aptos" pitchFamily="34" charset="-122"/>
                <a:cs typeface="Aptos" pitchFamily="34" charset="-120"/>
              </a:rPr>
              <a:t>Law as Governance Group</a:t>
            </a:r>
            <a:endParaRPr lang="en-US" sz="1050" dirty="0"/>
          </a:p>
        </p:txBody>
      </p:sp>
      <p:sp>
        <p:nvSpPr>
          <p:cNvPr id="3" name="Text 1"/>
          <p:cNvSpPr/>
          <p:nvPr/>
        </p:nvSpPr>
        <p:spPr>
          <a:xfrm>
            <a:off x="8229600" y="201168"/>
            <a:ext cx="3429000" cy="256032"/>
          </a:xfrm>
          <a:prstGeom prst="rect">
            <a:avLst/>
          </a:prstGeom>
          <a:noFill/>
          <a:ln/>
        </p:spPr>
        <p:txBody>
          <a:bodyPr wrap="square" lIns="0" tIns="0" rIns="0" bIns="0" rtlCol="0" anchor="ctr"/>
          <a:lstStyle/>
          <a:p>
            <a:pPr marL="0" indent="0" algn="r">
              <a:buNone/>
            </a:pPr>
            <a:r>
              <a:rPr lang="en-US" sz="1050" dirty="0">
                <a:solidFill>
                  <a:srgbClr val="5A5A5A"/>
                </a:solidFill>
                <a:latin typeface="Aptos" pitchFamily="34" charset="0"/>
                <a:ea typeface="Aptos" pitchFamily="34" charset="-122"/>
                <a:cs typeface="Aptos" pitchFamily="34" charset="-120"/>
              </a:rPr>
              <a:t>Igor — cumulative work</a:t>
            </a:r>
            <a:endParaRPr lang="en-US" sz="1050" dirty="0"/>
          </a:p>
        </p:txBody>
      </p:sp>
      <p:sp>
        <p:nvSpPr>
          <p:cNvPr id="4" name="Shape 2"/>
          <p:cNvSpPr/>
          <p:nvPr/>
        </p:nvSpPr>
        <p:spPr>
          <a:xfrm>
            <a:off x="502920" y="530352"/>
            <a:ext cx="11201400" cy="0"/>
          </a:xfrm>
          <a:prstGeom prst="line">
            <a:avLst/>
          </a:prstGeom>
          <a:noFill/>
          <a:ln w="12700">
            <a:solidFill>
              <a:srgbClr val="D4DAE0"/>
            </a:solidFill>
            <a:prstDash val="solid"/>
          </a:ln>
        </p:spPr>
      </p:sp>
      <p:sp>
        <p:nvSpPr>
          <p:cNvPr id="5" name="Text 3"/>
          <p:cNvSpPr/>
          <p:nvPr/>
        </p:nvSpPr>
        <p:spPr>
          <a:xfrm>
            <a:off x="502920" y="786384"/>
            <a:ext cx="8778240" cy="438912"/>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Next Steps ?</a:t>
            </a:r>
            <a:endParaRPr lang="en-US" sz="2600" dirty="0"/>
          </a:p>
        </p:txBody>
      </p:sp>
      <p:sp>
        <p:nvSpPr>
          <p:cNvPr id="7" name="Text 5"/>
          <p:cNvSpPr/>
          <p:nvPr/>
        </p:nvSpPr>
        <p:spPr>
          <a:xfrm>
            <a:off x="680456" y="1225296"/>
            <a:ext cx="10789920" cy="3008020"/>
          </a:xfrm>
          <a:prstGeom prst="rect">
            <a:avLst/>
          </a:prstGeom>
          <a:noFill/>
          <a:ln/>
        </p:spPr>
        <p:txBody>
          <a:bodyPr wrap="square" lIns="635" tIns="635" rIns="635" bIns="635" rtlCol="0" anchor="ctr">
            <a:normAutofit/>
          </a:bodyPr>
          <a:lstStyle/>
          <a:p>
            <a:pPr marL="0" indent="0">
              <a:buNone/>
            </a:pPr>
            <a:r>
              <a:rPr lang="en-US" sz="1900" dirty="0">
                <a:solidFill>
                  <a:srgbClr val="2F75B5"/>
                </a:solidFill>
                <a:latin typeface="Aptos" pitchFamily="34" charset="0"/>
                <a:ea typeface="Aptos" pitchFamily="34" charset="-122"/>
                <a:cs typeface="Aptos" pitchFamily="34" charset="-120"/>
              </a:rPr>
              <a:t>• </a:t>
            </a:r>
            <a:r>
              <a:rPr lang="en-US" sz="1900" dirty="0">
                <a:solidFill>
                  <a:srgbClr val="222222"/>
                </a:solidFill>
                <a:latin typeface="Aptos" pitchFamily="34" charset="0"/>
                <a:ea typeface="Aptos" pitchFamily="34" charset="-122"/>
                <a:cs typeface="Aptos" pitchFamily="34" charset="-120"/>
              </a:rPr>
              <a:t>Write a short coding protocol that incorporates the retained safeguards
</a:t>
            </a:r>
            <a:r>
              <a:rPr lang="en-US" sz="1900" dirty="0">
                <a:solidFill>
                  <a:srgbClr val="2F75B5"/>
                </a:solidFill>
                <a:latin typeface="Aptos" pitchFamily="34" charset="0"/>
                <a:ea typeface="Aptos" pitchFamily="34" charset="-122"/>
                <a:cs typeface="Aptos" pitchFamily="34" charset="-120"/>
              </a:rPr>
              <a:t>• </a:t>
            </a:r>
            <a:r>
              <a:rPr lang="en-US" sz="1900" dirty="0">
                <a:solidFill>
                  <a:srgbClr val="222222"/>
                </a:solidFill>
                <a:latin typeface="Aptos" pitchFamily="34" charset="0"/>
                <a:ea typeface="Aptos" pitchFamily="34" charset="-122"/>
                <a:cs typeface="Aptos" pitchFamily="34" charset="-120"/>
              </a:rPr>
              <a:t>Prepare a small adjudication exercise with written reasons
</a:t>
            </a:r>
            <a:r>
              <a:rPr lang="en-US" sz="1900" dirty="0">
                <a:solidFill>
                  <a:srgbClr val="2F75B5"/>
                </a:solidFill>
                <a:latin typeface="Aptos" pitchFamily="34" charset="0"/>
                <a:ea typeface="Aptos" pitchFamily="34" charset="-122"/>
                <a:cs typeface="Aptos" pitchFamily="34" charset="-120"/>
              </a:rPr>
              <a:t>• </a:t>
            </a:r>
            <a:r>
              <a:rPr lang="en-US" sz="1900" dirty="0">
                <a:solidFill>
                  <a:srgbClr val="222222"/>
                </a:solidFill>
                <a:latin typeface="Aptos" pitchFamily="34" charset="0"/>
                <a:ea typeface="Aptos" pitchFamily="34" charset="-122"/>
                <a:cs typeface="Aptos" pitchFamily="34" charset="-120"/>
              </a:rPr>
              <a:t>Define the stopping rule: relation, configuration, candidate architecture, or architecture
</a:t>
            </a:r>
            <a:r>
              <a:rPr lang="en-US" sz="1900" dirty="0">
                <a:solidFill>
                  <a:srgbClr val="2F75B5"/>
                </a:solidFill>
                <a:latin typeface="Aptos" pitchFamily="34" charset="0"/>
                <a:ea typeface="Aptos" pitchFamily="34" charset="-122"/>
                <a:cs typeface="Aptos" pitchFamily="34" charset="-120"/>
              </a:rPr>
              <a:t>• </a:t>
            </a:r>
            <a:r>
              <a:rPr lang="en-US" sz="1900" dirty="0">
                <a:solidFill>
                  <a:srgbClr val="222222"/>
                </a:solidFill>
                <a:latin typeface="Aptos" pitchFamily="34" charset="0"/>
                <a:ea typeface="Aptos" pitchFamily="34" charset="-122"/>
                <a:cs typeface="Aptos" pitchFamily="34" charset="-120"/>
              </a:rPr>
              <a:t>Keep the method simple enough for repeated use
</a:t>
            </a:r>
            <a:r>
              <a:rPr lang="en-US" sz="1900" dirty="0">
                <a:solidFill>
                  <a:srgbClr val="2F75B5"/>
                </a:solidFill>
                <a:latin typeface="Aptos" pitchFamily="34" charset="0"/>
                <a:ea typeface="Aptos" pitchFamily="34" charset="-122"/>
                <a:cs typeface="Aptos" pitchFamily="34" charset="-120"/>
              </a:rPr>
              <a:t>• </a:t>
            </a:r>
            <a:r>
              <a:rPr lang="en-US" sz="1900" dirty="0">
                <a:solidFill>
                  <a:srgbClr val="222222"/>
                </a:solidFill>
                <a:latin typeface="Aptos" pitchFamily="34" charset="0"/>
                <a:ea typeface="Aptos" pitchFamily="34" charset="-122"/>
                <a:cs typeface="Aptos" pitchFamily="34" charset="-120"/>
              </a:rPr>
              <a:t>Select cases that vary in intermediation intensity and type
</a:t>
            </a:r>
            <a:r>
              <a:rPr lang="en-US" sz="1900" dirty="0">
                <a:solidFill>
                  <a:srgbClr val="2F75B5"/>
                </a:solidFill>
                <a:latin typeface="Aptos" pitchFamily="34" charset="0"/>
                <a:ea typeface="Aptos" pitchFamily="34" charset="-122"/>
                <a:cs typeface="Aptos" pitchFamily="34" charset="-120"/>
              </a:rPr>
              <a:t>• </a:t>
            </a:r>
            <a:r>
              <a:rPr lang="en-US" sz="1900" dirty="0">
                <a:solidFill>
                  <a:srgbClr val="222222"/>
                </a:solidFill>
                <a:latin typeface="Aptos" pitchFamily="34" charset="0"/>
                <a:ea typeface="Aptos" pitchFamily="34" charset="-122"/>
                <a:cs typeface="Aptos" pitchFamily="34" charset="-120"/>
              </a:rPr>
              <a:t>Focus on structural importance and governed governors
</a:t>
            </a:r>
            <a:r>
              <a:rPr lang="en-US" sz="1900" dirty="0">
                <a:solidFill>
                  <a:srgbClr val="2F75B5"/>
                </a:solidFill>
                <a:latin typeface="Aptos" pitchFamily="34" charset="0"/>
                <a:ea typeface="Aptos" pitchFamily="34" charset="-122"/>
                <a:cs typeface="Aptos" pitchFamily="34" charset="-120"/>
              </a:rPr>
              <a:t>• </a:t>
            </a:r>
            <a:r>
              <a:rPr lang="en-US" sz="1900" dirty="0">
                <a:solidFill>
                  <a:srgbClr val="222222"/>
                </a:solidFill>
                <a:latin typeface="Aptos" pitchFamily="34" charset="0"/>
                <a:ea typeface="Aptos" pitchFamily="34" charset="-122"/>
                <a:cs typeface="Aptos" pitchFamily="34" charset="-120"/>
              </a:rPr>
              <a:t>Avoid a second, competing conceptual framework</a:t>
            </a:r>
            <a:endParaRPr lang="en-US" sz="1900" dirty="0"/>
          </a:p>
        </p:txBody>
      </p:sp>
      <p:sp>
        <p:nvSpPr>
          <p:cNvPr id="9" name="Text 7"/>
          <p:cNvSpPr/>
          <p:nvPr/>
        </p:nvSpPr>
        <p:spPr>
          <a:xfrm>
            <a:off x="502920" y="6492240"/>
            <a:ext cx="11201400" cy="228600"/>
          </a:xfrm>
          <a:prstGeom prst="rect">
            <a:avLst/>
          </a:prstGeom>
          <a:noFill/>
          <a:ln/>
        </p:spPr>
        <p:txBody>
          <a:bodyPr wrap="square" lIns="0" tIns="0" rIns="0" bIns="0" rtlCol="0" anchor="ctr">
            <a:normAutofit/>
          </a:bodyPr>
          <a:lstStyle/>
          <a:p>
            <a:pPr marL="0" indent="0">
              <a:buNone/>
            </a:pPr>
            <a:r>
              <a:rPr lang="en-US" sz="850" dirty="0">
                <a:solidFill>
                  <a:srgbClr val="777777"/>
                </a:solidFill>
                <a:latin typeface="Aptos" pitchFamily="34" charset="0"/>
                <a:ea typeface="Aptos" pitchFamily="34" charset="-122"/>
                <a:cs typeface="Aptos" pitchFamily="34" charset="-120"/>
              </a:rPr>
              <a:t>Synthesis of project-management implications.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2901</Words>
  <Application>Microsoft Office PowerPoint</Application>
  <PresentationFormat>Widescreen</PresentationFormat>
  <Paragraphs>482</Paragraphs>
  <Slides>23</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Law as Governance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Igor Work — R1 to R7 Update</dc:title>
  <dc:subject>Igor cumulative work update R1-R7</dc:subject>
  <dc:creator>OpenAI</dc:creator>
  <cp:lastModifiedBy>David Levi Faur</cp:lastModifiedBy>
  <cp:revision>3</cp:revision>
  <dcterms:created xsi:type="dcterms:W3CDTF">2026-10-09T19:42:31Z</dcterms:created>
  <dcterms:modified xsi:type="dcterms:W3CDTF">2026-10-09T19:56:44Z</dcterms:modified>
</cp:coreProperties>
</file>